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Hi, I'm Ankit Honey, Engineering Manager on the Dependabot team at GitHub. I spend my day looking at the problem this project addresses, which is the millions of CVE alerts Dependabot generates and the fact that developers ignore most of them. For my CSCI E-222 final project, I mapped the course topic of misinformation detection onto vulnerability alert classification. The structural analogy is very tight, I'll cover that on the next slide. The bottom row shows the headline results before I get into the methodology. 10,000 real advisories from the GitHub Advisory Database, full-pipeline F1 of 0.995, recall 0.99, and zero false alarms. I'll be honest later in the talk about what that 0.995 number means and what it doesn't.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setup. Dependabot scans millions of repos every day and generates a vulnerability alert for any dependency that's affected by a CVE. The pain point is that most of those alerts are technically valid but irrelevant in practice. The two code blocks on the right are real examples for CVE-2021-23337, the lodash command-injection bug. Both applications pin the exact same vulnerable version of lodash. CVSS is the same, EPSS is the same. The top one is safe because it never calls _.template. The bottom one is dangerous because it calls _.template with a sourceURL coming from req.query, which is user-controlled. The course topic is misinformation detection. The analogy is exact: an article can be technically true but misleading in context, and a CVE can be technically present but unreachable in context. That's the bridge between the course material and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High-level architecture. Four stages, each one feeds the next. Stage 1 is the two simple baselines you'd expect: a rule that just thresholds EPSS, and a TF-IDF Logistic Regression over the CVE description. They establish the floor. Stage 2 fine-tunes roberta-base on the CVE descriptions to get a 768-d semantic embedding plus a binary classification head. Stage 3 is where the project lives. Static call-graph analysis tells us whether the vulnerable symbol is reached. Flan-T5-large reasons about whether user-controlled data flows into it. CodeBERT plus FAISS is the fallback for monorepos where the static graph is impractical. Stage 4 concatenates the 768-d embedding, 5 structured features, and 2 reachability signals into a 775-d vector and trains a Logistic Regression head. I'll walk through each stage with results in the next few slides.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Data sources. Three of them, all public. The Advisory Database is the primary source. EPSS gives me exploitation probability. NVD is wired up for CWE and CVSS detail but isn't required for the headline numbers. Labels are a proxy. Real analyst verdicts aren't published at scale, so I combine EPSS plus severity into a heuristic that yields the same 0.6-ish ceiling the EPSS rule baseline gets at Dependabot internally. The rule is documented in dataset.py and reproducible from seed 42. I cap the majority class at 4x the minority. The natural skew is heavier than that, and an extreme imbalance makes training unstable. The parser bug at the bottom is worth a mention because it cost me a day. Older OSV docs say aliases is a list of dicts, current schema says strings. Four regression tests guard the loader.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Baselines. They define the floor. EPSS rule says: if the exploit-probability score is at least 0.01, predict TRUE_POSITIVE. This is roughly how Dependabot today decides what to prioritise. F1 of 0.58 is exactly where you'd expect. TF-IDF plus Logistic Regression does slightly better at 0.61 F1 and notably better on AUC (0.85 versus 0.76). Bag-of-words over CVE descriptions catches some signal the rule misses. Neither baseline can see the application code. They make verdicts only on the CVE itself. That's the gap the rest of the pipeline closes.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Stage 2, RoBERTa fine-tune. Standard hyperparameters. 3 epochs, batch 16, learning rate 2e-5. Around 95 seconds on the A100. Validation F1 climbs steadily across the three epochs. The loss is still going down at epoch 3, so longer training would probably help, but I capped the budget at 3 epochs to keep the comparison clean. On the held-out test set, RoBERTa gets F1 = 0.593 and AUC = 0.828. AUC is better than the EPSS rule, but the F1 is essentially unchanged from the TF-IDF baseline. RoBERTa captures real semantic signal, but text alone cannot solve the harder cases. The reachability features in Stage 3 are what closes the gap.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core technical contribution. Three layers. The static layer builds a call graph using ast for Python and regex over imports and call expressions for JavaScript. It does a forward search from entry-points to the vulnerable symbol and returns up to 5 paths. This layer is deterministic. No model, no randomness. The semantic layer wraps that with Flan-T5-large. The prompt includes the CVE summary, the static verdict, the paths, and the relevant code excerpt. Flan-T5 returns YES or NO plus a rationale. The intent is that the LLM supplies context the static graph misses, like taint flow. The scale layer handles million-line codebases. Chunk all source files into 25-line windows, embed with MiniLM, build a FAISS index, retrieve the top-k similar chunks to feed to the reasoner. Important caveat. The LLM layer is the weakest link in this build. I'll show you exactly how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slide I'm most proud of, because it's the honest finding. Two synthetic Express apps, both require lodash@4.17.20, identical boilerplate. Only difference is what lodash functions get called. On the SAFE app, the static call graph finds 17 nodes, 16 edges, and _.template is correctly NOT in the graph. Flan-T5 agrees. Verdict is FALSE_POSITIVE at confidence 0.90. Both layers correct. On the VULN app, the static graph correctly identifies that lodash_vuln.js calls _.template. The path is in the evidence. The code literally shows sourceURL = req.query.src, which is the textbook taint pattern. Flan-T5 still returns NO. It says FALSE_POSITIVE at confidence 0.80. That's wrong. Two likely reasons. Flan-T5-large is 780M parameters, which is small for taint reasoning. The prompt also asks a conjunction, reachable AND user-controlled, and Flan-T5 tends to answer NO when it can't satisfy both halves confidently. Lesson: the deterministic part of the pipeline is solid, the LLM contextualiser isn't there yet at this scale. Future work slide has the fix.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Stage 4 is the simple part. Concatenate the 768-d RoBERTa CLS embedding, the 5 structured features, and the 2 reachability signals. That's 775 features per alert. Train a class-balanced Logistic Regression head. Why Logistic Regression and not an MLP? Two reasons. It's faster to train and to inspect, and it doesn't confound the question of how much value the reachability features add. With a linear head, the coefficient magnitudes tell you directly. The footnote is the most important text on this slide. Per-advisory consumer repositories aren't available at scale, so the reachability features in training are synthesised from the ground-truth label with 15% noise. That's labelled clearly in the notebook (cell 6) and I'll be explicit about what this means for the headline F1 in two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Headline numbers. The two baselines and RoBERTa cluster around 0.6 F1. They're all working on the CVE description and the EPSS score, so they hit a similar ceiling. The full pipeline jumps to 0.995 F1 with 1.0 precision and 0.99 recall. The big number on the left is the F1 lift, +0.40 over RoBERTa alone. That's the value the reachability features add. The big number on the right is the false-alarm reduction, 100 percent. Zero false positives on 790 actual negatives. From a security operations standpoint, that's the metric your on-call cares about. I'll be honest in the next two slides about why this number is so high. Spoiler: the reachability features in training are an oracle approximation. But the structural finding holds, reachability is the dominant signal.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Confusion matrix on the 1,002-alert test set. Top row, the 790 actual negatives. All 790 predicted as negative. Zero false alarms. Bottom row, the 212 actual positives. 210 correctly predicted as positive, 2 missed. False-negative rate is 0.94 percent. Why this matters for security: in this domain, recall matters more than precision. If you miss a true positive, a real vulnerability stays unpatched. If you raise a false positive, you waste an engineer's time. Those costs are not symmetric. The pipeline ends up favouring recall, which is what you want.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honest slide. Left column, what worked. Reproducibility was a goal from day one. Cloning the repo and running the notebook end-to-end takes 5 minutes on a fresh Colab. The static call graph distinguishes safe from vulnerable lodash apps perfectly. The 0.42-point F1 jump matches what the proposal predicted, which validates the architectural hypothesis. FAISS retrieval shows clean separation. 15 tests pass in 3 seconds. Right column, what didn't work or what to caveat. Flan-T5 returned the wrong verdict on the VULN lodash app, that's the main negative finding. The 0.995 headline F1 is an upper bound because the reachability features in training are synthesised from the label with 15 percent noise. In a real deployment you'd run is_reachable on each alert's actual consumer repo. The JS parser is regex-based, so dynamic dispatch and eval slip through. The curated symbol table is 10 CVEs deep, production needs three orders of magnitude more. And the proxy label correlates with EPSS by construction, which slightly inflates what the EPSS rule baseline can 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concrete things I'd do next, ordered by how much they matter. One, tree-sitter for the JS parser. Cheap fix, broad coverage win. Two, bigger LLM reasoner. Qwen-2.5-Coder-7B or Llama-3-8B-Instruct. This is the direct fix for the Flan-T5 miss on the VULN app. Three, lightweight static taint analysis. Source-to-sink tracking for a small set of known dangerous patterns, like req.query flowing into eval. Removes the LLM dependency for the easy cases. Four, the big one. A real reachability oracle. Sample a few hundred advisories with public patch commits, mine the vulnerable symbol from the diff, then label reachability against a corpus of real consumer repos. That's what replaces the synthesised reachability features in training and converts the 0.995 upper bound into a defensible production number. Five, calibrated confidence. Three-way output: reachable, unreachable, unknown, with probability thresholds. Route only the unknown bucket to human review. Six, LLM-extracted symbol map. Run an extraction prompt over patch diffs to scale the curated symbol table from 10 entries to 10,000.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Reproducibility was a hard requirement for this project. Everything is public. Option A, Colab. Open the notebook from the badge in the README, switch to an A100 runtime, Runtime &gt; Run all. 5 minutes in synthetic mode, 25 minutes in real mode on an A100. Option B, local. Clone, virtualenv, pip install, pytest. The 15 tests run in 3 seconds and exercise the loader, dataset builder, and call graph. Datasets are not bundled because of the 10 MB Canvas limit. The notebook shallow-clones the Advisory Database (around 400 MB) on first run. EPSS is a daily CSV pulled live from FIRST. Both get cached so subsequent runs are fast.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Closing slide. Two things to mention. One, the video URL on the card is the 10-minute walkthrough recording. Update that URL with the real link before submission. The same URL appears on the report cover page. Two, the GitHub repository at github.com/honeyankit/reachability-llm has everything: the notebook, the data loaders, the tests, the report, and these slides. The generation scripts that produce the report and slides are in scripts/. The notebook re-runs end to end in 5 minutes on Colab. Thanks for the course. Happy to take questions on the methodology, the Flan-T5 negative finding, or how this maps to real-world Dependabot operations.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9144000" cy="365760"/>
          </a:xfrm>
          <a:prstGeom prst="rect">
            <a:avLst/>
          </a:prstGeom>
          <a:noFill/>
        </p:spPr>
        <p:txBody>
          <a:bodyPr wrap="none">
            <a:spAutoFit/>
          </a:bodyPr>
          <a:lstStyle/>
          <a:p>
            <a:r>
              <a:rPr sz="1300" b="1">
                <a:solidFill>
                  <a:srgbClr val="CADCFC"/>
                </a:solidFill>
                <a:latin typeface="Calibri"/>
              </a:rPr>
              <a:t>CSCI E-222  |  FINAL PROJECT  |  SPRING 2026</a:t>
            </a:r>
          </a:p>
        </p:txBody>
      </p:sp>
      <p:sp>
        <p:nvSpPr>
          <p:cNvPr id="4" name="TextBox 3"/>
          <p:cNvSpPr txBox="1"/>
          <p:nvPr/>
        </p:nvSpPr>
        <p:spPr>
          <a:xfrm>
            <a:off x="548640" y="914400"/>
            <a:ext cx="10972800" cy="1828800"/>
          </a:xfrm>
          <a:prstGeom prst="rect">
            <a:avLst/>
          </a:prstGeom>
          <a:noFill/>
        </p:spPr>
        <p:txBody>
          <a:bodyPr wrap="square">
            <a:spAutoFit/>
          </a:bodyPr>
          <a:lstStyle/>
          <a:p>
            <a:r>
              <a:rPr sz="4400" b="1">
                <a:solidFill>
                  <a:srgbClr val="FFFFFF"/>
                </a:solidFill>
                <a:latin typeface="Calibri"/>
              </a:rPr>
              <a:t>Reducing Alert Fatigue</a:t>
            </a:r>
          </a:p>
          <a:p>
            <a:r>
              <a:rPr sz="2000" i="1">
                <a:solidFill>
                  <a:srgbClr val="CADCFC"/>
                </a:solidFill>
                <a:latin typeface="Calibri"/>
              </a:rPr>
              <a:t>LLM-Based False Positive Detection in Software
Supply Chain Security Vulnerability Alerts</a:t>
            </a:r>
          </a:p>
        </p:txBody>
      </p:sp>
      <p:sp>
        <p:nvSpPr>
          <p:cNvPr id="5" name="TextBox 4"/>
          <p:cNvSpPr txBox="1"/>
          <p:nvPr/>
        </p:nvSpPr>
        <p:spPr>
          <a:xfrm>
            <a:off x="548640" y="2743200"/>
            <a:ext cx="10972800" cy="548640"/>
          </a:xfrm>
          <a:prstGeom prst="rect">
            <a:avLst/>
          </a:prstGeom>
          <a:noFill/>
        </p:spPr>
        <p:txBody>
          <a:bodyPr wrap="none">
            <a:spAutoFit/>
          </a:bodyPr>
          <a:lstStyle/>
          <a:p>
            <a:r>
              <a:rPr sz="2200" b="1">
                <a:solidFill>
                  <a:srgbClr val="1E2761"/>
                </a:solidFill>
                <a:latin typeface="Calibri"/>
              </a:rPr>
              <a:t>Ankit Kumar Honey</a:t>
            </a:r>
          </a:p>
        </p:txBody>
      </p:sp>
      <p:sp>
        <p:nvSpPr>
          <p:cNvPr id="6" name="TextBox 5"/>
          <p:cNvSpPr txBox="1"/>
          <p:nvPr/>
        </p:nvSpPr>
        <p:spPr>
          <a:xfrm>
            <a:off x="548640" y="3246120"/>
            <a:ext cx="10972800" cy="365760"/>
          </a:xfrm>
          <a:prstGeom prst="rect">
            <a:avLst/>
          </a:prstGeom>
          <a:noFill/>
        </p:spPr>
        <p:txBody>
          <a:bodyPr wrap="none">
            <a:spAutoFit/>
          </a:bodyPr>
          <a:lstStyle/>
          <a:p>
            <a:r>
              <a:rPr sz="1400" i="1">
                <a:solidFill>
                  <a:srgbClr val="4A4A4A"/>
                </a:solidFill>
                <a:latin typeface="Calibri"/>
              </a:rPr>
              <a:t>Harvard Extension School, Foundations of Large Language Models</a:t>
            </a:r>
          </a:p>
        </p:txBody>
      </p:sp>
      <p:sp>
        <p:nvSpPr>
          <p:cNvPr id="7" name="TextBox 6"/>
          <p:cNvSpPr txBox="1"/>
          <p:nvPr/>
        </p:nvSpPr>
        <p:spPr>
          <a:xfrm>
            <a:off x="457200" y="4206240"/>
            <a:ext cx="2743200" cy="1371600"/>
          </a:xfrm>
          <a:prstGeom prst="rect">
            <a:avLst/>
          </a:prstGeom>
          <a:noFill/>
        </p:spPr>
        <p:txBody>
          <a:bodyPr wrap="none">
            <a:spAutoFit/>
          </a:bodyPr>
          <a:lstStyle/>
          <a:p>
            <a:pPr algn="ctr"/>
            <a:r>
              <a:rPr sz="4800" b="1">
                <a:solidFill>
                  <a:srgbClr val="1E2761"/>
                </a:solidFill>
                <a:latin typeface="Calibri"/>
              </a:rPr>
              <a:t>10,000</a:t>
            </a:r>
          </a:p>
          <a:p>
            <a:pPr algn="ctr"/>
            <a:r>
              <a:rPr sz="1100">
                <a:solidFill>
                  <a:srgbClr val="4A4A4A"/>
                </a:solidFill>
                <a:latin typeface="Calibri"/>
              </a:rPr>
              <a:t>alerts evaluated</a:t>
            </a:r>
          </a:p>
        </p:txBody>
      </p:sp>
      <p:sp>
        <p:nvSpPr>
          <p:cNvPr id="8" name="TextBox 7"/>
          <p:cNvSpPr txBox="1"/>
          <p:nvPr/>
        </p:nvSpPr>
        <p:spPr>
          <a:xfrm>
            <a:off x="3383280" y="4206240"/>
            <a:ext cx="2743200" cy="1371600"/>
          </a:xfrm>
          <a:prstGeom prst="rect">
            <a:avLst/>
          </a:prstGeom>
          <a:noFill/>
        </p:spPr>
        <p:txBody>
          <a:bodyPr wrap="none">
            <a:spAutoFit/>
          </a:bodyPr>
          <a:lstStyle/>
          <a:p>
            <a:pPr algn="ctr"/>
            <a:r>
              <a:rPr sz="4800" b="1">
                <a:solidFill>
                  <a:srgbClr val="B85042"/>
                </a:solidFill>
                <a:latin typeface="Calibri"/>
              </a:rPr>
              <a:t>F1 = 0.995</a:t>
            </a:r>
          </a:p>
          <a:p>
            <a:pPr algn="ctr"/>
            <a:r>
              <a:rPr sz="1100">
                <a:solidFill>
                  <a:srgbClr val="4A4A4A"/>
                </a:solidFill>
                <a:latin typeface="Calibri"/>
              </a:rPr>
              <a:t>full pipeline (test)</a:t>
            </a:r>
          </a:p>
        </p:txBody>
      </p:sp>
      <p:sp>
        <p:nvSpPr>
          <p:cNvPr id="9" name="TextBox 8"/>
          <p:cNvSpPr txBox="1"/>
          <p:nvPr/>
        </p:nvSpPr>
        <p:spPr>
          <a:xfrm>
            <a:off x="6309360" y="4206240"/>
            <a:ext cx="2743200" cy="1371600"/>
          </a:xfrm>
          <a:prstGeom prst="rect">
            <a:avLst/>
          </a:prstGeom>
          <a:noFill/>
        </p:spPr>
        <p:txBody>
          <a:bodyPr wrap="none">
            <a:spAutoFit/>
          </a:bodyPr>
          <a:lstStyle/>
          <a:p>
            <a:pPr algn="ctr"/>
            <a:r>
              <a:rPr sz="4800" b="1">
                <a:solidFill>
                  <a:srgbClr val="1E2761"/>
                </a:solidFill>
                <a:latin typeface="Calibri"/>
              </a:rPr>
              <a:t>Recall = 0.99</a:t>
            </a:r>
          </a:p>
          <a:p>
            <a:pPr algn="ctr"/>
            <a:r>
              <a:rPr sz="1100">
                <a:solidFill>
                  <a:srgbClr val="4A4A4A"/>
                </a:solidFill>
                <a:latin typeface="Calibri"/>
              </a:rPr>
              <a:t>2 of 212 TPs missed</a:t>
            </a:r>
          </a:p>
        </p:txBody>
      </p:sp>
      <p:sp>
        <p:nvSpPr>
          <p:cNvPr id="10" name="TextBox 9"/>
          <p:cNvSpPr txBox="1"/>
          <p:nvPr/>
        </p:nvSpPr>
        <p:spPr>
          <a:xfrm>
            <a:off x="9235440" y="4206240"/>
            <a:ext cx="2743200" cy="1371600"/>
          </a:xfrm>
          <a:prstGeom prst="rect">
            <a:avLst/>
          </a:prstGeom>
          <a:noFill/>
        </p:spPr>
        <p:txBody>
          <a:bodyPr wrap="none">
            <a:spAutoFit/>
          </a:bodyPr>
          <a:lstStyle/>
          <a:p>
            <a:pPr algn="ctr"/>
            <a:r>
              <a:rPr sz="4800" b="1">
                <a:solidFill>
                  <a:srgbClr val="1E2761"/>
                </a:solidFill>
                <a:latin typeface="Calibri"/>
              </a:rPr>
              <a:t>0 FP</a:t>
            </a:r>
          </a:p>
          <a:p>
            <a:pPr algn="ctr"/>
            <a:r>
              <a:rPr sz="1100">
                <a:solidFill>
                  <a:srgbClr val="4A4A4A"/>
                </a:solidFill>
                <a:latin typeface="Calibri"/>
              </a:rPr>
              <a:t>false alarms raised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The problem: alert fatigue is the bottleneck</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Same CVE, same package, same CVSS, same EPSS, different real-world risk.</a:t>
            </a:r>
          </a:p>
        </p:txBody>
      </p:sp>
      <p:sp>
        <p:nvSpPr>
          <p:cNvPr id="5" name="TextBox 4"/>
          <p:cNvSpPr txBox="1"/>
          <p:nvPr/>
        </p:nvSpPr>
        <p:spPr>
          <a:xfrm>
            <a:off x="548640" y="1554480"/>
            <a:ext cx="5852160" cy="3200400"/>
          </a:xfrm>
          <a:prstGeom prst="rect">
            <a:avLst/>
          </a:prstGeom>
          <a:noFill/>
        </p:spPr>
        <p:txBody>
          <a:bodyPr wrap="square" lIns="25400" rIns="25400">
            <a:spAutoFit/>
          </a:bodyPr>
          <a:lstStyle/>
          <a:p>
            <a:pPr algn="l">
              <a:spcAft>
                <a:spcPts val="600"/>
              </a:spcAft>
            </a:pPr>
            <a:r>
              <a:rPr sz="1400">
                <a:solidFill>
                  <a:srgbClr val="4A4A4A"/>
                </a:solidFill>
                <a:latin typeface="Calibri"/>
              </a:rPr>
              <a:t>•  Dependabot alone surfaces millions of CVE alerts per day across GitHub.</a:t>
            </a:r>
          </a:p>
          <a:p>
            <a:pPr algn="l">
              <a:spcAft>
                <a:spcPts val="600"/>
              </a:spcAft>
            </a:pPr>
            <a:r>
              <a:rPr sz="1400">
                <a:solidFill>
                  <a:srgbClr val="4A4A4A"/>
                </a:solidFill>
                <a:latin typeface="Calibri"/>
              </a:rPr>
              <a:t>•  A large fraction are technically valid but functionally irrelevant. The vulnerable function is never reached by the consuming application.</a:t>
            </a:r>
          </a:p>
          <a:p>
            <a:pPr algn="l">
              <a:spcAft>
                <a:spcPts val="600"/>
              </a:spcAft>
            </a:pPr>
            <a:r>
              <a:rPr sz="1400">
                <a:solidFill>
                  <a:srgbClr val="4A4A4A"/>
                </a:solidFill>
                <a:latin typeface="Calibri"/>
              </a:rPr>
              <a:t>•  Developers learn to ignore alerts. Real threats slip through.</a:t>
            </a:r>
          </a:p>
          <a:p>
            <a:pPr algn="l">
              <a:spcAft>
                <a:spcPts val="600"/>
              </a:spcAft>
            </a:pPr>
            <a:r>
              <a:rPr sz="1400">
                <a:solidFill>
                  <a:srgbClr val="4A4A4A"/>
                </a:solidFill>
                <a:latin typeface="Calibri"/>
              </a:rPr>
              <a:t>•  Pure severity (CVSS) and exploit probability (EPSS) cannot resolve this. They describe the CVE, not the application.</a:t>
            </a:r>
          </a:p>
          <a:p>
            <a:pPr algn="l">
              <a:spcAft>
                <a:spcPts val="600"/>
              </a:spcAft>
            </a:pPr>
            <a:r>
              <a:rPr sz="1400">
                <a:solidFill>
                  <a:srgbClr val="4A4A4A"/>
                </a:solidFill>
                <a:latin typeface="Calibri"/>
              </a:rPr>
              <a:t>•  Course parallel: identical structure to fake-news classification. True versus misleading in context.</a:t>
            </a:r>
          </a:p>
        </p:txBody>
      </p:sp>
      <p:sp>
        <p:nvSpPr>
          <p:cNvPr id="6" name="Rounded Rectangle 5"/>
          <p:cNvSpPr/>
          <p:nvPr/>
        </p:nvSpPr>
        <p:spPr>
          <a:xfrm>
            <a:off x="6583680" y="1554480"/>
            <a:ext cx="5303520" cy="1828800"/>
          </a:xfrm>
          <a:prstGeom prst="roundRect">
            <a:avLst/>
          </a:prstGeom>
          <a:solidFill>
            <a:srgbClr val="ECF8EE"/>
          </a:solidFill>
          <a:ln w="9525">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645920"/>
            <a:ext cx="5029200" cy="274320"/>
          </a:xfrm>
          <a:prstGeom prst="rect">
            <a:avLst/>
          </a:prstGeom>
          <a:noFill/>
        </p:spPr>
        <p:txBody>
          <a:bodyPr wrap="square" lIns="25400" rIns="25400" tIns="25400" bIns="25400">
            <a:spAutoFit/>
          </a:bodyPr>
          <a:lstStyle/>
          <a:p>
            <a:pPr algn="l"/>
            <a:r>
              <a:rPr sz="1100" b="1" i="0">
                <a:solidFill>
                  <a:srgbClr val="2E7D32"/>
                </a:solidFill>
                <a:latin typeface="Calibri"/>
              </a:rPr>
              <a:t>FALSE POSITIVE, unreachable</a:t>
            </a:r>
          </a:p>
        </p:txBody>
      </p:sp>
      <p:sp>
        <p:nvSpPr>
          <p:cNvPr id="8" name="Rectangle 7"/>
          <p:cNvSpPr/>
          <p:nvPr/>
        </p:nvSpPr>
        <p:spPr>
          <a:xfrm>
            <a:off x="6766560" y="1965960"/>
            <a:ext cx="5029200" cy="132588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03720" y="2057400"/>
            <a:ext cx="4754880" cy="1143000"/>
          </a:xfrm>
          <a:prstGeom prst="rect">
            <a:avLst/>
          </a:prstGeom>
          <a:noFill/>
        </p:spPr>
        <p:txBody>
          <a:bodyPr wrap="square">
            <a:spAutoFit/>
          </a:bodyPr>
          <a:lstStyle/>
          <a:p>
            <a:pPr algn="l">
              <a:spcAft>
                <a:spcPts val="0"/>
              </a:spcAft>
            </a:pPr>
            <a:r>
              <a:rPr sz="1000">
                <a:solidFill>
                  <a:srgbClr val="FFFFFF"/>
                </a:solidFill>
                <a:latin typeface="Consolas"/>
              </a:rPr>
              <a:t>const _ = require('lodash');</a:t>
            </a:r>
          </a:p>
          <a:p>
            <a:pPr algn="l">
              <a:spcAft>
                <a:spcPts val="0"/>
              </a:spcAft>
            </a:pPr>
            <a:r>
              <a:rPr sz="1000">
                <a:solidFill>
                  <a:srgbClr val="FFFFFF"/>
                </a:solidFill>
                <a:latin typeface="Consolas"/>
              </a:rPr>
              <a:t/>
            </a:r>
          </a:p>
          <a:p>
            <a:pPr algn="l">
              <a:spcAft>
                <a:spcPts val="0"/>
              </a:spcAft>
            </a:pPr>
            <a:r>
              <a:rPr sz="1000">
                <a:solidFill>
                  <a:srgbClr val="FFFFFF"/>
                </a:solidFill>
                <a:latin typeface="Consolas"/>
              </a:rPr>
              <a:t>_.map(users, u =&gt;</a:t>
            </a:r>
          </a:p>
          <a:p>
            <a:pPr algn="l">
              <a:spcAft>
                <a:spcPts val="0"/>
              </a:spcAft>
            </a:pPr>
            <a:r>
              <a:rPr sz="1000">
                <a:solidFill>
                  <a:srgbClr val="FFFFFF"/>
                </a:solidFill>
                <a:latin typeface="Consolas"/>
              </a:rPr>
              <a:t>    _.capitalize(u.name));</a:t>
            </a:r>
          </a:p>
        </p:txBody>
      </p:sp>
      <p:sp>
        <p:nvSpPr>
          <p:cNvPr id="10" name="Rounded Rectangle 9"/>
          <p:cNvSpPr/>
          <p:nvPr/>
        </p:nvSpPr>
        <p:spPr>
          <a:xfrm>
            <a:off x="6583680" y="3520440"/>
            <a:ext cx="5303520" cy="1828800"/>
          </a:xfrm>
          <a:prstGeom prst="roundRect">
            <a:avLst/>
          </a:prstGeom>
          <a:solidFill>
            <a:srgbClr val="FDE7E7"/>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3611880"/>
            <a:ext cx="5029200" cy="274320"/>
          </a:xfrm>
          <a:prstGeom prst="rect">
            <a:avLst/>
          </a:prstGeom>
          <a:noFill/>
        </p:spPr>
        <p:txBody>
          <a:bodyPr wrap="square" lIns="25400" rIns="25400" tIns="25400" bIns="25400">
            <a:spAutoFit/>
          </a:bodyPr>
          <a:lstStyle/>
          <a:p>
            <a:pPr algn="l"/>
            <a:r>
              <a:rPr sz="1100" b="1" i="0">
                <a:solidFill>
                  <a:srgbClr val="B71C1C"/>
                </a:solidFill>
                <a:latin typeface="Calibri"/>
              </a:rPr>
              <a:t>TRUE POSITIVE, reachable and tainted</a:t>
            </a:r>
          </a:p>
        </p:txBody>
      </p:sp>
      <p:sp>
        <p:nvSpPr>
          <p:cNvPr id="12" name="Rectangle 11"/>
          <p:cNvSpPr/>
          <p:nvPr/>
        </p:nvSpPr>
        <p:spPr>
          <a:xfrm>
            <a:off x="6766560" y="3931920"/>
            <a:ext cx="5029200" cy="132588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4023359"/>
            <a:ext cx="4754880" cy="1143000"/>
          </a:xfrm>
          <a:prstGeom prst="rect">
            <a:avLst/>
          </a:prstGeom>
          <a:noFill/>
        </p:spPr>
        <p:txBody>
          <a:bodyPr wrap="square">
            <a:spAutoFit/>
          </a:bodyPr>
          <a:lstStyle/>
          <a:p>
            <a:pPr algn="l">
              <a:spcAft>
                <a:spcPts val="0"/>
              </a:spcAft>
            </a:pPr>
            <a:r>
              <a:rPr sz="1000">
                <a:solidFill>
                  <a:srgbClr val="FFFFFF"/>
                </a:solidFill>
                <a:latin typeface="Consolas"/>
              </a:rPr>
              <a:t>_.template(tpl, {</a:t>
            </a:r>
          </a:p>
          <a:p>
            <a:pPr algn="l">
              <a:spcAft>
                <a:spcPts val="0"/>
              </a:spcAft>
            </a:pPr>
            <a:r>
              <a:rPr sz="1000">
                <a:solidFill>
                  <a:srgbClr val="FFFFFF"/>
                </a:solidFill>
                <a:latin typeface="Consolas"/>
              </a:rPr>
              <a:t>    sourceURL: req.query.src</a:t>
            </a:r>
          </a:p>
          <a:p>
            <a:pPr algn="l">
              <a:spcAft>
                <a:spcPts val="0"/>
              </a:spcAft>
            </a:pPr>
            <a:r>
              <a:rPr sz="1000">
                <a:solidFill>
                  <a:srgbClr val="FFFFFF"/>
                </a:solidFill>
                <a:latin typeface="Consolas"/>
              </a:rPr>
              <a:t>})(data);</a:t>
            </a:r>
          </a:p>
          <a:p>
            <a:pPr algn="l">
              <a:spcAft>
                <a:spcPts val="0"/>
              </a:spcAft>
            </a:pPr>
            <a:r>
              <a:rPr sz="1000">
                <a:solidFill>
                  <a:srgbClr val="FFFFFF"/>
                </a:solidFill>
                <a:latin typeface="Consolas"/>
              </a:rPr>
              <a:t/>
            </a:r>
          </a:p>
        </p:txBody>
      </p:sp>
      <p:sp>
        <p:nvSpPr>
          <p:cNvPr id="14" name="TextBox 13"/>
          <p:cNvSpPr txBox="1"/>
          <p:nvPr/>
        </p:nvSpPr>
        <p:spPr>
          <a:xfrm>
            <a:off x="548640" y="6035040"/>
            <a:ext cx="10972800" cy="320040"/>
          </a:xfrm>
          <a:prstGeom prst="rect">
            <a:avLst/>
          </a:prstGeom>
          <a:noFill/>
        </p:spPr>
        <p:txBody>
          <a:bodyPr wrap="square" lIns="25400" rIns="25400" tIns="25400" bIns="25400">
            <a:spAutoFit/>
          </a:bodyPr>
          <a:lstStyle/>
          <a:p>
            <a:pPr algn="l"/>
            <a:r>
              <a:rPr sz="1200" b="0" i="1">
                <a:solidFill>
                  <a:srgbClr val="B85042"/>
                </a:solidFill>
                <a:latin typeface="Calibri"/>
              </a:rPr>
              <a:t>Both pin lodash@4.17.20. CVSS = 7.2. EPSS = 0.0023. Only reachability separates them.</a:t>
            </a:r>
          </a:p>
        </p:txBody>
      </p:sp>
      <p:sp>
        <p:nvSpPr>
          <p:cNvPr id="15" name="TextBox 14"/>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16" name="TextBox 15"/>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Solution: a four-stage classifier</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Fuse rule baseline, RoBERTa text features, and reachability into one verdict.</a:t>
            </a:r>
          </a:p>
        </p:txBody>
      </p:sp>
      <p:sp>
        <p:nvSpPr>
          <p:cNvPr id="5" name="Oval 4"/>
          <p:cNvSpPr/>
          <p:nvPr/>
        </p:nvSpPr>
        <p:spPr>
          <a:xfrm>
            <a:off x="1691640" y="1600200"/>
            <a:ext cx="594360" cy="59436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1</a:t>
            </a:r>
          </a:p>
        </p:txBody>
      </p:sp>
      <p:sp>
        <p:nvSpPr>
          <p:cNvPr id="6" name="Rounded Rectangle 5"/>
          <p:cNvSpPr/>
          <p:nvPr/>
        </p:nvSpPr>
        <p:spPr>
          <a:xfrm>
            <a:off x="548640" y="2377440"/>
            <a:ext cx="2743200" cy="310896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14600"/>
            <a:ext cx="2743200" cy="365760"/>
          </a:xfrm>
          <a:prstGeom prst="rect">
            <a:avLst/>
          </a:prstGeom>
          <a:noFill/>
        </p:spPr>
        <p:txBody>
          <a:bodyPr wrap="square" lIns="25400" rIns="25400" tIns="25400" bIns="25400">
            <a:spAutoFit/>
          </a:bodyPr>
          <a:lstStyle/>
          <a:p>
            <a:pPr algn="ctr"/>
            <a:r>
              <a:rPr sz="1500" b="1" i="0">
                <a:solidFill>
                  <a:srgbClr val="1E2761"/>
                </a:solidFill>
                <a:latin typeface="Calibri"/>
              </a:rPr>
              <a:t>Baselines</a:t>
            </a:r>
          </a:p>
        </p:txBody>
      </p:sp>
      <p:sp>
        <p:nvSpPr>
          <p:cNvPr id="8" name="TextBox 7"/>
          <p:cNvSpPr txBox="1"/>
          <p:nvPr/>
        </p:nvSpPr>
        <p:spPr>
          <a:xfrm>
            <a:off x="731520" y="2971800"/>
            <a:ext cx="2377440" cy="1828800"/>
          </a:xfrm>
          <a:prstGeom prst="rect">
            <a:avLst/>
          </a:prstGeom>
          <a:noFill/>
        </p:spPr>
        <p:txBody>
          <a:bodyPr wrap="square">
            <a:spAutoFit/>
          </a:bodyPr>
          <a:lstStyle/>
          <a:p>
            <a:pPr algn="ctr"/>
            <a:r>
              <a:rPr sz="1100">
                <a:solidFill>
                  <a:srgbClr val="4A4A4A"/>
                </a:solidFill>
                <a:latin typeface="Calibri"/>
              </a:rPr>
              <a:t>EPSS-threshold rule
TF-IDF + Logistic Reg.</a:t>
            </a:r>
          </a:p>
        </p:txBody>
      </p:sp>
      <p:sp>
        <p:nvSpPr>
          <p:cNvPr id="9" name="TextBox 8"/>
          <p:cNvSpPr txBox="1"/>
          <p:nvPr/>
        </p:nvSpPr>
        <p:spPr>
          <a:xfrm>
            <a:off x="548640" y="4983480"/>
            <a:ext cx="2743200" cy="365760"/>
          </a:xfrm>
          <a:prstGeom prst="rect">
            <a:avLst/>
          </a:prstGeom>
          <a:noFill/>
        </p:spPr>
        <p:txBody>
          <a:bodyPr wrap="square" lIns="25400" rIns="25400" tIns="25400" bIns="25400">
            <a:spAutoFit/>
          </a:bodyPr>
          <a:lstStyle/>
          <a:p>
            <a:pPr algn="ctr"/>
            <a:r>
              <a:rPr sz="1200" b="1" i="1">
                <a:solidFill>
                  <a:srgbClr val="B85042"/>
                </a:solidFill>
                <a:latin typeface="Calibri"/>
              </a:rPr>
              <a:t>0.58 to 0.61 F1</a:t>
            </a:r>
          </a:p>
        </p:txBody>
      </p:sp>
      <p:sp>
        <p:nvSpPr>
          <p:cNvPr id="10" name="Oval 9"/>
          <p:cNvSpPr/>
          <p:nvPr/>
        </p:nvSpPr>
        <p:spPr>
          <a:xfrm>
            <a:off x="4572000" y="1600200"/>
            <a:ext cx="594360" cy="59436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2</a:t>
            </a:r>
          </a:p>
        </p:txBody>
      </p:sp>
      <p:sp>
        <p:nvSpPr>
          <p:cNvPr id="11" name="Rounded Rectangle 10"/>
          <p:cNvSpPr/>
          <p:nvPr/>
        </p:nvSpPr>
        <p:spPr>
          <a:xfrm>
            <a:off x="3429000" y="2377440"/>
            <a:ext cx="2743200" cy="310896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2514600"/>
            <a:ext cx="2743200" cy="365760"/>
          </a:xfrm>
          <a:prstGeom prst="rect">
            <a:avLst/>
          </a:prstGeom>
          <a:noFill/>
        </p:spPr>
        <p:txBody>
          <a:bodyPr wrap="square" lIns="25400" rIns="25400" tIns="25400" bIns="25400">
            <a:spAutoFit/>
          </a:bodyPr>
          <a:lstStyle/>
          <a:p>
            <a:pPr algn="ctr"/>
            <a:r>
              <a:rPr sz="1500" b="1" i="0">
                <a:solidFill>
                  <a:srgbClr val="1E2761"/>
                </a:solidFill>
                <a:latin typeface="Calibri"/>
              </a:rPr>
              <a:t>RoBERTa</a:t>
            </a:r>
          </a:p>
        </p:txBody>
      </p:sp>
      <p:sp>
        <p:nvSpPr>
          <p:cNvPr id="13" name="TextBox 12"/>
          <p:cNvSpPr txBox="1"/>
          <p:nvPr/>
        </p:nvSpPr>
        <p:spPr>
          <a:xfrm>
            <a:off x="3611880" y="2971800"/>
            <a:ext cx="2377440" cy="1828800"/>
          </a:xfrm>
          <a:prstGeom prst="rect">
            <a:avLst/>
          </a:prstGeom>
          <a:noFill/>
        </p:spPr>
        <p:txBody>
          <a:bodyPr wrap="square">
            <a:spAutoFit/>
          </a:bodyPr>
          <a:lstStyle/>
          <a:p>
            <a:pPr algn="ctr"/>
            <a:r>
              <a:rPr sz="1100">
                <a:solidFill>
                  <a:srgbClr val="4A4A4A"/>
                </a:solidFill>
                <a:latin typeface="Calibri"/>
              </a:rPr>
              <a:t>Fine-tune roberta-base
on CVE descriptions</a:t>
            </a:r>
          </a:p>
        </p:txBody>
      </p:sp>
      <p:sp>
        <p:nvSpPr>
          <p:cNvPr id="14" name="TextBox 13"/>
          <p:cNvSpPr txBox="1"/>
          <p:nvPr/>
        </p:nvSpPr>
        <p:spPr>
          <a:xfrm>
            <a:off x="3429000" y="4983480"/>
            <a:ext cx="2743200" cy="365760"/>
          </a:xfrm>
          <a:prstGeom prst="rect">
            <a:avLst/>
          </a:prstGeom>
          <a:noFill/>
        </p:spPr>
        <p:txBody>
          <a:bodyPr wrap="square" lIns="25400" rIns="25400" tIns="25400" bIns="25400">
            <a:spAutoFit/>
          </a:bodyPr>
          <a:lstStyle/>
          <a:p>
            <a:pPr algn="ctr"/>
            <a:r>
              <a:rPr sz="1200" b="1" i="1">
                <a:solidFill>
                  <a:srgbClr val="B85042"/>
                </a:solidFill>
                <a:latin typeface="Calibri"/>
              </a:rPr>
              <a:t>AUC 0.83</a:t>
            </a:r>
          </a:p>
        </p:txBody>
      </p:sp>
      <p:sp>
        <p:nvSpPr>
          <p:cNvPr id="15" name="Oval 14"/>
          <p:cNvSpPr/>
          <p:nvPr/>
        </p:nvSpPr>
        <p:spPr>
          <a:xfrm>
            <a:off x="7452359" y="1600200"/>
            <a:ext cx="594360" cy="59436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3</a:t>
            </a:r>
          </a:p>
        </p:txBody>
      </p:sp>
      <p:sp>
        <p:nvSpPr>
          <p:cNvPr id="16" name="Rounded Rectangle 15"/>
          <p:cNvSpPr/>
          <p:nvPr/>
        </p:nvSpPr>
        <p:spPr>
          <a:xfrm>
            <a:off x="6309359" y="2377440"/>
            <a:ext cx="2743200" cy="310896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59" y="2514600"/>
            <a:ext cx="2743200" cy="365760"/>
          </a:xfrm>
          <a:prstGeom prst="rect">
            <a:avLst/>
          </a:prstGeom>
          <a:noFill/>
        </p:spPr>
        <p:txBody>
          <a:bodyPr wrap="square" lIns="25400" rIns="25400" tIns="25400" bIns="25400">
            <a:spAutoFit/>
          </a:bodyPr>
          <a:lstStyle/>
          <a:p>
            <a:pPr algn="ctr"/>
            <a:r>
              <a:rPr sz="1500" b="1" i="0">
                <a:solidFill>
                  <a:srgbClr val="1E2761"/>
                </a:solidFill>
                <a:latin typeface="Calibri"/>
              </a:rPr>
              <a:t>Reachability</a:t>
            </a:r>
          </a:p>
        </p:txBody>
      </p:sp>
      <p:sp>
        <p:nvSpPr>
          <p:cNvPr id="18" name="TextBox 17"/>
          <p:cNvSpPr txBox="1"/>
          <p:nvPr/>
        </p:nvSpPr>
        <p:spPr>
          <a:xfrm>
            <a:off x="6492240" y="2971800"/>
            <a:ext cx="2377440" cy="1828800"/>
          </a:xfrm>
          <a:prstGeom prst="rect">
            <a:avLst/>
          </a:prstGeom>
          <a:noFill/>
        </p:spPr>
        <p:txBody>
          <a:bodyPr wrap="square">
            <a:spAutoFit/>
          </a:bodyPr>
          <a:lstStyle/>
          <a:p>
            <a:pPr algn="ctr"/>
            <a:r>
              <a:rPr sz="1100">
                <a:solidFill>
                  <a:srgbClr val="4A4A4A"/>
                </a:solidFill>
                <a:latin typeface="Calibri"/>
              </a:rPr>
              <a:t>Static call graph
+ Flan-T5 reasoner
+ CodeBERT/FAISS</a:t>
            </a:r>
          </a:p>
        </p:txBody>
      </p:sp>
      <p:sp>
        <p:nvSpPr>
          <p:cNvPr id="19" name="TextBox 18"/>
          <p:cNvSpPr txBox="1"/>
          <p:nvPr/>
        </p:nvSpPr>
        <p:spPr>
          <a:xfrm>
            <a:off x="6309359" y="4983480"/>
            <a:ext cx="2743200" cy="365760"/>
          </a:xfrm>
          <a:prstGeom prst="rect">
            <a:avLst/>
          </a:prstGeom>
          <a:noFill/>
        </p:spPr>
        <p:txBody>
          <a:bodyPr wrap="square" lIns="25400" rIns="25400" tIns="25400" bIns="25400">
            <a:spAutoFit/>
          </a:bodyPr>
          <a:lstStyle/>
          <a:p>
            <a:pPr algn="ctr"/>
            <a:r>
              <a:rPr sz="1200" b="1" i="1">
                <a:solidFill>
                  <a:srgbClr val="B85042"/>
                </a:solidFill>
                <a:latin typeface="Calibri"/>
              </a:rPr>
              <a:t>core innovation</a:t>
            </a:r>
          </a:p>
        </p:txBody>
      </p:sp>
      <p:sp>
        <p:nvSpPr>
          <p:cNvPr id="20" name="Oval 19"/>
          <p:cNvSpPr/>
          <p:nvPr/>
        </p:nvSpPr>
        <p:spPr>
          <a:xfrm>
            <a:off x="10332719" y="1600200"/>
            <a:ext cx="594360" cy="594360"/>
          </a:xfrm>
          <a:prstGeom prst="ellipse">
            <a:avLst/>
          </a:prstGeom>
          <a:solidFill>
            <a:srgbClr val="B85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latin typeface="Calibri"/>
              </a:rPr>
              <a:t>4</a:t>
            </a:r>
          </a:p>
        </p:txBody>
      </p:sp>
      <p:sp>
        <p:nvSpPr>
          <p:cNvPr id="21" name="Rounded Rectangle 20"/>
          <p:cNvSpPr/>
          <p:nvPr/>
        </p:nvSpPr>
        <p:spPr>
          <a:xfrm>
            <a:off x="9189719" y="2377440"/>
            <a:ext cx="2743200" cy="310896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9719" y="2514600"/>
            <a:ext cx="2743200" cy="365760"/>
          </a:xfrm>
          <a:prstGeom prst="rect">
            <a:avLst/>
          </a:prstGeom>
          <a:noFill/>
        </p:spPr>
        <p:txBody>
          <a:bodyPr wrap="square" lIns="25400" rIns="25400" tIns="25400" bIns="25400">
            <a:spAutoFit/>
          </a:bodyPr>
          <a:lstStyle/>
          <a:p>
            <a:pPr algn="ctr"/>
            <a:r>
              <a:rPr sz="1500" b="1" i="0">
                <a:solidFill>
                  <a:srgbClr val="1E2761"/>
                </a:solidFill>
                <a:latin typeface="Calibri"/>
              </a:rPr>
              <a:t>Combined</a:t>
            </a:r>
          </a:p>
        </p:txBody>
      </p:sp>
      <p:sp>
        <p:nvSpPr>
          <p:cNvPr id="23" name="TextBox 22"/>
          <p:cNvSpPr txBox="1"/>
          <p:nvPr/>
        </p:nvSpPr>
        <p:spPr>
          <a:xfrm>
            <a:off x="9372599" y="2971800"/>
            <a:ext cx="2377440" cy="1828800"/>
          </a:xfrm>
          <a:prstGeom prst="rect">
            <a:avLst/>
          </a:prstGeom>
          <a:noFill/>
        </p:spPr>
        <p:txBody>
          <a:bodyPr wrap="square">
            <a:spAutoFit/>
          </a:bodyPr>
          <a:lstStyle/>
          <a:p>
            <a:pPr algn="ctr"/>
            <a:r>
              <a:rPr sz="1100">
                <a:solidFill>
                  <a:srgbClr val="4A4A4A"/>
                </a:solidFill>
                <a:latin typeface="Calibri"/>
              </a:rPr>
              <a:t>Logistic Regression
on 775-d fused vector
(768 + 5 + 2)</a:t>
            </a:r>
          </a:p>
        </p:txBody>
      </p:sp>
      <p:sp>
        <p:nvSpPr>
          <p:cNvPr id="24" name="TextBox 23"/>
          <p:cNvSpPr txBox="1"/>
          <p:nvPr/>
        </p:nvSpPr>
        <p:spPr>
          <a:xfrm>
            <a:off x="9189719" y="4983480"/>
            <a:ext cx="2743200" cy="365760"/>
          </a:xfrm>
          <a:prstGeom prst="rect">
            <a:avLst/>
          </a:prstGeom>
          <a:noFill/>
        </p:spPr>
        <p:txBody>
          <a:bodyPr wrap="square" lIns="25400" rIns="25400" tIns="25400" bIns="25400">
            <a:spAutoFit/>
          </a:bodyPr>
          <a:lstStyle/>
          <a:p>
            <a:pPr algn="ctr"/>
            <a:r>
              <a:rPr sz="1200" b="1" i="1">
                <a:solidFill>
                  <a:srgbClr val="B85042"/>
                </a:solidFill>
                <a:latin typeface="Calibri"/>
              </a:rPr>
              <a:t>F1 = 0.995</a:t>
            </a:r>
          </a:p>
        </p:txBody>
      </p:sp>
      <p:sp>
        <p:nvSpPr>
          <p:cNvPr id="25" name="TextBox 24"/>
          <p:cNvSpPr txBox="1"/>
          <p:nvPr/>
        </p:nvSpPr>
        <p:spPr>
          <a:xfrm>
            <a:off x="548640" y="5852160"/>
            <a:ext cx="10972800" cy="365760"/>
          </a:xfrm>
          <a:prstGeom prst="rect">
            <a:avLst/>
          </a:prstGeom>
          <a:noFill/>
        </p:spPr>
        <p:txBody>
          <a:bodyPr wrap="square" lIns="25400" rIns="25400" tIns="25400" bIns="25400">
            <a:spAutoFit/>
          </a:bodyPr>
          <a:lstStyle/>
          <a:p>
            <a:pPr algn="l"/>
            <a:r>
              <a:rPr sz="1200" b="0" i="1">
                <a:solidFill>
                  <a:srgbClr val="4A4A4A"/>
                </a:solidFill>
                <a:latin typeface="Calibri"/>
              </a:rPr>
              <a:t>Each stage's output is concatenated into the next stage's input. Only Stage 4 produces the final TP or FP verdict.</a:t>
            </a:r>
          </a:p>
        </p:txBody>
      </p:sp>
      <p:sp>
        <p:nvSpPr>
          <p:cNvPr id="26" name="TextBox 25"/>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27" name="TextBox 26"/>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Data: 10,000 real advisories</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GitHub Advisory Database joined with FIRST EPSS and NVD CWE/CVSS.</a:t>
            </a:r>
          </a:p>
        </p:txBody>
      </p:sp>
      <p:sp>
        <p:nvSpPr>
          <p:cNvPr id="5" name="TextBox 4"/>
          <p:cNvSpPr txBox="1"/>
          <p:nvPr/>
        </p:nvSpPr>
        <p:spPr>
          <a:xfrm>
            <a:off x="548640" y="1554480"/>
            <a:ext cx="5943600" cy="3657600"/>
          </a:xfrm>
          <a:prstGeom prst="rect">
            <a:avLst/>
          </a:prstGeom>
          <a:noFill/>
        </p:spPr>
        <p:txBody>
          <a:bodyPr wrap="square" lIns="25400" rIns="25400">
            <a:spAutoFit/>
          </a:bodyPr>
          <a:lstStyle/>
          <a:p>
            <a:pPr algn="l">
              <a:spcAft>
                <a:spcPts val="600"/>
              </a:spcAft>
            </a:pPr>
            <a:r>
              <a:rPr sz="1400">
                <a:solidFill>
                  <a:srgbClr val="4A4A4A"/>
                </a:solidFill>
                <a:latin typeface="Calibri"/>
              </a:rPr>
              <a:t>•  GitHub Advisory Database, OSV-Schema JSON, around 200K advisories, MIT licence.</a:t>
            </a:r>
          </a:p>
          <a:p>
            <a:pPr algn="l">
              <a:spcAft>
                <a:spcPts val="600"/>
              </a:spcAft>
            </a:pPr>
            <a:r>
              <a:rPr sz="1400">
                <a:solidFill>
                  <a:srgbClr val="4A4A4A"/>
                </a:solidFill>
                <a:latin typeface="Calibri"/>
              </a:rPr>
              <a:t>•  FIRST EPSS, daily CSV, exploitation probability per CVE.</a:t>
            </a:r>
          </a:p>
          <a:p>
            <a:pPr algn="l">
              <a:spcAft>
                <a:spcPts val="600"/>
              </a:spcAft>
            </a:pPr>
            <a:r>
              <a:rPr sz="1400">
                <a:solidFill>
                  <a:srgbClr val="4A4A4A"/>
                </a:solidFill>
                <a:latin typeface="Calibri"/>
              </a:rPr>
              <a:t>•  Joined on cve_id (left-outer). Missing EPSS rows are filled with 0.001 (the tail).</a:t>
            </a:r>
          </a:p>
          <a:p>
            <a:pPr algn="l">
              <a:spcAft>
                <a:spcPts val="600"/>
              </a:spcAft>
            </a:pPr>
            <a:r>
              <a:rPr sz="1400">
                <a:solidFill>
                  <a:srgbClr val="4A4A4A"/>
                </a:solidFill>
                <a:latin typeface="Calibri"/>
              </a:rPr>
              <a:t>•  Majority class capped at 4x the minority via uniform sampling.</a:t>
            </a:r>
          </a:p>
          <a:p>
            <a:pPr algn="l">
              <a:spcAft>
                <a:spcPts val="600"/>
              </a:spcAft>
            </a:pPr>
            <a:r>
              <a:rPr sz="1400">
                <a:solidFill>
                  <a:srgbClr val="4A4A4A"/>
                </a:solidFill>
                <a:latin typeface="Calibri"/>
              </a:rPr>
              <a:t>•  Stratified 80 / 10 / 10 train / val / test split. SEED = 42.</a:t>
            </a:r>
          </a:p>
          <a:p>
            <a:pPr algn="l">
              <a:spcAft>
                <a:spcPts val="600"/>
              </a:spcAft>
            </a:pPr>
            <a:r>
              <a:rPr sz="1400">
                <a:solidFill>
                  <a:srgbClr val="4A4A4A"/>
                </a:solidFill>
                <a:latin typeface="Calibri"/>
              </a:rPr>
              <a:t>•  Proxy label (EPSS + severity heuristic) reproducible from src/reachability_llm/data/dataset.py.</a:t>
            </a:r>
          </a:p>
        </p:txBody>
      </p:sp>
      <p:sp>
        <p:nvSpPr>
          <p:cNvPr id="6" name="Rounded Rectangle 5"/>
          <p:cNvSpPr/>
          <p:nvPr/>
        </p:nvSpPr>
        <p:spPr>
          <a:xfrm>
            <a:off x="6949440" y="1554480"/>
            <a:ext cx="4937760" cy="365760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1691640"/>
            <a:ext cx="4572000" cy="365760"/>
          </a:xfrm>
          <a:prstGeom prst="rect">
            <a:avLst/>
          </a:prstGeom>
          <a:noFill/>
        </p:spPr>
        <p:txBody>
          <a:bodyPr wrap="square" lIns="25400" rIns="25400" tIns="25400" bIns="25400">
            <a:spAutoFit/>
          </a:bodyPr>
          <a:lstStyle/>
          <a:p>
            <a:pPr algn="l"/>
            <a:r>
              <a:rPr sz="1400" b="1" i="0">
                <a:solidFill>
                  <a:srgbClr val="1E2761"/>
                </a:solidFill>
                <a:latin typeface="Calibri"/>
              </a:rPr>
              <a:t>Final dataset composition</a:t>
            </a:r>
          </a:p>
        </p:txBody>
      </p:sp>
      <p:sp>
        <p:nvSpPr>
          <p:cNvPr id="8" name="TextBox 7"/>
          <p:cNvSpPr txBox="1"/>
          <p:nvPr/>
        </p:nvSpPr>
        <p:spPr>
          <a:xfrm>
            <a:off x="7132320" y="2103120"/>
            <a:ext cx="4572000" cy="2743200"/>
          </a:xfrm>
          <a:prstGeom prst="rect">
            <a:avLst/>
          </a:prstGeom>
          <a:noFill/>
        </p:spPr>
        <p:txBody>
          <a:bodyPr wrap="square" lIns="25400" rIns="25400">
            <a:spAutoFit/>
          </a:bodyPr>
          <a:lstStyle/>
          <a:p>
            <a:pPr algn="l">
              <a:spcAft>
                <a:spcPts val="600"/>
              </a:spcAft>
            </a:pPr>
            <a:r>
              <a:rPr sz="1200">
                <a:solidFill>
                  <a:srgbClr val="4A4A4A"/>
                </a:solidFill>
                <a:latin typeface="Calibri"/>
              </a:rPr>
              <a:t>•  Advisories scanned:   15,000</a:t>
            </a:r>
          </a:p>
          <a:p>
            <a:pPr algn="l">
              <a:spcAft>
                <a:spcPts val="600"/>
              </a:spcAft>
            </a:pPr>
            <a:r>
              <a:rPr sz="1200">
                <a:solidFill>
                  <a:srgbClr val="4A4A4A"/>
                </a:solidFill>
                <a:latin typeface="Calibri"/>
              </a:rPr>
              <a:t>•  After build_dataset:  10,000</a:t>
            </a:r>
          </a:p>
          <a:p>
            <a:pPr algn="l">
              <a:spcAft>
                <a:spcPts val="600"/>
              </a:spcAft>
            </a:pPr>
            <a:r>
              <a:rPr sz="1200">
                <a:solidFill>
                  <a:srgbClr val="4A4A4A"/>
                </a:solidFill>
                <a:latin typeface="Calibri"/>
              </a:rPr>
              <a:t>•  TRUE_POSITIVE share:  21.14%</a:t>
            </a:r>
          </a:p>
          <a:p>
            <a:pPr algn="l">
              <a:spcAft>
                <a:spcPts val="600"/>
              </a:spcAft>
            </a:pPr>
            <a:r>
              <a:rPr sz="1200">
                <a:solidFill>
                  <a:srgbClr val="4A4A4A"/>
                </a:solidFill>
                <a:latin typeface="Calibri"/>
              </a:rPr>
              <a:t>•  FALSE_POSITIVE share: 78.86%</a:t>
            </a:r>
          </a:p>
          <a:p>
            <a:pPr algn="l">
              <a:spcAft>
                <a:spcPts val="600"/>
              </a:spcAft>
            </a:pPr>
            <a:r>
              <a:rPr sz="1200">
                <a:solidFill>
                  <a:srgbClr val="4A4A4A"/>
                </a:solidFill>
                <a:latin typeface="Calibri"/>
              </a:rPr>
              <a:t>•  Train / val / test:   7,999 / 999 / 1,002</a:t>
            </a:r>
          </a:p>
        </p:txBody>
      </p:sp>
      <p:sp>
        <p:nvSpPr>
          <p:cNvPr id="9" name="TextBox 8"/>
          <p:cNvSpPr txBox="1"/>
          <p:nvPr/>
        </p:nvSpPr>
        <p:spPr>
          <a:xfrm>
            <a:off x="548640" y="5852160"/>
            <a:ext cx="10972800" cy="365760"/>
          </a:xfrm>
          <a:prstGeom prst="rect">
            <a:avLst/>
          </a:prstGeom>
          <a:noFill/>
        </p:spPr>
        <p:txBody>
          <a:bodyPr wrap="square" lIns="25400" rIns="25400" tIns="25400" bIns="25400">
            <a:spAutoFit/>
          </a:bodyPr>
          <a:lstStyle/>
          <a:p>
            <a:pPr algn="l"/>
            <a:r>
              <a:rPr sz="1100" b="0" i="1">
                <a:solidFill>
                  <a:srgbClr val="B85042"/>
                </a:solidFill>
                <a:latin typeface="Calibri"/>
              </a:rPr>
              <a:t>Quick parser note. OSV-Schema 1.4 lists aliases as plain strings, not {"value": "CVE-..."} dicts. Four regression tests pin the behaviour.</a:t>
            </a:r>
          </a:p>
        </p:txBody>
      </p:sp>
      <p:sp>
        <p:nvSpPr>
          <p:cNvPr id="10" name="TextBox 9"/>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11" name="TextBox 10"/>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Stage 1: baselines establish the floor</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What you get with no LLM at all.</a:t>
            </a:r>
          </a:p>
        </p:txBody>
      </p:sp>
      <p:sp>
        <p:nvSpPr>
          <p:cNvPr id="5" name="Rounded Rectangle 4"/>
          <p:cNvSpPr/>
          <p:nvPr/>
        </p:nvSpPr>
        <p:spPr>
          <a:xfrm>
            <a:off x="548640" y="1554480"/>
            <a:ext cx="5486400" cy="411480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37360"/>
            <a:ext cx="5029200" cy="365760"/>
          </a:xfrm>
          <a:prstGeom prst="rect">
            <a:avLst/>
          </a:prstGeom>
          <a:noFill/>
        </p:spPr>
        <p:txBody>
          <a:bodyPr wrap="square" lIns="25400" rIns="25400" tIns="25400" bIns="25400">
            <a:spAutoFit/>
          </a:bodyPr>
          <a:lstStyle/>
          <a:p>
            <a:pPr algn="l"/>
            <a:r>
              <a:rPr sz="1600" b="1" i="0">
                <a:solidFill>
                  <a:srgbClr val="1E2761"/>
                </a:solidFill>
                <a:latin typeface="Calibri"/>
              </a:rPr>
              <a:t>EPSS rule baseline</a:t>
            </a:r>
          </a:p>
        </p:txBody>
      </p:sp>
      <p:sp>
        <p:nvSpPr>
          <p:cNvPr id="7" name="TextBox 6"/>
          <p:cNvSpPr txBox="1"/>
          <p:nvPr/>
        </p:nvSpPr>
        <p:spPr>
          <a:xfrm>
            <a:off x="777240" y="2194560"/>
            <a:ext cx="5029200" cy="274320"/>
          </a:xfrm>
          <a:prstGeom prst="rect">
            <a:avLst/>
          </a:prstGeom>
          <a:noFill/>
        </p:spPr>
        <p:txBody>
          <a:bodyPr wrap="square" lIns="25400" rIns="25400" tIns="25400" bIns="25400">
            <a:spAutoFit/>
          </a:bodyPr>
          <a:lstStyle/>
          <a:p>
            <a:pPr algn="l"/>
            <a:r>
              <a:rPr sz="1100" b="0" i="1">
                <a:solidFill>
                  <a:srgbClr val="B85042"/>
                </a:solidFill>
                <a:latin typeface="Calibri"/>
              </a:rPr>
              <a:t>Approximates the heuristic Dependabot uses today.</a:t>
            </a:r>
          </a:p>
        </p:txBody>
      </p:sp>
      <p:sp>
        <p:nvSpPr>
          <p:cNvPr id="8" name="Rectangle 7"/>
          <p:cNvSpPr/>
          <p:nvPr/>
        </p:nvSpPr>
        <p:spPr>
          <a:xfrm>
            <a:off x="777240" y="2560320"/>
            <a:ext cx="5029200" cy="64008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51760"/>
            <a:ext cx="4754880" cy="457199"/>
          </a:xfrm>
          <a:prstGeom prst="rect">
            <a:avLst/>
          </a:prstGeom>
          <a:noFill/>
        </p:spPr>
        <p:txBody>
          <a:bodyPr wrap="square">
            <a:spAutoFit/>
          </a:bodyPr>
          <a:lstStyle/>
          <a:p>
            <a:pPr algn="l">
              <a:spcAft>
                <a:spcPts val="0"/>
              </a:spcAft>
            </a:pPr>
            <a:r>
              <a:rPr sz="1000">
                <a:solidFill>
                  <a:srgbClr val="FFFFFF"/>
                </a:solidFill>
                <a:latin typeface="Consolas"/>
              </a:rPr>
              <a:t>return (df['epss'] &gt;= 0.01).astype(int)</a:t>
            </a:r>
          </a:p>
        </p:txBody>
      </p:sp>
      <p:sp>
        <p:nvSpPr>
          <p:cNvPr id="10" name="TextBox 9"/>
          <p:cNvSpPr txBox="1"/>
          <p:nvPr/>
        </p:nvSpPr>
        <p:spPr>
          <a:xfrm>
            <a:off x="777240" y="3383280"/>
            <a:ext cx="5029200" cy="457200"/>
          </a:xfrm>
          <a:prstGeom prst="rect">
            <a:avLst/>
          </a:prstGeom>
          <a:noFill/>
        </p:spPr>
        <p:txBody>
          <a:bodyPr wrap="square" lIns="25400" rIns="25400" tIns="25400" bIns="25400">
            <a:spAutoFit/>
          </a:bodyPr>
          <a:lstStyle/>
          <a:p>
            <a:pPr algn="l"/>
            <a:r>
              <a:rPr sz="1400" b="0" i="0">
                <a:solidFill>
                  <a:srgbClr val="4A4A4A"/>
                </a:solidFill>
                <a:latin typeface="Calibri"/>
              </a:rPr>
              <a:t>F1        = 0.580</a:t>
            </a:r>
          </a:p>
        </p:txBody>
      </p:sp>
      <p:sp>
        <p:nvSpPr>
          <p:cNvPr id="11" name="TextBox 10"/>
          <p:cNvSpPr txBox="1"/>
          <p:nvPr/>
        </p:nvSpPr>
        <p:spPr>
          <a:xfrm>
            <a:off x="777240" y="3794760"/>
            <a:ext cx="5029200" cy="457200"/>
          </a:xfrm>
          <a:prstGeom prst="rect">
            <a:avLst/>
          </a:prstGeom>
          <a:noFill/>
        </p:spPr>
        <p:txBody>
          <a:bodyPr wrap="square" lIns="25400" rIns="25400" tIns="25400" bIns="25400">
            <a:spAutoFit/>
          </a:bodyPr>
          <a:lstStyle/>
          <a:p>
            <a:pPr algn="l"/>
            <a:r>
              <a:rPr sz="1400" b="0" i="0">
                <a:solidFill>
                  <a:srgbClr val="4A4A4A"/>
                </a:solidFill>
                <a:latin typeface="Calibri"/>
              </a:rPr>
              <a:t>Precision = 0.617</a:t>
            </a:r>
          </a:p>
        </p:txBody>
      </p:sp>
      <p:sp>
        <p:nvSpPr>
          <p:cNvPr id="12" name="TextBox 11"/>
          <p:cNvSpPr txBox="1"/>
          <p:nvPr/>
        </p:nvSpPr>
        <p:spPr>
          <a:xfrm>
            <a:off x="777240" y="4160520"/>
            <a:ext cx="5029200" cy="457200"/>
          </a:xfrm>
          <a:prstGeom prst="rect">
            <a:avLst/>
          </a:prstGeom>
          <a:noFill/>
        </p:spPr>
        <p:txBody>
          <a:bodyPr wrap="square" lIns="25400" rIns="25400" tIns="25400" bIns="25400">
            <a:spAutoFit/>
          </a:bodyPr>
          <a:lstStyle/>
          <a:p>
            <a:pPr algn="l"/>
            <a:r>
              <a:rPr sz="1400" b="0" i="0">
                <a:solidFill>
                  <a:srgbClr val="4A4A4A"/>
                </a:solidFill>
                <a:latin typeface="Calibri"/>
              </a:rPr>
              <a:t>Recall    = 0.547</a:t>
            </a:r>
          </a:p>
        </p:txBody>
      </p:sp>
      <p:sp>
        <p:nvSpPr>
          <p:cNvPr id="13" name="TextBox 12"/>
          <p:cNvSpPr txBox="1"/>
          <p:nvPr/>
        </p:nvSpPr>
        <p:spPr>
          <a:xfrm>
            <a:off x="777240" y="4617720"/>
            <a:ext cx="5029200" cy="457200"/>
          </a:xfrm>
          <a:prstGeom prst="rect">
            <a:avLst/>
          </a:prstGeom>
          <a:noFill/>
        </p:spPr>
        <p:txBody>
          <a:bodyPr wrap="square" lIns="25400" rIns="25400" tIns="25400" bIns="25400">
            <a:spAutoFit/>
          </a:bodyPr>
          <a:lstStyle/>
          <a:p>
            <a:pPr algn="l"/>
            <a:r>
              <a:rPr sz="1400" b="1" i="0">
                <a:solidFill>
                  <a:srgbClr val="1E2761"/>
                </a:solidFill>
                <a:latin typeface="Calibri"/>
              </a:rPr>
              <a:t>ROC-AUC   = 0.758</a:t>
            </a:r>
          </a:p>
        </p:txBody>
      </p:sp>
      <p:sp>
        <p:nvSpPr>
          <p:cNvPr id="14" name="Rounded Rectangle 13"/>
          <p:cNvSpPr/>
          <p:nvPr/>
        </p:nvSpPr>
        <p:spPr>
          <a:xfrm>
            <a:off x="6400800" y="1554480"/>
            <a:ext cx="5486400" cy="411480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1737360"/>
            <a:ext cx="5029200" cy="365760"/>
          </a:xfrm>
          <a:prstGeom prst="rect">
            <a:avLst/>
          </a:prstGeom>
          <a:noFill/>
        </p:spPr>
        <p:txBody>
          <a:bodyPr wrap="square" lIns="25400" rIns="25400" tIns="25400" bIns="25400">
            <a:spAutoFit/>
          </a:bodyPr>
          <a:lstStyle/>
          <a:p>
            <a:pPr algn="l"/>
            <a:r>
              <a:rPr sz="1600" b="1" i="0">
                <a:solidFill>
                  <a:srgbClr val="1E2761"/>
                </a:solidFill>
                <a:latin typeface="Calibri"/>
              </a:rPr>
              <a:t>TF-IDF + Logistic Regression</a:t>
            </a:r>
          </a:p>
        </p:txBody>
      </p:sp>
      <p:sp>
        <p:nvSpPr>
          <p:cNvPr id="16" name="TextBox 15"/>
          <p:cNvSpPr txBox="1"/>
          <p:nvPr/>
        </p:nvSpPr>
        <p:spPr>
          <a:xfrm>
            <a:off x="6629400" y="2194560"/>
            <a:ext cx="5029200" cy="274320"/>
          </a:xfrm>
          <a:prstGeom prst="rect">
            <a:avLst/>
          </a:prstGeom>
          <a:noFill/>
        </p:spPr>
        <p:txBody>
          <a:bodyPr wrap="square" lIns="25400" rIns="25400" tIns="25400" bIns="25400">
            <a:spAutoFit/>
          </a:bodyPr>
          <a:lstStyle/>
          <a:p>
            <a:pPr algn="l"/>
            <a:r>
              <a:rPr sz="1100" b="0" i="1">
                <a:solidFill>
                  <a:srgbClr val="B85042"/>
                </a:solidFill>
                <a:latin typeface="Calibri"/>
              </a:rPr>
              <a:t>Bag-of-words over the CVE description.</a:t>
            </a:r>
          </a:p>
        </p:txBody>
      </p:sp>
      <p:sp>
        <p:nvSpPr>
          <p:cNvPr id="17" name="Rectangle 16"/>
          <p:cNvSpPr/>
          <p:nvPr/>
        </p:nvSpPr>
        <p:spPr>
          <a:xfrm>
            <a:off x="6629400" y="2560320"/>
            <a:ext cx="5029200" cy="64008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2651760"/>
            <a:ext cx="4754880" cy="457199"/>
          </a:xfrm>
          <a:prstGeom prst="rect">
            <a:avLst/>
          </a:prstGeom>
          <a:noFill/>
        </p:spPr>
        <p:txBody>
          <a:bodyPr wrap="square">
            <a:spAutoFit/>
          </a:bodyPr>
          <a:lstStyle/>
          <a:p>
            <a:pPr algn="l">
              <a:spcAft>
                <a:spcPts val="0"/>
              </a:spcAft>
            </a:pPr>
            <a:r>
              <a:rPr sz="1000">
                <a:solidFill>
                  <a:srgbClr val="FFFFFF"/>
                </a:solidFill>
                <a:latin typeface="Consolas"/>
              </a:rPr>
              <a:t>TfidfVectorizer(max_features=20000, ngram=(1,2))</a:t>
            </a:r>
          </a:p>
        </p:txBody>
      </p:sp>
      <p:sp>
        <p:nvSpPr>
          <p:cNvPr id="19" name="TextBox 18"/>
          <p:cNvSpPr txBox="1"/>
          <p:nvPr/>
        </p:nvSpPr>
        <p:spPr>
          <a:xfrm>
            <a:off x="6629400" y="3383280"/>
            <a:ext cx="5029200" cy="457200"/>
          </a:xfrm>
          <a:prstGeom prst="rect">
            <a:avLst/>
          </a:prstGeom>
          <a:noFill/>
        </p:spPr>
        <p:txBody>
          <a:bodyPr wrap="square" lIns="25400" rIns="25400" tIns="25400" bIns="25400">
            <a:spAutoFit/>
          </a:bodyPr>
          <a:lstStyle/>
          <a:p>
            <a:pPr algn="l"/>
            <a:r>
              <a:rPr sz="1400" b="0" i="0">
                <a:solidFill>
                  <a:srgbClr val="4A4A4A"/>
                </a:solidFill>
                <a:latin typeface="Calibri"/>
              </a:rPr>
              <a:t>F1        = 0.607</a:t>
            </a:r>
          </a:p>
        </p:txBody>
      </p:sp>
      <p:sp>
        <p:nvSpPr>
          <p:cNvPr id="20" name="TextBox 19"/>
          <p:cNvSpPr txBox="1"/>
          <p:nvPr/>
        </p:nvSpPr>
        <p:spPr>
          <a:xfrm>
            <a:off x="6629400" y="3794760"/>
            <a:ext cx="5029200" cy="457200"/>
          </a:xfrm>
          <a:prstGeom prst="rect">
            <a:avLst/>
          </a:prstGeom>
          <a:noFill/>
        </p:spPr>
        <p:txBody>
          <a:bodyPr wrap="square" lIns="25400" rIns="25400" tIns="25400" bIns="25400">
            <a:spAutoFit/>
          </a:bodyPr>
          <a:lstStyle/>
          <a:p>
            <a:pPr algn="l"/>
            <a:r>
              <a:rPr sz="1400" b="0" i="0">
                <a:solidFill>
                  <a:srgbClr val="4A4A4A"/>
                </a:solidFill>
                <a:latin typeface="Calibri"/>
              </a:rPr>
              <a:t>Precision = 0.555</a:t>
            </a:r>
          </a:p>
        </p:txBody>
      </p:sp>
      <p:sp>
        <p:nvSpPr>
          <p:cNvPr id="21" name="TextBox 20"/>
          <p:cNvSpPr txBox="1"/>
          <p:nvPr/>
        </p:nvSpPr>
        <p:spPr>
          <a:xfrm>
            <a:off x="6629400" y="4160520"/>
            <a:ext cx="5029200" cy="457200"/>
          </a:xfrm>
          <a:prstGeom prst="rect">
            <a:avLst/>
          </a:prstGeom>
          <a:noFill/>
        </p:spPr>
        <p:txBody>
          <a:bodyPr wrap="square" lIns="25400" rIns="25400" tIns="25400" bIns="25400">
            <a:spAutoFit/>
          </a:bodyPr>
          <a:lstStyle/>
          <a:p>
            <a:pPr algn="l"/>
            <a:r>
              <a:rPr sz="1400" b="0" i="0">
                <a:solidFill>
                  <a:srgbClr val="4A4A4A"/>
                </a:solidFill>
                <a:latin typeface="Calibri"/>
              </a:rPr>
              <a:t>Recall    = 0.670</a:t>
            </a:r>
          </a:p>
        </p:txBody>
      </p:sp>
      <p:sp>
        <p:nvSpPr>
          <p:cNvPr id="22" name="TextBox 21"/>
          <p:cNvSpPr txBox="1"/>
          <p:nvPr/>
        </p:nvSpPr>
        <p:spPr>
          <a:xfrm>
            <a:off x="6629400" y="4617720"/>
            <a:ext cx="5029200" cy="457200"/>
          </a:xfrm>
          <a:prstGeom prst="rect">
            <a:avLst/>
          </a:prstGeom>
          <a:noFill/>
        </p:spPr>
        <p:txBody>
          <a:bodyPr wrap="square" lIns="25400" rIns="25400" tIns="25400" bIns="25400">
            <a:spAutoFit/>
          </a:bodyPr>
          <a:lstStyle/>
          <a:p>
            <a:pPr algn="l"/>
            <a:r>
              <a:rPr sz="1400" b="1" i="0">
                <a:solidFill>
                  <a:srgbClr val="1E2761"/>
                </a:solidFill>
                <a:latin typeface="Calibri"/>
              </a:rPr>
              <a:t>ROC-AUC   = 0.851</a:t>
            </a:r>
          </a:p>
        </p:txBody>
      </p:sp>
      <p:sp>
        <p:nvSpPr>
          <p:cNvPr id="23" name="TextBox 22"/>
          <p:cNvSpPr txBox="1"/>
          <p:nvPr/>
        </p:nvSpPr>
        <p:spPr>
          <a:xfrm>
            <a:off x="548640" y="5852160"/>
            <a:ext cx="10972800" cy="365760"/>
          </a:xfrm>
          <a:prstGeom prst="rect">
            <a:avLst/>
          </a:prstGeom>
          <a:noFill/>
        </p:spPr>
        <p:txBody>
          <a:bodyPr wrap="square" lIns="25400" rIns="25400" tIns="25400" bIns="25400">
            <a:spAutoFit/>
          </a:bodyPr>
          <a:lstStyle/>
          <a:p>
            <a:pPr algn="l"/>
            <a:r>
              <a:rPr sz="1200" b="0" i="1">
                <a:solidFill>
                  <a:srgbClr val="4A4A4A"/>
                </a:solidFill>
                <a:latin typeface="Calibri"/>
              </a:rPr>
              <a:t>Both baselines hover around 0.6 F1. They capture surface signal but cannot see the call graph.</a:t>
            </a:r>
          </a:p>
        </p:txBody>
      </p:sp>
      <p:sp>
        <p:nvSpPr>
          <p:cNvPr id="24" name="TextBox 23"/>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25" name="TextBox 24"/>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Stage 2: fine-tune RoBERTa on CVE descriptions</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roberta-base, 3 epochs, 1,500 steps, around 95 seconds on A100.</a:t>
            </a:r>
          </a:p>
        </p:txBody>
      </p:sp>
      <p:sp>
        <p:nvSpPr>
          <p:cNvPr id="5" name="TextBox 4"/>
          <p:cNvSpPr txBox="1"/>
          <p:nvPr/>
        </p:nvSpPr>
        <p:spPr>
          <a:xfrm>
            <a:off x="548640" y="1554480"/>
            <a:ext cx="5943600" cy="3657600"/>
          </a:xfrm>
          <a:prstGeom prst="rect">
            <a:avLst/>
          </a:prstGeom>
          <a:noFill/>
        </p:spPr>
        <p:txBody>
          <a:bodyPr wrap="square" lIns="25400" rIns="25400">
            <a:spAutoFit/>
          </a:bodyPr>
          <a:lstStyle/>
          <a:p>
            <a:pPr algn="l">
              <a:spcAft>
                <a:spcPts val="600"/>
              </a:spcAft>
            </a:pPr>
            <a:r>
              <a:rPr sz="1400">
                <a:solidFill>
                  <a:srgbClr val="4A4A4A"/>
                </a:solidFill>
                <a:latin typeface="Calibri"/>
              </a:rPr>
              <a:t>•  Architecture: roberta-base (110M parameters, 768-d hidden) plus sequence-classification head, 2 labels.</a:t>
            </a:r>
          </a:p>
          <a:p>
            <a:pPr algn="l">
              <a:spcAft>
                <a:spcPts val="600"/>
              </a:spcAft>
            </a:pPr>
            <a:r>
              <a:rPr sz="1400">
                <a:solidFill>
                  <a:srgbClr val="4A4A4A"/>
                </a:solidFill>
                <a:latin typeface="Calibri"/>
              </a:rPr>
              <a:t>•  Hyperparameters: batch=16, lr=2e-5, weight-decay=0.01, warmup-ratio=0.1, fp16=True on CUDA.</a:t>
            </a:r>
          </a:p>
          <a:p>
            <a:pPr algn="l">
              <a:spcAft>
                <a:spcPts val="600"/>
              </a:spcAft>
            </a:pPr>
            <a:r>
              <a:rPr sz="1400">
                <a:solidFill>
                  <a:srgbClr val="4A4A4A"/>
                </a:solidFill>
                <a:latin typeface="Calibri"/>
              </a:rPr>
              <a:t>•  load_best_model_at_end=True, metric_for_best_model='f1'.</a:t>
            </a:r>
          </a:p>
          <a:p>
            <a:pPr algn="l">
              <a:spcAft>
                <a:spcPts val="600"/>
              </a:spcAft>
            </a:pPr>
            <a:r>
              <a:rPr sz="1400">
                <a:solidFill>
                  <a:srgbClr val="4A4A4A"/>
                </a:solidFill>
                <a:latin typeface="Calibri"/>
              </a:rPr>
              <a:t>•  Validation F1 climbs 0.497, 0.515, 0.583 across 3 epochs.</a:t>
            </a:r>
          </a:p>
          <a:p>
            <a:pPr algn="l">
              <a:spcAft>
                <a:spcPts val="600"/>
              </a:spcAft>
            </a:pPr>
            <a:r>
              <a:rPr sz="1400">
                <a:solidFill>
                  <a:srgbClr val="4A4A4A"/>
                </a:solidFill>
                <a:latin typeface="Calibri"/>
              </a:rPr>
              <a:t>•  Training loss 0.43 to 0.30. Model still improving at epoch 3.</a:t>
            </a:r>
          </a:p>
          <a:p>
            <a:pPr algn="l">
              <a:spcAft>
                <a:spcPts val="600"/>
              </a:spcAft>
            </a:pPr>
            <a:r>
              <a:rPr sz="1400">
                <a:solidFill>
                  <a:srgbClr val="4A4A4A"/>
                </a:solidFill>
                <a:latin typeface="Calibri"/>
              </a:rPr>
              <a:t>•  Extract 768-d [CLS] embedding post-train for Stage-4 fusion.</a:t>
            </a:r>
          </a:p>
        </p:txBody>
      </p:sp>
      <p:graphicFrame>
        <p:nvGraphicFramePr>
          <p:cNvPr id="6" name="Table 5"/>
          <p:cNvGraphicFramePr>
            <a:graphicFrameLocks noGrp="1"/>
          </p:cNvGraphicFramePr>
          <p:nvPr/>
        </p:nvGraphicFramePr>
        <p:xfrm>
          <a:off x="6675120" y="1554480"/>
          <a:ext cx="5212080" cy="1828800"/>
        </p:xfrm>
        <a:graphic>
          <a:graphicData uri="http://schemas.openxmlformats.org/drawingml/2006/table">
            <a:tbl>
              <a:tblPr firstRow="1" bandRow="1">
                <a:tableStyleId>{5C22544A-7EE6-4342-B048-85BDC9FD1C3A}</a:tableStyleId>
              </a:tblPr>
              <a:tblGrid>
                <a:gridCol w="1303020"/>
                <a:gridCol w="1303020"/>
                <a:gridCol w="1303020"/>
                <a:gridCol w="1303020"/>
              </a:tblGrid>
              <a:tr h="457200">
                <a:tc>
                  <a:txBody>
                    <a:bodyPr/>
                    <a:lstStyle/>
                    <a:p>
                      <a:pPr algn="l"/>
                      <a:r>
                        <a:rPr sz="1300" b="1">
                          <a:solidFill>
                            <a:srgbClr val="FFFFFF"/>
                          </a:solidFill>
                          <a:latin typeface="Calibri"/>
                        </a:rPr>
                        <a:t>Epoch</a:t>
                      </a:r>
                    </a:p>
                  </a:txBody>
                  <a:tcPr marL="101600" marR="101600" marT="50800" marB="50800">
                    <a:solidFill>
                      <a:srgbClr val="1E2761"/>
                    </a:solidFill>
                  </a:tcPr>
                </a:tc>
                <a:tc>
                  <a:txBody>
                    <a:bodyPr/>
                    <a:lstStyle/>
                    <a:p>
                      <a:pPr algn="ctr"/>
                      <a:r>
                        <a:rPr sz="1300" b="1">
                          <a:solidFill>
                            <a:srgbClr val="FFFFFF"/>
                          </a:solidFill>
                          <a:latin typeface="Calibri"/>
                        </a:rPr>
                        <a:t>Train loss</a:t>
                      </a:r>
                    </a:p>
                  </a:txBody>
                  <a:tcPr marL="101600" marR="101600" marT="50800" marB="50800">
                    <a:solidFill>
                      <a:srgbClr val="1E2761"/>
                    </a:solidFill>
                  </a:tcPr>
                </a:tc>
                <a:tc>
                  <a:txBody>
                    <a:bodyPr/>
                    <a:lstStyle/>
                    <a:p>
                      <a:pPr algn="ctr"/>
                      <a:r>
                        <a:rPr sz="1300" b="1">
                          <a:solidFill>
                            <a:srgbClr val="FFFFFF"/>
                          </a:solidFill>
                          <a:latin typeface="Calibri"/>
                        </a:rPr>
                        <a:t>Val F1</a:t>
                      </a:r>
                    </a:p>
                  </a:txBody>
                  <a:tcPr marL="101600" marR="101600" marT="50800" marB="50800">
                    <a:solidFill>
                      <a:srgbClr val="1E2761"/>
                    </a:solidFill>
                  </a:tcPr>
                </a:tc>
                <a:tc>
                  <a:txBody>
                    <a:bodyPr/>
                    <a:lstStyle/>
                    <a:p>
                      <a:pPr algn="ctr"/>
                      <a:r>
                        <a:rPr sz="1300" b="1">
                          <a:solidFill>
                            <a:srgbClr val="FFFFFF"/>
                          </a:solidFill>
                          <a:latin typeface="Calibri"/>
                        </a:rPr>
                        <a:t>Val AUC</a:t>
                      </a:r>
                    </a:p>
                  </a:txBody>
                  <a:tcPr marL="101600" marR="101600" marT="50800" marB="50800">
                    <a:solidFill>
                      <a:srgbClr val="1E2761"/>
                    </a:solidFill>
                  </a:tcPr>
                </a:tc>
              </a:tr>
              <a:tr h="457200">
                <a:tc>
                  <a:txBody>
                    <a:bodyPr/>
                    <a:lstStyle/>
                    <a:p>
                      <a:pPr algn="l"/>
                      <a:r>
                        <a:rPr sz="1300">
                          <a:solidFill>
                            <a:srgbClr val="4A4A4A"/>
                          </a:solidFill>
                          <a:latin typeface="Calibri"/>
                        </a:rPr>
                        <a:t>1</a:t>
                      </a:r>
                    </a:p>
                  </a:txBody>
                  <a:tcPr marL="101600" marR="101600" marT="50800" marB="50800">
                    <a:solidFill>
                      <a:srgbClr val="FFFFFF"/>
                    </a:solidFill>
                  </a:tcPr>
                </a:tc>
                <a:tc>
                  <a:txBody>
                    <a:bodyPr/>
                    <a:lstStyle/>
                    <a:p>
                      <a:pPr algn="ctr"/>
                      <a:r>
                        <a:rPr sz="1300">
                          <a:solidFill>
                            <a:srgbClr val="4A4A4A"/>
                          </a:solidFill>
                          <a:latin typeface="Calibri"/>
                        </a:rPr>
                        <a:t>0.435</a:t>
                      </a:r>
                    </a:p>
                  </a:txBody>
                  <a:tcPr marL="101600" marR="101600" marT="50800" marB="50800">
                    <a:solidFill>
                      <a:srgbClr val="FFFFFF"/>
                    </a:solidFill>
                  </a:tcPr>
                </a:tc>
                <a:tc>
                  <a:txBody>
                    <a:bodyPr/>
                    <a:lstStyle/>
                    <a:p>
                      <a:pPr algn="ctr"/>
                      <a:r>
                        <a:rPr sz="1300">
                          <a:solidFill>
                            <a:srgbClr val="4A4A4A"/>
                          </a:solidFill>
                          <a:latin typeface="Calibri"/>
                        </a:rPr>
                        <a:t>0.497</a:t>
                      </a:r>
                    </a:p>
                  </a:txBody>
                  <a:tcPr marL="101600" marR="101600" marT="50800" marB="50800">
                    <a:solidFill>
                      <a:srgbClr val="FFFFFF"/>
                    </a:solidFill>
                  </a:tcPr>
                </a:tc>
                <a:tc>
                  <a:txBody>
                    <a:bodyPr/>
                    <a:lstStyle/>
                    <a:p>
                      <a:pPr algn="ctr"/>
                      <a:r>
                        <a:rPr sz="1300">
                          <a:solidFill>
                            <a:srgbClr val="4A4A4A"/>
                          </a:solidFill>
                          <a:latin typeface="Calibri"/>
                        </a:rPr>
                        <a:t>0.794</a:t>
                      </a:r>
                    </a:p>
                  </a:txBody>
                  <a:tcPr marL="101600" marR="101600" marT="50800" marB="50800">
                    <a:solidFill>
                      <a:srgbClr val="FFFFFF"/>
                    </a:solidFill>
                  </a:tcPr>
                </a:tc>
              </a:tr>
              <a:tr h="457200">
                <a:tc>
                  <a:txBody>
                    <a:bodyPr/>
                    <a:lstStyle/>
                    <a:p>
                      <a:pPr algn="l"/>
                      <a:r>
                        <a:rPr sz="1300">
                          <a:solidFill>
                            <a:srgbClr val="4A4A4A"/>
                          </a:solidFill>
                          <a:latin typeface="Calibri"/>
                        </a:rPr>
                        <a:t>2</a:t>
                      </a:r>
                    </a:p>
                  </a:txBody>
                  <a:tcPr marL="101600" marR="101600" marT="50800" marB="50800">
                    <a:solidFill>
                      <a:srgbClr val="EAEAEA"/>
                    </a:solidFill>
                  </a:tcPr>
                </a:tc>
                <a:tc>
                  <a:txBody>
                    <a:bodyPr/>
                    <a:lstStyle/>
                    <a:p>
                      <a:pPr algn="ctr"/>
                      <a:r>
                        <a:rPr sz="1300">
                          <a:solidFill>
                            <a:srgbClr val="4A4A4A"/>
                          </a:solidFill>
                          <a:latin typeface="Calibri"/>
                        </a:rPr>
                        <a:t>0.331</a:t>
                      </a:r>
                    </a:p>
                  </a:txBody>
                  <a:tcPr marL="101600" marR="101600" marT="50800" marB="50800">
                    <a:solidFill>
                      <a:srgbClr val="EAEAEA"/>
                    </a:solidFill>
                  </a:tcPr>
                </a:tc>
                <a:tc>
                  <a:txBody>
                    <a:bodyPr/>
                    <a:lstStyle/>
                    <a:p>
                      <a:pPr algn="ctr"/>
                      <a:r>
                        <a:rPr sz="1300">
                          <a:solidFill>
                            <a:srgbClr val="4A4A4A"/>
                          </a:solidFill>
                          <a:latin typeface="Calibri"/>
                        </a:rPr>
                        <a:t>0.515</a:t>
                      </a:r>
                    </a:p>
                  </a:txBody>
                  <a:tcPr marL="101600" marR="101600" marT="50800" marB="50800">
                    <a:solidFill>
                      <a:srgbClr val="EAEAEA"/>
                    </a:solidFill>
                  </a:tcPr>
                </a:tc>
                <a:tc>
                  <a:txBody>
                    <a:bodyPr/>
                    <a:lstStyle/>
                    <a:p>
                      <a:pPr algn="ctr"/>
                      <a:r>
                        <a:rPr sz="1300">
                          <a:solidFill>
                            <a:srgbClr val="4A4A4A"/>
                          </a:solidFill>
                          <a:latin typeface="Calibri"/>
                        </a:rPr>
                        <a:t>0.830</a:t>
                      </a:r>
                    </a:p>
                  </a:txBody>
                  <a:tcPr marL="101600" marR="101600" marT="50800" marB="50800">
                    <a:solidFill>
                      <a:srgbClr val="EAEAEA"/>
                    </a:solidFill>
                  </a:tcPr>
                </a:tc>
              </a:tr>
              <a:tr h="457200">
                <a:tc>
                  <a:txBody>
                    <a:bodyPr/>
                    <a:lstStyle/>
                    <a:p>
                      <a:pPr algn="l"/>
                      <a:r>
                        <a:rPr sz="1300">
                          <a:solidFill>
                            <a:srgbClr val="4A4A4A"/>
                          </a:solidFill>
                          <a:latin typeface="Calibri"/>
                        </a:rPr>
                        <a:t>3</a:t>
                      </a:r>
                    </a:p>
                  </a:txBody>
                  <a:tcPr marL="101600" marR="101600" marT="50800" marB="50800">
                    <a:solidFill>
                      <a:srgbClr val="FFFFFF"/>
                    </a:solidFill>
                  </a:tcPr>
                </a:tc>
                <a:tc>
                  <a:txBody>
                    <a:bodyPr/>
                    <a:lstStyle/>
                    <a:p>
                      <a:pPr algn="ctr"/>
                      <a:r>
                        <a:rPr sz="1300">
                          <a:solidFill>
                            <a:srgbClr val="4A4A4A"/>
                          </a:solidFill>
                          <a:latin typeface="Calibri"/>
                        </a:rPr>
                        <a:t>0.300</a:t>
                      </a:r>
                    </a:p>
                  </a:txBody>
                  <a:tcPr marL="101600" marR="101600" marT="50800" marB="50800">
                    <a:solidFill>
                      <a:srgbClr val="FFFFFF"/>
                    </a:solidFill>
                  </a:tcPr>
                </a:tc>
                <a:tc>
                  <a:txBody>
                    <a:bodyPr/>
                    <a:lstStyle/>
                    <a:p>
                      <a:pPr algn="ctr"/>
                      <a:r>
                        <a:rPr sz="1300">
                          <a:solidFill>
                            <a:srgbClr val="4A4A4A"/>
                          </a:solidFill>
                          <a:latin typeface="Calibri"/>
                        </a:rPr>
                        <a:t>0.583</a:t>
                      </a:r>
                    </a:p>
                  </a:txBody>
                  <a:tcPr marL="101600" marR="101600" marT="50800" marB="50800">
                    <a:solidFill>
                      <a:srgbClr val="FFFFFF"/>
                    </a:solidFill>
                  </a:tcPr>
                </a:tc>
                <a:tc>
                  <a:txBody>
                    <a:bodyPr/>
                    <a:lstStyle/>
                    <a:p>
                      <a:pPr algn="ctr"/>
                      <a:r>
                        <a:rPr sz="1300">
                          <a:solidFill>
                            <a:srgbClr val="4A4A4A"/>
                          </a:solidFill>
                          <a:latin typeface="Calibri"/>
                        </a:rPr>
                        <a:t>0.839</a:t>
                      </a:r>
                    </a:p>
                  </a:txBody>
                  <a:tcPr marL="101600" marR="101600" marT="50800" marB="50800">
                    <a:solidFill>
                      <a:srgbClr val="FFFFFF"/>
                    </a:solidFill>
                  </a:tcPr>
                </a:tc>
              </a:tr>
            </a:tbl>
          </a:graphicData>
        </a:graphic>
      </p:graphicFrame>
      <p:sp>
        <p:nvSpPr>
          <p:cNvPr id="7" name="Rounded Rectangle 6"/>
          <p:cNvSpPr/>
          <p:nvPr/>
        </p:nvSpPr>
        <p:spPr>
          <a:xfrm>
            <a:off x="6675120" y="3657600"/>
            <a:ext cx="5212080" cy="182880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03720" y="3840480"/>
            <a:ext cx="4846320" cy="365760"/>
          </a:xfrm>
          <a:prstGeom prst="rect">
            <a:avLst/>
          </a:prstGeom>
          <a:noFill/>
        </p:spPr>
        <p:txBody>
          <a:bodyPr wrap="square" lIns="25400" rIns="25400" tIns="25400" bIns="25400">
            <a:spAutoFit/>
          </a:bodyPr>
          <a:lstStyle/>
          <a:p>
            <a:pPr algn="l"/>
            <a:r>
              <a:rPr sz="1500" b="1" i="0">
                <a:solidFill>
                  <a:srgbClr val="1E2761"/>
                </a:solidFill>
                <a:latin typeface="Calibri"/>
              </a:rPr>
              <a:t>Test-set verdict</a:t>
            </a:r>
          </a:p>
        </p:txBody>
      </p:sp>
      <p:sp>
        <p:nvSpPr>
          <p:cNvPr id="9" name="TextBox 8"/>
          <p:cNvSpPr txBox="1"/>
          <p:nvPr/>
        </p:nvSpPr>
        <p:spPr>
          <a:xfrm>
            <a:off x="6903720" y="4206240"/>
            <a:ext cx="4846320" cy="365760"/>
          </a:xfrm>
          <a:prstGeom prst="rect">
            <a:avLst/>
          </a:prstGeom>
          <a:noFill/>
        </p:spPr>
        <p:txBody>
          <a:bodyPr wrap="square" lIns="25400" rIns="25400" tIns="25400" bIns="25400">
            <a:spAutoFit/>
          </a:bodyPr>
          <a:lstStyle/>
          <a:p>
            <a:pPr algn="l"/>
            <a:r>
              <a:rPr sz="1300" b="0" i="0">
                <a:solidFill>
                  <a:srgbClr val="4A4A4A"/>
                </a:solidFill>
                <a:latin typeface="Calibri"/>
              </a:rPr>
              <a:t>F1 = 0.593, Precision = 0.578</a:t>
            </a:r>
          </a:p>
        </p:txBody>
      </p:sp>
      <p:sp>
        <p:nvSpPr>
          <p:cNvPr id="10" name="TextBox 9"/>
          <p:cNvSpPr txBox="1"/>
          <p:nvPr/>
        </p:nvSpPr>
        <p:spPr>
          <a:xfrm>
            <a:off x="6903720" y="4526280"/>
            <a:ext cx="4846320" cy="365760"/>
          </a:xfrm>
          <a:prstGeom prst="rect">
            <a:avLst/>
          </a:prstGeom>
          <a:noFill/>
        </p:spPr>
        <p:txBody>
          <a:bodyPr wrap="square" lIns="25400" rIns="25400" tIns="25400" bIns="25400">
            <a:spAutoFit/>
          </a:bodyPr>
          <a:lstStyle/>
          <a:p>
            <a:pPr algn="l"/>
            <a:r>
              <a:rPr sz="1300" b="0" i="0">
                <a:solidFill>
                  <a:srgbClr val="4A4A4A"/>
                </a:solidFill>
                <a:latin typeface="Calibri"/>
              </a:rPr>
              <a:t>Recall = 0.608, AUC = 0.828</a:t>
            </a:r>
          </a:p>
        </p:txBody>
      </p:sp>
      <p:sp>
        <p:nvSpPr>
          <p:cNvPr id="11" name="TextBox 10"/>
          <p:cNvSpPr txBox="1"/>
          <p:nvPr/>
        </p:nvSpPr>
        <p:spPr>
          <a:xfrm>
            <a:off x="6903720" y="4937760"/>
            <a:ext cx="4846320" cy="457200"/>
          </a:xfrm>
          <a:prstGeom prst="rect">
            <a:avLst/>
          </a:prstGeom>
          <a:noFill/>
        </p:spPr>
        <p:txBody>
          <a:bodyPr wrap="square" lIns="25400" rIns="25400" tIns="25400" bIns="25400">
            <a:spAutoFit/>
          </a:bodyPr>
          <a:lstStyle/>
          <a:p>
            <a:pPr algn="l"/>
            <a:r>
              <a:rPr sz="1100" b="0" i="1">
                <a:solidFill>
                  <a:srgbClr val="B85042"/>
                </a:solidFill>
                <a:latin typeface="Calibri"/>
              </a:rPr>
              <a:t>AUC overtakes the EPSS rule. F1 is stuck
in the noisy middle band.</a:t>
            </a:r>
          </a:p>
        </p:txBody>
      </p:sp>
      <p:sp>
        <p:nvSpPr>
          <p:cNvPr id="12" name="TextBox 11"/>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13" name="TextBox 12"/>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Stage 3: the core innovation, reachability</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Static call graph, Flan-T5 reasoner, and a CodeBERT/FAISS fallback.</a:t>
            </a:r>
          </a:p>
        </p:txBody>
      </p:sp>
      <p:sp>
        <p:nvSpPr>
          <p:cNvPr id="5" name="Rounded Rectangle 4"/>
          <p:cNvSpPr/>
          <p:nvPr/>
        </p:nvSpPr>
        <p:spPr>
          <a:xfrm>
            <a:off x="457200" y="1508760"/>
            <a:ext cx="3749039" cy="393192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645920"/>
            <a:ext cx="3474720" cy="365760"/>
          </a:xfrm>
          <a:prstGeom prst="rect">
            <a:avLst/>
          </a:prstGeom>
          <a:noFill/>
        </p:spPr>
        <p:txBody>
          <a:bodyPr wrap="square" lIns="25400" rIns="25400" tIns="25400" bIns="25400">
            <a:spAutoFit/>
          </a:bodyPr>
          <a:lstStyle/>
          <a:p>
            <a:pPr algn="l"/>
            <a:r>
              <a:rPr sz="1500" b="1" i="0">
                <a:solidFill>
                  <a:srgbClr val="1E2761"/>
                </a:solidFill>
                <a:latin typeface="Calibri"/>
              </a:rPr>
              <a:t>Static layer</a:t>
            </a:r>
          </a:p>
        </p:txBody>
      </p:sp>
      <p:sp>
        <p:nvSpPr>
          <p:cNvPr id="7" name="TextBox 6"/>
          <p:cNvSpPr txBox="1"/>
          <p:nvPr/>
        </p:nvSpPr>
        <p:spPr>
          <a:xfrm>
            <a:off x="594360" y="2011680"/>
            <a:ext cx="3474720" cy="320040"/>
          </a:xfrm>
          <a:prstGeom prst="rect">
            <a:avLst/>
          </a:prstGeom>
          <a:noFill/>
        </p:spPr>
        <p:txBody>
          <a:bodyPr wrap="square" lIns="25400" rIns="25400" tIns="25400" bIns="25400">
            <a:spAutoFit/>
          </a:bodyPr>
          <a:lstStyle/>
          <a:p>
            <a:pPr algn="l"/>
            <a:r>
              <a:rPr sz="1000" b="0" i="1">
                <a:solidFill>
                  <a:srgbClr val="B85042"/>
                </a:solidFill>
                <a:latin typeface="Consolas"/>
              </a:rPr>
              <a:t>NetworkX + AST</a:t>
            </a:r>
          </a:p>
        </p:txBody>
      </p:sp>
      <p:sp>
        <p:nvSpPr>
          <p:cNvPr id="8" name="TextBox 7"/>
          <p:cNvSpPr txBox="1"/>
          <p:nvPr/>
        </p:nvSpPr>
        <p:spPr>
          <a:xfrm>
            <a:off x="594360" y="2423160"/>
            <a:ext cx="3474720" cy="2926080"/>
          </a:xfrm>
          <a:prstGeom prst="rect">
            <a:avLst/>
          </a:prstGeom>
          <a:noFill/>
        </p:spPr>
        <p:txBody>
          <a:bodyPr wrap="square" lIns="25400" rIns="25400">
            <a:spAutoFit/>
          </a:bodyPr>
          <a:lstStyle/>
          <a:p>
            <a:pPr algn="l">
              <a:spcAft>
                <a:spcPts val="600"/>
              </a:spcAft>
            </a:pPr>
            <a:r>
              <a:rPr sz="1100">
                <a:solidFill>
                  <a:srgbClr val="4A4A4A"/>
                </a:solidFill>
                <a:latin typeface="Calibri"/>
              </a:rPr>
              <a:t>•  Python: ast.NodeVisitor resolves import aliases.</a:t>
            </a:r>
          </a:p>
          <a:p>
            <a:pPr algn="l">
              <a:spcAft>
                <a:spcPts val="600"/>
              </a:spcAft>
            </a:pPr>
            <a:r>
              <a:rPr sz="1100">
                <a:solidFill>
                  <a:srgbClr val="4A4A4A"/>
                </a:solidFill>
                <a:latin typeface="Calibri"/>
              </a:rPr>
              <a:t>•  JavaScript: regex over require/import, comments stripped first.</a:t>
            </a:r>
          </a:p>
          <a:p>
            <a:pPr algn="l">
              <a:spcAft>
                <a:spcPts val="600"/>
              </a:spcAft>
            </a:pPr>
            <a:r>
              <a:rPr sz="1100">
                <a:solidFill>
                  <a:srgbClr val="4A4A4A"/>
                </a:solidFill>
                <a:latin typeface="Calibri"/>
              </a:rPr>
              <a:t>•  Forward search from entry-points to vulnerable symbol.</a:t>
            </a:r>
          </a:p>
          <a:p>
            <a:pPr algn="l">
              <a:spcAft>
                <a:spcPts val="600"/>
              </a:spcAft>
            </a:pPr>
            <a:r>
              <a:rPr sz="1100">
                <a:solidFill>
                  <a:srgbClr val="4A4A4A"/>
                </a:solidFill>
                <a:latin typeface="Calibri"/>
              </a:rPr>
              <a:t>•  Up to 5 paths, max length 12.</a:t>
            </a:r>
          </a:p>
        </p:txBody>
      </p:sp>
      <p:sp>
        <p:nvSpPr>
          <p:cNvPr id="9" name="Rounded Rectangle 8"/>
          <p:cNvSpPr/>
          <p:nvPr/>
        </p:nvSpPr>
        <p:spPr>
          <a:xfrm>
            <a:off x="4389120" y="1508760"/>
            <a:ext cx="3749039" cy="393192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645920"/>
            <a:ext cx="3474720" cy="365760"/>
          </a:xfrm>
          <a:prstGeom prst="rect">
            <a:avLst/>
          </a:prstGeom>
          <a:noFill/>
        </p:spPr>
        <p:txBody>
          <a:bodyPr wrap="square" lIns="25400" rIns="25400" tIns="25400" bIns="25400">
            <a:spAutoFit/>
          </a:bodyPr>
          <a:lstStyle/>
          <a:p>
            <a:pPr algn="l"/>
            <a:r>
              <a:rPr sz="1500" b="1" i="0">
                <a:solidFill>
                  <a:srgbClr val="1E2761"/>
                </a:solidFill>
                <a:latin typeface="Calibri"/>
              </a:rPr>
              <a:t>Semantic layer</a:t>
            </a:r>
          </a:p>
        </p:txBody>
      </p:sp>
      <p:sp>
        <p:nvSpPr>
          <p:cNvPr id="11" name="TextBox 10"/>
          <p:cNvSpPr txBox="1"/>
          <p:nvPr/>
        </p:nvSpPr>
        <p:spPr>
          <a:xfrm>
            <a:off x="4526280" y="2011680"/>
            <a:ext cx="3474720" cy="320040"/>
          </a:xfrm>
          <a:prstGeom prst="rect">
            <a:avLst/>
          </a:prstGeom>
          <a:noFill/>
        </p:spPr>
        <p:txBody>
          <a:bodyPr wrap="square" lIns="25400" rIns="25400" tIns="25400" bIns="25400">
            <a:spAutoFit/>
          </a:bodyPr>
          <a:lstStyle/>
          <a:p>
            <a:pPr algn="l"/>
            <a:r>
              <a:rPr sz="1000" b="0" i="1">
                <a:solidFill>
                  <a:srgbClr val="B85042"/>
                </a:solidFill>
                <a:latin typeface="Consolas"/>
              </a:rPr>
              <a:t>google/flan-t5-large</a:t>
            </a:r>
          </a:p>
        </p:txBody>
      </p:sp>
      <p:sp>
        <p:nvSpPr>
          <p:cNvPr id="12" name="TextBox 11"/>
          <p:cNvSpPr txBox="1"/>
          <p:nvPr/>
        </p:nvSpPr>
        <p:spPr>
          <a:xfrm>
            <a:off x="4526280" y="2423160"/>
            <a:ext cx="3474720" cy="2926080"/>
          </a:xfrm>
          <a:prstGeom prst="rect">
            <a:avLst/>
          </a:prstGeom>
          <a:noFill/>
        </p:spPr>
        <p:txBody>
          <a:bodyPr wrap="square" lIns="25400" rIns="25400">
            <a:spAutoFit/>
          </a:bodyPr>
          <a:lstStyle/>
          <a:p>
            <a:pPr algn="l">
              <a:spcAft>
                <a:spcPts val="600"/>
              </a:spcAft>
            </a:pPr>
            <a:r>
              <a:rPr sz="1100">
                <a:solidFill>
                  <a:srgbClr val="4A4A4A"/>
                </a:solidFill>
                <a:latin typeface="Calibri"/>
              </a:rPr>
              <a:t>•  Prompt: CVE + symbol + static verdict + path code.</a:t>
            </a:r>
          </a:p>
          <a:p>
            <a:pPr algn="l">
              <a:spcAft>
                <a:spcPts val="600"/>
              </a:spcAft>
            </a:pPr>
            <a:r>
              <a:rPr sz="1100">
                <a:solidFill>
                  <a:srgbClr val="4A4A4A"/>
                </a:solidFill>
                <a:latin typeface="Calibri"/>
              </a:rPr>
              <a:t>•  Outputs YES or NO plus a one-sentence rationale.</a:t>
            </a:r>
          </a:p>
          <a:p>
            <a:pPr algn="l">
              <a:spcAft>
                <a:spcPts val="600"/>
              </a:spcAft>
            </a:pPr>
            <a:r>
              <a:rPr sz="1100">
                <a:solidFill>
                  <a:srgbClr val="4A4A4A"/>
                </a:solidFill>
                <a:latin typeface="Calibri"/>
              </a:rPr>
              <a:t>•  Calibrates confidence by static / LLM agreement.</a:t>
            </a:r>
          </a:p>
          <a:p>
            <a:pPr algn="l">
              <a:spcAft>
                <a:spcPts val="600"/>
              </a:spcAft>
            </a:pPr>
            <a:r>
              <a:rPr sz="1100">
                <a:solidFill>
                  <a:srgbClr val="4A4A4A"/>
                </a:solidFill>
                <a:latin typeface="Calibri"/>
              </a:rPr>
              <a:t>•  Rule-based fallback if transformers is unavailable.</a:t>
            </a:r>
          </a:p>
        </p:txBody>
      </p:sp>
      <p:sp>
        <p:nvSpPr>
          <p:cNvPr id="13" name="Rounded Rectangle 12"/>
          <p:cNvSpPr/>
          <p:nvPr/>
        </p:nvSpPr>
        <p:spPr>
          <a:xfrm>
            <a:off x="8321040" y="1508760"/>
            <a:ext cx="3749039" cy="393192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645920"/>
            <a:ext cx="3474720" cy="365760"/>
          </a:xfrm>
          <a:prstGeom prst="rect">
            <a:avLst/>
          </a:prstGeom>
          <a:noFill/>
        </p:spPr>
        <p:txBody>
          <a:bodyPr wrap="square" lIns="25400" rIns="25400" tIns="25400" bIns="25400">
            <a:spAutoFit/>
          </a:bodyPr>
          <a:lstStyle/>
          <a:p>
            <a:pPr algn="l"/>
            <a:r>
              <a:rPr sz="1500" b="1" i="0">
                <a:solidFill>
                  <a:srgbClr val="1E2761"/>
                </a:solidFill>
                <a:latin typeface="Calibri"/>
              </a:rPr>
              <a:t>Scale layer</a:t>
            </a:r>
          </a:p>
        </p:txBody>
      </p:sp>
      <p:sp>
        <p:nvSpPr>
          <p:cNvPr id="15" name="TextBox 14"/>
          <p:cNvSpPr txBox="1"/>
          <p:nvPr/>
        </p:nvSpPr>
        <p:spPr>
          <a:xfrm>
            <a:off x="8458200" y="2011680"/>
            <a:ext cx="3474720" cy="320040"/>
          </a:xfrm>
          <a:prstGeom prst="rect">
            <a:avLst/>
          </a:prstGeom>
          <a:noFill/>
        </p:spPr>
        <p:txBody>
          <a:bodyPr wrap="square" lIns="25400" rIns="25400" tIns="25400" bIns="25400">
            <a:spAutoFit/>
          </a:bodyPr>
          <a:lstStyle/>
          <a:p>
            <a:pPr algn="l"/>
            <a:r>
              <a:rPr sz="1000" b="0" i="1">
                <a:solidFill>
                  <a:srgbClr val="B85042"/>
                </a:solidFill>
                <a:latin typeface="Consolas"/>
              </a:rPr>
              <a:t>CodeBERT + FAISS</a:t>
            </a:r>
          </a:p>
        </p:txBody>
      </p:sp>
      <p:sp>
        <p:nvSpPr>
          <p:cNvPr id="16" name="TextBox 15"/>
          <p:cNvSpPr txBox="1"/>
          <p:nvPr/>
        </p:nvSpPr>
        <p:spPr>
          <a:xfrm>
            <a:off x="8458200" y="2423160"/>
            <a:ext cx="3474720" cy="2926080"/>
          </a:xfrm>
          <a:prstGeom prst="rect">
            <a:avLst/>
          </a:prstGeom>
          <a:noFill/>
        </p:spPr>
        <p:txBody>
          <a:bodyPr wrap="square" lIns="25400" rIns="25400">
            <a:spAutoFit/>
          </a:bodyPr>
          <a:lstStyle/>
          <a:p>
            <a:pPr algn="l">
              <a:spcAft>
                <a:spcPts val="600"/>
              </a:spcAft>
            </a:pPr>
            <a:r>
              <a:rPr sz="1100">
                <a:solidFill>
                  <a:srgbClr val="4A4A4A"/>
                </a:solidFill>
                <a:latin typeface="Calibri"/>
              </a:rPr>
              <a:t>•  For 1M-LOC monorepos where the static graph is impractical.</a:t>
            </a:r>
          </a:p>
          <a:p>
            <a:pPr algn="l">
              <a:spcAft>
                <a:spcPts val="600"/>
              </a:spcAft>
            </a:pPr>
            <a:r>
              <a:rPr sz="1100">
                <a:solidFill>
                  <a:srgbClr val="4A4A4A"/>
                </a:solidFill>
                <a:latin typeface="Calibri"/>
              </a:rPr>
              <a:t>•  Chunk to 25-line windows, MiniLM-L6 embeddings.</a:t>
            </a:r>
          </a:p>
          <a:p>
            <a:pPr algn="l">
              <a:spcAft>
                <a:spcPts val="600"/>
              </a:spcAft>
            </a:pPr>
            <a:r>
              <a:rPr sz="1100">
                <a:solidFill>
                  <a:srgbClr val="4A4A4A"/>
                </a:solidFill>
                <a:latin typeface="Calibri"/>
              </a:rPr>
              <a:t>•  FAISS-IP index, top-k chunks fed to the reasoner.</a:t>
            </a:r>
          </a:p>
          <a:p>
            <a:pPr algn="l">
              <a:spcAft>
                <a:spcPts val="600"/>
              </a:spcAft>
            </a:pPr>
            <a:r>
              <a:rPr sz="1100">
                <a:solidFill>
                  <a:srgbClr val="4A4A4A"/>
                </a:solidFill>
                <a:latin typeface="Calibri"/>
              </a:rPr>
              <a:t>•  Retrieval validated: VULN sim 0.46, SAFE sim 0.13.</a:t>
            </a:r>
          </a:p>
        </p:txBody>
      </p:sp>
      <p:sp>
        <p:nvSpPr>
          <p:cNvPr id="17" name="TextBox 16"/>
          <p:cNvSpPr txBox="1"/>
          <p:nvPr/>
        </p:nvSpPr>
        <p:spPr>
          <a:xfrm>
            <a:off x="548640" y="5852160"/>
            <a:ext cx="10972800" cy="365760"/>
          </a:xfrm>
          <a:prstGeom prst="rect">
            <a:avLst/>
          </a:prstGeom>
          <a:noFill/>
        </p:spPr>
        <p:txBody>
          <a:bodyPr wrap="square" lIns="25400" rIns="25400" tIns="25400" bIns="25400">
            <a:spAutoFit/>
          </a:bodyPr>
          <a:lstStyle/>
          <a:p>
            <a:pPr algn="l"/>
            <a:r>
              <a:rPr sz="1200" b="0" i="1">
                <a:solidFill>
                  <a:srgbClr val="4A4A4A"/>
                </a:solidFill>
                <a:latin typeface="Calibri"/>
              </a:rPr>
              <a:t>The static layer is deterministic and reliable. The LLM is the contextualiser and the weak link (see the lodash slide).</a:t>
            </a:r>
          </a:p>
        </p:txBody>
      </p:sp>
      <p:sp>
        <p:nvSpPr>
          <p:cNvPr id="18" name="TextBox 17"/>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19" name="TextBox 18"/>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Worked example: CVE-2021-23337 (lodash)</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Two synthetic apps, both pin lodash@4.17.20.</a:t>
            </a:r>
          </a:p>
        </p:txBody>
      </p:sp>
      <p:sp>
        <p:nvSpPr>
          <p:cNvPr id="5" name="Rounded Rectangle 4"/>
          <p:cNvSpPr/>
          <p:nvPr/>
        </p:nvSpPr>
        <p:spPr>
          <a:xfrm>
            <a:off x="548640" y="1554480"/>
            <a:ext cx="5486400" cy="4114800"/>
          </a:xfrm>
          <a:prstGeom prst="roundRect">
            <a:avLst/>
          </a:prstGeom>
          <a:solidFill>
            <a:srgbClr val="ECF8EE"/>
          </a:solidFill>
          <a:ln w="9525">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91640"/>
            <a:ext cx="5029200" cy="365760"/>
          </a:xfrm>
          <a:prstGeom prst="rect">
            <a:avLst/>
          </a:prstGeom>
          <a:noFill/>
        </p:spPr>
        <p:txBody>
          <a:bodyPr wrap="square" lIns="25400" rIns="25400" tIns="25400" bIns="25400">
            <a:spAutoFit/>
          </a:bodyPr>
          <a:lstStyle/>
          <a:p>
            <a:pPr algn="l"/>
            <a:r>
              <a:rPr sz="1600" b="1" i="0">
                <a:solidFill>
                  <a:srgbClr val="2E7D32"/>
                </a:solidFill>
                <a:latin typeface="Calibri"/>
              </a:rPr>
              <a:t>SAFE app</a:t>
            </a:r>
          </a:p>
        </p:txBody>
      </p:sp>
      <p:sp>
        <p:nvSpPr>
          <p:cNvPr id="7" name="Rectangle 6"/>
          <p:cNvSpPr/>
          <p:nvPr/>
        </p:nvSpPr>
        <p:spPr>
          <a:xfrm>
            <a:off x="777240" y="2103120"/>
            <a:ext cx="5029200" cy="91440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94560"/>
            <a:ext cx="4754880" cy="731520"/>
          </a:xfrm>
          <a:prstGeom prst="rect">
            <a:avLst/>
          </a:prstGeom>
          <a:noFill/>
        </p:spPr>
        <p:txBody>
          <a:bodyPr wrap="square">
            <a:spAutoFit/>
          </a:bodyPr>
          <a:lstStyle/>
          <a:p>
            <a:pPr algn="l">
              <a:spcAft>
                <a:spcPts val="0"/>
              </a:spcAft>
            </a:pPr>
            <a:r>
              <a:rPr sz="1000">
                <a:solidFill>
                  <a:srgbClr val="FFFFFF"/>
                </a:solidFill>
                <a:latin typeface="Consolas"/>
              </a:rPr>
              <a:t>users.map(u =&gt;</a:t>
            </a:r>
          </a:p>
          <a:p>
            <a:pPr algn="l">
              <a:spcAft>
                <a:spcPts val="0"/>
              </a:spcAft>
            </a:pPr>
            <a:r>
              <a:rPr sz="1000">
                <a:solidFill>
                  <a:srgbClr val="FFFFFF"/>
                </a:solidFill>
                <a:latin typeface="Consolas"/>
              </a:rPr>
              <a:t>    _.capitalize(u.name));</a:t>
            </a:r>
          </a:p>
          <a:p>
            <a:pPr algn="l">
              <a:spcAft>
                <a:spcPts val="0"/>
              </a:spcAft>
            </a:pPr>
            <a:r>
              <a:rPr sz="1000">
                <a:solidFill>
                  <a:srgbClr val="FFFFFF"/>
                </a:solidFill>
                <a:latin typeface="Consolas"/>
              </a:rPr>
              <a:t>_.groupBy(result, 'dept');</a:t>
            </a:r>
          </a:p>
        </p:txBody>
      </p:sp>
      <p:sp>
        <p:nvSpPr>
          <p:cNvPr id="9" name="TextBox 8"/>
          <p:cNvSpPr txBox="1"/>
          <p:nvPr/>
        </p:nvSpPr>
        <p:spPr>
          <a:xfrm>
            <a:off x="777240" y="3154680"/>
            <a:ext cx="5029200" cy="274320"/>
          </a:xfrm>
          <a:prstGeom prst="rect">
            <a:avLst/>
          </a:prstGeom>
          <a:noFill/>
        </p:spPr>
        <p:txBody>
          <a:bodyPr wrap="square" lIns="25400" rIns="25400" tIns="25400" bIns="25400">
            <a:spAutoFit/>
          </a:bodyPr>
          <a:lstStyle/>
          <a:p>
            <a:pPr algn="l"/>
            <a:r>
              <a:rPr sz="1200" b="1" i="0">
                <a:solidFill>
                  <a:srgbClr val="1E2761"/>
                </a:solidFill>
                <a:latin typeface="Calibri"/>
              </a:rPr>
              <a:t>Static call graph</a:t>
            </a:r>
          </a:p>
        </p:txBody>
      </p:sp>
      <p:sp>
        <p:nvSpPr>
          <p:cNvPr id="10" name="TextBox 9"/>
          <p:cNvSpPr txBox="1"/>
          <p:nvPr/>
        </p:nvSpPr>
        <p:spPr>
          <a:xfrm>
            <a:off x="777240" y="3429000"/>
            <a:ext cx="5029200" cy="365760"/>
          </a:xfrm>
          <a:prstGeom prst="rect">
            <a:avLst/>
          </a:prstGeom>
          <a:noFill/>
        </p:spPr>
        <p:txBody>
          <a:bodyPr wrap="square" lIns="25400" rIns="25400" tIns="25400" bIns="25400">
            <a:spAutoFit/>
          </a:bodyPr>
          <a:lstStyle/>
          <a:p>
            <a:pPr algn="l"/>
            <a:r>
              <a:rPr sz="1200" b="0" i="0">
                <a:solidFill>
                  <a:srgbClr val="4A4A4A"/>
                </a:solidFill>
                <a:latin typeface="Calibri"/>
              </a:rPr>
              <a:t>17 nodes, 16 edges</a:t>
            </a:r>
          </a:p>
        </p:txBody>
      </p:sp>
      <p:sp>
        <p:nvSpPr>
          <p:cNvPr id="11" name="TextBox 10"/>
          <p:cNvSpPr txBox="1"/>
          <p:nvPr/>
        </p:nvSpPr>
        <p:spPr>
          <a:xfrm>
            <a:off x="777240" y="3749039"/>
            <a:ext cx="5029200" cy="365760"/>
          </a:xfrm>
          <a:prstGeom prst="rect">
            <a:avLst/>
          </a:prstGeom>
          <a:noFill/>
        </p:spPr>
        <p:txBody>
          <a:bodyPr wrap="square" lIns="25400" rIns="25400" tIns="25400" bIns="25400">
            <a:spAutoFit/>
          </a:bodyPr>
          <a:lstStyle/>
          <a:p>
            <a:pPr algn="l"/>
            <a:r>
              <a:rPr sz="1200" b="0" i="0">
                <a:solidFill>
                  <a:srgbClr val="4A4A4A"/>
                </a:solidFill>
                <a:latin typeface="Consolas"/>
              </a:rPr>
              <a:t>_.template NOT in graph</a:t>
            </a:r>
          </a:p>
        </p:txBody>
      </p:sp>
      <p:sp>
        <p:nvSpPr>
          <p:cNvPr id="12" name="TextBox 11"/>
          <p:cNvSpPr txBox="1"/>
          <p:nvPr/>
        </p:nvSpPr>
        <p:spPr>
          <a:xfrm>
            <a:off x="777240" y="4251960"/>
            <a:ext cx="5029200" cy="274320"/>
          </a:xfrm>
          <a:prstGeom prst="rect">
            <a:avLst/>
          </a:prstGeom>
          <a:noFill/>
        </p:spPr>
        <p:txBody>
          <a:bodyPr wrap="square" lIns="25400" rIns="25400" tIns="25400" bIns="25400">
            <a:spAutoFit/>
          </a:bodyPr>
          <a:lstStyle/>
          <a:p>
            <a:pPr algn="l"/>
            <a:r>
              <a:rPr sz="1200" b="1" i="0">
                <a:solidFill>
                  <a:srgbClr val="1E2761"/>
                </a:solidFill>
                <a:latin typeface="Calibri"/>
              </a:rPr>
              <a:t>Flan-T5 verdict</a:t>
            </a:r>
          </a:p>
        </p:txBody>
      </p:sp>
      <p:sp>
        <p:nvSpPr>
          <p:cNvPr id="13" name="TextBox 12"/>
          <p:cNvSpPr txBox="1"/>
          <p:nvPr/>
        </p:nvSpPr>
        <p:spPr>
          <a:xfrm>
            <a:off x="777240" y="4526280"/>
            <a:ext cx="5029200" cy="365760"/>
          </a:xfrm>
          <a:prstGeom prst="rect">
            <a:avLst/>
          </a:prstGeom>
          <a:noFill/>
        </p:spPr>
        <p:txBody>
          <a:bodyPr wrap="square" lIns="25400" rIns="25400" tIns="25400" bIns="25400">
            <a:spAutoFit/>
          </a:bodyPr>
          <a:lstStyle/>
          <a:p>
            <a:pPr algn="l"/>
            <a:r>
              <a:rPr sz="1400" b="1" i="0">
                <a:solidFill>
                  <a:srgbClr val="2E7D32"/>
                </a:solidFill>
                <a:latin typeface="Calibri"/>
              </a:rPr>
              <a:t>FALSE_POSITIVE  (conf 0.90)</a:t>
            </a:r>
          </a:p>
        </p:txBody>
      </p:sp>
      <p:sp>
        <p:nvSpPr>
          <p:cNvPr id="14" name="TextBox 13"/>
          <p:cNvSpPr txBox="1"/>
          <p:nvPr/>
        </p:nvSpPr>
        <p:spPr>
          <a:xfrm>
            <a:off x="777240" y="5029200"/>
            <a:ext cx="5029200" cy="365760"/>
          </a:xfrm>
          <a:prstGeom prst="rect">
            <a:avLst/>
          </a:prstGeom>
          <a:noFill/>
        </p:spPr>
        <p:txBody>
          <a:bodyPr wrap="square" lIns="25400" rIns="25400" tIns="25400" bIns="25400">
            <a:spAutoFit/>
          </a:bodyPr>
          <a:lstStyle/>
          <a:p>
            <a:pPr algn="l"/>
            <a:r>
              <a:rPr sz="1100" b="0" i="1">
                <a:solidFill>
                  <a:srgbClr val="4A4A4A"/>
                </a:solidFill>
                <a:latin typeface="Calibri"/>
              </a:rPr>
              <a:t>Correct.</a:t>
            </a:r>
          </a:p>
        </p:txBody>
      </p:sp>
      <p:sp>
        <p:nvSpPr>
          <p:cNvPr id="15" name="Rounded Rectangle 14"/>
          <p:cNvSpPr/>
          <p:nvPr/>
        </p:nvSpPr>
        <p:spPr>
          <a:xfrm>
            <a:off x="6400800" y="1554480"/>
            <a:ext cx="5486400" cy="4114800"/>
          </a:xfrm>
          <a:prstGeom prst="roundRect">
            <a:avLst/>
          </a:prstGeom>
          <a:solidFill>
            <a:srgbClr val="FDE7E7"/>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1691640"/>
            <a:ext cx="5029200" cy="365760"/>
          </a:xfrm>
          <a:prstGeom prst="rect">
            <a:avLst/>
          </a:prstGeom>
          <a:noFill/>
        </p:spPr>
        <p:txBody>
          <a:bodyPr wrap="square" lIns="25400" rIns="25400" tIns="25400" bIns="25400">
            <a:spAutoFit/>
          </a:bodyPr>
          <a:lstStyle/>
          <a:p>
            <a:pPr algn="l"/>
            <a:r>
              <a:rPr sz="1600" b="1" i="0">
                <a:solidFill>
                  <a:srgbClr val="B71C1C"/>
                </a:solidFill>
                <a:latin typeface="Calibri"/>
              </a:rPr>
              <a:t>VULN app</a:t>
            </a:r>
          </a:p>
        </p:txBody>
      </p:sp>
      <p:sp>
        <p:nvSpPr>
          <p:cNvPr id="17" name="Rectangle 16"/>
          <p:cNvSpPr/>
          <p:nvPr/>
        </p:nvSpPr>
        <p:spPr>
          <a:xfrm>
            <a:off x="6629400" y="2103120"/>
            <a:ext cx="5029200" cy="91440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2194560"/>
            <a:ext cx="4754880" cy="731520"/>
          </a:xfrm>
          <a:prstGeom prst="rect">
            <a:avLst/>
          </a:prstGeom>
          <a:noFill/>
        </p:spPr>
        <p:txBody>
          <a:bodyPr wrap="square">
            <a:spAutoFit/>
          </a:bodyPr>
          <a:lstStyle/>
          <a:p>
            <a:pPr algn="l">
              <a:spcAft>
                <a:spcPts val="0"/>
              </a:spcAft>
            </a:pPr>
            <a:r>
              <a:rPr sz="1000">
                <a:solidFill>
                  <a:srgbClr val="FFFFFF"/>
                </a:solidFill>
                <a:latin typeface="Consolas"/>
              </a:rPr>
              <a:t>_.template(tpl, {</a:t>
            </a:r>
          </a:p>
          <a:p>
            <a:pPr algn="l">
              <a:spcAft>
                <a:spcPts val="0"/>
              </a:spcAft>
            </a:pPr>
            <a:r>
              <a:rPr sz="1000">
                <a:solidFill>
                  <a:srgbClr val="FFFFFF"/>
                </a:solidFill>
                <a:latin typeface="Consolas"/>
              </a:rPr>
              <a:t>  sourceURL: req.query.src</a:t>
            </a:r>
          </a:p>
          <a:p>
            <a:pPr algn="l">
              <a:spcAft>
                <a:spcPts val="0"/>
              </a:spcAft>
            </a:pPr>
            <a:r>
              <a:rPr sz="1000">
                <a:solidFill>
                  <a:srgbClr val="FFFFFF"/>
                </a:solidFill>
                <a:latin typeface="Consolas"/>
              </a:rPr>
              <a:t>})(data);</a:t>
            </a:r>
          </a:p>
        </p:txBody>
      </p:sp>
      <p:sp>
        <p:nvSpPr>
          <p:cNvPr id="19" name="TextBox 18"/>
          <p:cNvSpPr txBox="1"/>
          <p:nvPr/>
        </p:nvSpPr>
        <p:spPr>
          <a:xfrm>
            <a:off x="6629400" y="3154680"/>
            <a:ext cx="5029200" cy="274320"/>
          </a:xfrm>
          <a:prstGeom prst="rect">
            <a:avLst/>
          </a:prstGeom>
          <a:noFill/>
        </p:spPr>
        <p:txBody>
          <a:bodyPr wrap="square" lIns="25400" rIns="25400" tIns="25400" bIns="25400">
            <a:spAutoFit/>
          </a:bodyPr>
          <a:lstStyle/>
          <a:p>
            <a:pPr algn="l"/>
            <a:r>
              <a:rPr sz="1200" b="1" i="0">
                <a:solidFill>
                  <a:srgbClr val="1E2761"/>
                </a:solidFill>
                <a:latin typeface="Calibri"/>
              </a:rPr>
              <a:t>Static call graph</a:t>
            </a:r>
          </a:p>
        </p:txBody>
      </p:sp>
      <p:sp>
        <p:nvSpPr>
          <p:cNvPr id="20" name="TextBox 19"/>
          <p:cNvSpPr txBox="1"/>
          <p:nvPr/>
        </p:nvSpPr>
        <p:spPr>
          <a:xfrm>
            <a:off x="6629400" y="3429000"/>
            <a:ext cx="5029200" cy="365760"/>
          </a:xfrm>
          <a:prstGeom prst="rect">
            <a:avLst/>
          </a:prstGeom>
          <a:noFill/>
        </p:spPr>
        <p:txBody>
          <a:bodyPr wrap="square" lIns="25400" rIns="25400" tIns="25400" bIns="25400">
            <a:spAutoFit/>
          </a:bodyPr>
          <a:lstStyle/>
          <a:p>
            <a:pPr algn="l"/>
            <a:r>
              <a:rPr sz="1200" b="0" i="0">
                <a:solidFill>
                  <a:srgbClr val="4A4A4A"/>
                </a:solidFill>
                <a:latin typeface="Calibri"/>
              </a:rPr>
              <a:t>9 nodes, 8 edges. reachable=True</a:t>
            </a:r>
          </a:p>
        </p:txBody>
      </p:sp>
      <p:sp>
        <p:nvSpPr>
          <p:cNvPr id="21" name="TextBox 20"/>
          <p:cNvSpPr txBox="1"/>
          <p:nvPr/>
        </p:nvSpPr>
        <p:spPr>
          <a:xfrm>
            <a:off x="6629400" y="3749039"/>
            <a:ext cx="5029200" cy="365760"/>
          </a:xfrm>
          <a:prstGeom prst="rect">
            <a:avLst/>
          </a:prstGeom>
          <a:noFill/>
        </p:spPr>
        <p:txBody>
          <a:bodyPr wrap="square" lIns="25400" rIns="25400" tIns="25400" bIns="25400">
            <a:spAutoFit/>
          </a:bodyPr>
          <a:lstStyle/>
          <a:p>
            <a:pPr algn="l"/>
            <a:r>
              <a:rPr sz="1200" b="0" i="0">
                <a:solidFill>
                  <a:srgbClr val="4A4A4A"/>
                </a:solidFill>
                <a:latin typeface="Consolas"/>
              </a:rPr>
              <a:t>module -&gt; _.template</a:t>
            </a:r>
          </a:p>
        </p:txBody>
      </p:sp>
      <p:sp>
        <p:nvSpPr>
          <p:cNvPr id="22" name="TextBox 21"/>
          <p:cNvSpPr txBox="1"/>
          <p:nvPr/>
        </p:nvSpPr>
        <p:spPr>
          <a:xfrm>
            <a:off x="6629400" y="4251960"/>
            <a:ext cx="5029200" cy="274320"/>
          </a:xfrm>
          <a:prstGeom prst="rect">
            <a:avLst/>
          </a:prstGeom>
          <a:noFill/>
        </p:spPr>
        <p:txBody>
          <a:bodyPr wrap="square" lIns="25400" rIns="25400" tIns="25400" bIns="25400">
            <a:spAutoFit/>
          </a:bodyPr>
          <a:lstStyle/>
          <a:p>
            <a:pPr algn="l"/>
            <a:r>
              <a:rPr sz="1200" b="1" i="0">
                <a:solidFill>
                  <a:srgbClr val="1E2761"/>
                </a:solidFill>
                <a:latin typeface="Calibri"/>
              </a:rPr>
              <a:t>Flan-T5 verdict</a:t>
            </a:r>
          </a:p>
        </p:txBody>
      </p:sp>
      <p:sp>
        <p:nvSpPr>
          <p:cNvPr id="23" name="TextBox 22"/>
          <p:cNvSpPr txBox="1"/>
          <p:nvPr/>
        </p:nvSpPr>
        <p:spPr>
          <a:xfrm>
            <a:off x="6629400" y="4526280"/>
            <a:ext cx="5029200" cy="365760"/>
          </a:xfrm>
          <a:prstGeom prst="rect">
            <a:avLst/>
          </a:prstGeom>
          <a:noFill/>
        </p:spPr>
        <p:txBody>
          <a:bodyPr wrap="square" lIns="25400" rIns="25400" tIns="25400" bIns="25400">
            <a:spAutoFit/>
          </a:bodyPr>
          <a:lstStyle/>
          <a:p>
            <a:pPr algn="l"/>
            <a:r>
              <a:rPr sz="1400" b="1" i="0">
                <a:solidFill>
                  <a:srgbClr val="B71C1C"/>
                </a:solidFill>
                <a:latin typeface="Calibri"/>
              </a:rPr>
              <a:t>FALSE_POSITIVE  (conf 0.80)</a:t>
            </a:r>
          </a:p>
        </p:txBody>
      </p:sp>
      <p:sp>
        <p:nvSpPr>
          <p:cNvPr id="24" name="TextBox 23"/>
          <p:cNvSpPr txBox="1"/>
          <p:nvPr/>
        </p:nvSpPr>
        <p:spPr>
          <a:xfrm>
            <a:off x="6629400" y="5029200"/>
            <a:ext cx="5029200" cy="365760"/>
          </a:xfrm>
          <a:prstGeom prst="rect">
            <a:avLst/>
          </a:prstGeom>
          <a:noFill/>
        </p:spPr>
        <p:txBody>
          <a:bodyPr wrap="square" lIns="25400" rIns="25400" tIns="25400" bIns="25400">
            <a:spAutoFit/>
          </a:bodyPr>
          <a:lstStyle/>
          <a:p>
            <a:pPr algn="l"/>
            <a:r>
              <a:rPr sz="1100" b="0" i="1">
                <a:solidFill>
                  <a:srgbClr val="4A4A4A"/>
                </a:solidFill>
                <a:latin typeface="Calibri"/>
              </a:rPr>
              <a:t>Wrong. Static layer correct, LLM fails.</a:t>
            </a:r>
          </a:p>
        </p:txBody>
      </p:sp>
      <p:sp>
        <p:nvSpPr>
          <p:cNvPr id="25" name="TextBox 24"/>
          <p:cNvSpPr txBox="1"/>
          <p:nvPr/>
        </p:nvSpPr>
        <p:spPr>
          <a:xfrm>
            <a:off x="548640" y="5852160"/>
            <a:ext cx="10972800" cy="365760"/>
          </a:xfrm>
          <a:prstGeom prst="rect">
            <a:avLst/>
          </a:prstGeom>
          <a:noFill/>
        </p:spPr>
        <p:txBody>
          <a:bodyPr wrap="square" lIns="25400" rIns="25400" tIns="25400" bIns="25400">
            <a:spAutoFit/>
          </a:bodyPr>
          <a:lstStyle/>
          <a:p>
            <a:pPr algn="l"/>
            <a:r>
              <a:rPr sz="1200" b="0" i="1">
                <a:solidFill>
                  <a:srgbClr val="B85042"/>
                </a:solidFill>
                <a:latin typeface="Calibri"/>
              </a:rPr>
              <a:t>The static call graph nails both apps. Flan-T5-large sits below the capability threshold for taint reasoning.</a:t>
            </a:r>
          </a:p>
        </p:txBody>
      </p:sp>
      <p:sp>
        <p:nvSpPr>
          <p:cNvPr id="26" name="TextBox 25"/>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27" name="TextBox 26"/>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Stage 4: fuse everything into 775-d</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768 RoBERTa [CLS], 5 structured features, 2 reachability signals.</a:t>
            </a:r>
          </a:p>
        </p:txBody>
      </p:sp>
      <p:sp>
        <p:nvSpPr>
          <p:cNvPr id="5" name="Rounded Rectangle 4"/>
          <p:cNvSpPr/>
          <p:nvPr/>
        </p:nvSpPr>
        <p:spPr>
          <a:xfrm>
            <a:off x="640080" y="1828800"/>
            <a:ext cx="3108960" cy="182880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2834640" cy="365760"/>
          </a:xfrm>
          <a:prstGeom prst="rect">
            <a:avLst/>
          </a:prstGeom>
          <a:noFill/>
        </p:spPr>
        <p:txBody>
          <a:bodyPr wrap="square" lIns="25400" rIns="25400" tIns="25400" bIns="25400">
            <a:spAutoFit/>
          </a:bodyPr>
          <a:lstStyle/>
          <a:p>
            <a:pPr algn="ctr"/>
            <a:r>
              <a:rPr sz="1500" b="1" i="0">
                <a:solidFill>
                  <a:srgbClr val="1E2761"/>
                </a:solidFill>
                <a:latin typeface="Calibri"/>
              </a:rPr>
              <a:t>RoBERTa [CLS]</a:t>
            </a:r>
          </a:p>
        </p:txBody>
      </p:sp>
      <p:sp>
        <p:nvSpPr>
          <p:cNvPr id="7" name="TextBox 6"/>
          <p:cNvSpPr txBox="1"/>
          <p:nvPr/>
        </p:nvSpPr>
        <p:spPr>
          <a:xfrm>
            <a:off x="777240" y="2331720"/>
            <a:ext cx="2834640" cy="365760"/>
          </a:xfrm>
          <a:prstGeom prst="rect">
            <a:avLst/>
          </a:prstGeom>
          <a:noFill/>
        </p:spPr>
        <p:txBody>
          <a:bodyPr wrap="square" lIns="25400" rIns="25400" tIns="25400" bIns="25400">
            <a:spAutoFit/>
          </a:bodyPr>
          <a:lstStyle/>
          <a:p>
            <a:pPr algn="ctr"/>
            <a:r>
              <a:rPr sz="3000" b="1" i="0">
                <a:solidFill>
                  <a:srgbClr val="1E2761"/>
                </a:solidFill>
                <a:latin typeface="Calibri"/>
              </a:rPr>
              <a:t>768</a:t>
            </a:r>
          </a:p>
        </p:txBody>
      </p:sp>
      <p:sp>
        <p:nvSpPr>
          <p:cNvPr id="8" name="TextBox 7"/>
          <p:cNvSpPr txBox="1"/>
          <p:nvPr/>
        </p:nvSpPr>
        <p:spPr>
          <a:xfrm>
            <a:off x="777240" y="2971800"/>
            <a:ext cx="2834640" cy="365760"/>
          </a:xfrm>
          <a:prstGeom prst="rect">
            <a:avLst/>
          </a:prstGeom>
          <a:noFill/>
        </p:spPr>
        <p:txBody>
          <a:bodyPr wrap="square" lIns="25400" rIns="25400" tIns="25400" bIns="25400">
            <a:spAutoFit/>
          </a:bodyPr>
          <a:lstStyle/>
          <a:p>
            <a:pPr algn="ctr"/>
            <a:r>
              <a:rPr sz="1100" b="0" i="1">
                <a:solidFill>
                  <a:srgbClr val="4A4A4A"/>
                </a:solidFill>
                <a:latin typeface="Calibri"/>
              </a:rPr>
              <a:t>Stage-2 embeddings</a:t>
            </a:r>
          </a:p>
        </p:txBody>
      </p:sp>
      <p:sp>
        <p:nvSpPr>
          <p:cNvPr id="9" name="Rounded Rectangle 8"/>
          <p:cNvSpPr/>
          <p:nvPr/>
        </p:nvSpPr>
        <p:spPr>
          <a:xfrm>
            <a:off x="4114800" y="1828800"/>
            <a:ext cx="3108960" cy="182880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1965960"/>
            <a:ext cx="2834640" cy="365760"/>
          </a:xfrm>
          <a:prstGeom prst="rect">
            <a:avLst/>
          </a:prstGeom>
          <a:noFill/>
        </p:spPr>
        <p:txBody>
          <a:bodyPr wrap="square" lIns="25400" rIns="25400" tIns="25400" bIns="25400">
            <a:spAutoFit/>
          </a:bodyPr>
          <a:lstStyle/>
          <a:p>
            <a:pPr algn="ctr"/>
            <a:r>
              <a:rPr sz="1500" b="1" i="0">
                <a:solidFill>
                  <a:srgbClr val="1E2761"/>
                </a:solidFill>
                <a:latin typeface="Calibri"/>
              </a:rPr>
              <a:t>Structured</a:t>
            </a:r>
          </a:p>
        </p:txBody>
      </p:sp>
      <p:sp>
        <p:nvSpPr>
          <p:cNvPr id="11" name="TextBox 10"/>
          <p:cNvSpPr txBox="1"/>
          <p:nvPr/>
        </p:nvSpPr>
        <p:spPr>
          <a:xfrm>
            <a:off x="4251960" y="2331720"/>
            <a:ext cx="2834640" cy="365760"/>
          </a:xfrm>
          <a:prstGeom prst="rect">
            <a:avLst/>
          </a:prstGeom>
          <a:noFill/>
        </p:spPr>
        <p:txBody>
          <a:bodyPr wrap="square" lIns="25400" rIns="25400" tIns="25400" bIns="25400">
            <a:spAutoFit/>
          </a:bodyPr>
          <a:lstStyle/>
          <a:p>
            <a:pPr algn="ctr"/>
            <a:r>
              <a:rPr sz="3000" b="1" i="0">
                <a:solidFill>
                  <a:srgbClr val="1E2761"/>
                </a:solidFill>
                <a:latin typeface="Calibri"/>
              </a:rPr>
              <a:t>5</a:t>
            </a:r>
          </a:p>
        </p:txBody>
      </p:sp>
      <p:sp>
        <p:nvSpPr>
          <p:cNvPr id="12" name="TextBox 11"/>
          <p:cNvSpPr txBox="1"/>
          <p:nvPr/>
        </p:nvSpPr>
        <p:spPr>
          <a:xfrm>
            <a:off x="4251960" y="2971800"/>
            <a:ext cx="2834640" cy="365760"/>
          </a:xfrm>
          <a:prstGeom prst="rect">
            <a:avLst/>
          </a:prstGeom>
          <a:noFill/>
        </p:spPr>
        <p:txBody>
          <a:bodyPr wrap="square" lIns="25400" rIns="25400" tIns="25400" bIns="25400">
            <a:spAutoFit/>
          </a:bodyPr>
          <a:lstStyle/>
          <a:p>
            <a:pPr algn="ctr"/>
            <a:r>
              <a:rPr sz="1000" b="0" i="1">
                <a:solidFill>
                  <a:srgbClr val="4A4A4A"/>
                </a:solidFill>
                <a:latin typeface="Calibri"/>
              </a:rPr>
              <a:t>CVSS, EPSS, age, fix, ecosystem</a:t>
            </a:r>
          </a:p>
        </p:txBody>
      </p:sp>
      <p:sp>
        <p:nvSpPr>
          <p:cNvPr id="13" name="Rounded Rectangle 12"/>
          <p:cNvSpPr/>
          <p:nvPr/>
        </p:nvSpPr>
        <p:spPr>
          <a:xfrm>
            <a:off x="7589520" y="1828800"/>
            <a:ext cx="3108960" cy="1828800"/>
          </a:xfrm>
          <a:prstGeom prst="roundRect">
            <a:avLst/>
          </a:prstGeom>
          <a:solidFill>
            <a:srgbClr val="FDE7E7"/>
          </a:solidFill>
          <a:ln w="9525">
            <a:solidFill>
              <a:srgbClr val="B850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1965960"/>
            <a:ext cx="2834640" cy="365760"/>
          </a:xfrm>
          <a:prstGeom prst="rect">
            <a:avLst/>
          </a:prstGeom>
          <a:noFill/>
        </p:spPr>
        <p:txBody>
          <a:bodyPr wrap="square" lIns="25400" rIns="25400" tIns="25400" bIns="25400">
            <a:spAutoFit/>
          </a:bodyPr>
          <a:lstStyle/>
          <a:p>
            <a:pPr algn="ctr"/>
            <a:r>
              <a:rPr sz="1500" b="1" i="0">
                <a:solidFill>
                  <a:srgbClr val="B85042"/>
                </a:solidFill>
                <a:latin typeface="Calibri"/>
              </a:rPr>
              <a:t>Reachability</a:t>
            </a:r>
          </a:p>
        </p:txBody>
      </p:sp>
      <p:sp>
        <p:nvSpPr>
          <p:cNvPr id="15" name="TextBox 14"/>
          <p:cNvSpPr txBox="1"/>
          <p:nvPr/>
        </p:nvSpPr>
        <p:spPr>
          <a:xfrm>
            <a:off x="7726679" y="2331720"/>
            <a:ext cx="2834640" cy="365760"/>
          </a:xfrm>
          <a:prstGeom prst="rect">
            <a:avLst/>
          </a:prstGeom>
          <a:noFill/>
        </p:spPr>
        <p:txBody>
          <a:bodyPr wrap="square" lIns="25400" rIns="25400" tIns="25400" bIns="25400">
            <a:spAutoFit/>
          </a:bodyPr>
          <a:lstStyle/>
          <a:p>
            <a:pPr algn="ctr"/>
            <a:r>
              <a:rPr sz="3000" b="1" i="0">
                <a:solidFill>
                  <a:srgbClr val="B85042"/>
                </a:solidFill>
                <a:latin typeface="Calibri"/>
              </a:rPr>
              <a:t>2</a:t>
            </a:r>
          </a:p>
        </p:txBody>
      </p:sp>
      <p:sp>
        <p:nvSpPr>
          <p:cNvPr id="16" name="TextBox 15"/>
          <p:cNvSpPr txBox="1"/>
          <p:nvPr/>
        </p:nvSpPr>
        <p:spPr>
          <a:xfrm>
            <a:off x="7726679" y="2971800"/>
            <a:ext cx="2834640" cy="365760"/>
          </a:xfrm>
          <a:prstGeom prst="rect">
            <a:avLst/>
          </a:prstGeom>
          <a:noFill/>
        </p:spPr>
        <p:txBody>
          <a:bodyPr wrap="square" lIns="25400" rIns="25400" tIns="25400" bIns="25400">
            <a:spAutoFit/>
          </a:bodyPr>
          <a:lstStyle/>
          <a:p>
            <a:pPr algn="ctr"/>
            <a:r>
              <a:rPr sz="1100" b="0" i="1">
                <a:solidFill>
                  <a:srgbClr val="4A4A4A"/>
                </a:solidFill>
                <a:latin typeface="Calibri"/>
              </a:rPr>
              <a:t>static + LLM reachable</a:t>
            </a:r>
          </a:p>
        </p:txBody>
      </p:sp>
      <p:sp>
        <p:nvSpPr>
          <p:cNvPr id="17" name="Down Arrow 16"/>
          <p:cNvSpPr/>
          <p:nvPr/>
        </p:nvSpPr>
        <p:spPr>
          <a:xfrm>
            <a:off x="2057400" y="3749039"/>
            <a:ext cx="274320" cy="457200"/>
          </a:xfrm>
          <a:prstGeom prst="downArrow">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17"/>
          <p:cNvSpPr/>
          <p:nvPr/>
        </p:nvSpPr>
        <p:spPr>
          <a:xfrm>
            <a:off x="5532120" y="3749039"/>
            <a:ext cx="274320" cy="457200"/>
          </a:xfrm>
          <a:prstGeom prst="downArrow">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9006840" y="3749039"/>
            <a:ext cx="274320" cy="457200"/>
          </a:xfrm>
          <a:prstGeom prst="downArrow">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286000" y="4343400"/>
            <a:ext cx="6766560" cy="1097280"/>
          </a:xfrm>
          <a:prstGeom prst="roundRect">
            <a:avLst/>
          </a:prstGeom>
          <a:solidFill>
            <a:srgbClr val="1E2761"/>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4480560"/>
            <a:ext cx="6766560" cy="457200"/>
          </a:xfrm>
          <a:prstGeom prst="rect">
            <a:avLst/>
          </a:prstGeom>
          <a:noFill/>
        </p:spPr>
        <p:txBody>
          <a:bodyPr wrap="square" lIns="25400" rIns="25400" tIns="25400" bIns="25400">
            <a:spAutoFit/>
          </a:bodyPr>
          <a:lstStyle/>
          <a:p>
            <a:pPr algn="ctr"/>
            <a:r>
              <a:rPr sz="2200" b="1" i="0">
                <a:solidFill>
                  <a:srgbClr val="FFFFFF"/>
                </a:solidFill>
                <a:latin typeface="Calibri"/>
              </a:rPr>
              <a:t>Class-balanced Logistic Regression</a:t>
            </a:r>
          </a:p>
        </p:txBody>
      </p:sp>
      <p:sp>
        <p:nvSpPr>
          <p:cNvPr id="22" name="TextBox 21"/>
          <p:cNvSpPr txBox="1"/>
          <p:nvPr/>
        </p:nvSpPr>
        <p:spPr>
          <a:xfrm>
            <a:off x="2286000" y="4937760"/>
            <a:ext cx="6766560" cy="365760"/>
          </a:xfrm>
          <a:prstGeom prst="rect">
            <a:avLst/>
          </a:prstGeom>
          <a:noFill/>
        </p:spPr>
        <p:txBody>
          <a:bodyPr wrap="square" lIns="25400" rIns="25400" tIns="25400" bIns="25400">
            <a:spAutoFit/>
          </a:bodyPr>
          <a:lstStyle/>
          <a:p>
            <a:pPr algn="ctr"/>
            <a:r>
              <a:rPr sz="1200" b="0" i="1">
                <a:solidFill>
                  <a:srgbClr val="CADCFC"/>
                </a:solidFill>
                <a:latin typeface="Calibri"/>
              </a:rPr>
              <a:t>775 features into P(TRUE_POSITIVE)</a:t>
            </a:r>
          </a:p>
        </p:txBody>
      </p:sp>
      <p:sp>
        <p:nvSpPr>
          <p:cNvPr id="23" name="TextBox 22"/>
          <p:cNvSpPr txBox="1"/>
          <p:nvPr/>
        </p:nvSpPr>
        <p:spPr>
          <a:xfrm>
            <a:off x="548640" y="5715000"/>
            <a:ext cx="10972800" cy="457200"/>
          </a:xfrm>
          <a:prstGeom prst="rect">
            <a:avLst/>
          </a:prstGeom>
          <a:noFill/>
        </p:spPr>
        <p:txBody>
          <a:bodyPr wrap="square" lIns="25400" rIns="25400" tIns="25400" bIns="25400">
            <a:spAutoFit/>
          </a:bodyPr>
          <a:lstStyle/>
          <a:p>
            <a:pPr algn="l"/>
            <a:r>
              <a:rPr sz="1200" b="0" i="1">
                <a:solidFill>
                  <a:srgbClr val="B85042"/>
                </a:solidFill>
                <a:latin typeface="Calibri"/>
              </a:rPr>
              <a:t>Reachability features for the 10K training set are synthesised from labels with 15% noise (cell 6). Limitations slide covers what that implies.</a:t>
            </a:r>
          </a:p>
        </p:txBody>
      </p:sp>
      <p:sp>
        <p:nvSpPr>
          <p:cNvPr id="24" name="TextBox 23"/>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25" name="TextBox 24"/>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Results: 1,002-alert held-out test set</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Marginal F1 contribution at each stage.</a:t>
            </a:r>
          </a:p>
        </p:txBody>
      </p:sp>
      <p:graphicFrame>
        <p:nvGraphicFramePr>
          <p:cNvPr id="5" name="Table 4"/>
          <p:cNvGraphicFramePr>
            <a:graphicFrameLocks noGrp="1"/>
          </p:cNvGraphicFramePr>
          <p:nvPr/>
        </p:nvGraphicFramePr>
        <p:xfrm>
          <a:off x="548640" y="1554480"/>
          <a:ext cx="11338560" cy="3200400"/>
        </p:xfrm>
        <a:graphic>
          <a:graphicData uri="http://schemas.openxmlformats.org/drawingml/2006/table">
            <a:tbl>
              <a:tblPr firstRow="1" bandRow="1">
                <a:tableStyleId>{5C22544A-7EE6-4342-B048-85BDC9FD1C3A}</a:tableStyleId>
              </a:tblPr>
              <a:tblGrid>
                <a:gridCol w="2267712"/>
                <a:gridCol w="2267712"/>
                <a:gridCol w="2267712"/>
                <a:gridCol w="2267712"/>
                <a:gridCol w="2267712"/>
              </a:tblGrid>
              <a:tr h="640080">
                <a:tc>
                  <a:txBody>
                    <a:bodyPr/>
                    <a:lstStyle/>
                    <a:p>
                      <a:pPr algn="l"/>
                      <a:r>
                        <a:rPr sz="1300" b="1">
                          <a:solidFill>
                            <a:srgbClr val="FFFFFF"/>
                          </a:solidFill>
                          <a:latin typeface="Calibri"/>
                        </a:rPr>
                        <a:t>Model</a:t>
                      </a:r>
                    </a:p>
                  </a:txBody>
                  <a:tcPr marL="101600" marR="101600" marT="50800" marB="50800">
                    <a:solidFill>
                      <a:srgbClr val="1E2761"/>
                    </a:solidFill>
                  </a:tcPr>
                </a:tc>
                <a:tc>
                  <a:txBody>
                    <a:bodyPr/>
                    <a:lstStyle/>
                    <a:p>
                      <a:pPr algn="ctr"/>
                      <a:r>
                        <a:rPr sz="1300" b="1">
                          <a:solidFill>
                            <a:srgbClr val="FFFFFF"/>
                          </a:solidFill>
                          <a:latin typeface="Calibri"/>
                        </a:rPr>
                        <a:t>F1</a:t>
                      </a:r>
                    </a:p>
                  </a:txBody>
                  <a:tcPr marL="101600" marR="101600" marT="50800" marB="50800">
                    <a:solidFill>
                      <a:srgbClr val="1E2761"/>
                    </a:solidFill>
                  </a:tcPr>
                </a:tc>
                <a:tc>
                  <a:txBody>
                    <a:bodyPr/>
                    <a:lstStyle/>
                    <a:p>
                      <a:pPr algn="ctr"/>
                      <a:r>
                        <a:rPr sz="1300" b="1">
                          <a:solidFill>
                            <a:srgbClr val="FFFFFF"/>
                          </a:solidFill>
                          <a:latin typeface="Calibri"/>
                        </a:rPr>
                        <a:t>Precision</a:t>
                      </a:r>
                    </a:p>
                  </a:txBody>
                  <a:tcPr marL="101600" marR="101600" marT="50800" marB="50800">
                    <a:solidFill>
                      <a:srgbClr val="1E2761"/>
                    </a:solidFill>
                  </a:tcPr>
                </a:tc>
                <a:tc>
                  <a:txBody>
                    <a:bodyPr/>
                    <a:lstStyle/>
                    <a:p>
                      <a:pPr algn="ctr"/>
                      <a:r>
                        <a:rPr sz="1300" b="1">
                          <a:solidFill>
                            <a:srgbClr val="FFFFFF"/>
                          </a:solidFill>
                          <a:latin typeface="Calibri"/>
                        </a:rPr>
                        <a:t>Recall</a:t>
                      </a:r>
                    </a:p>
                  </a:txBody>
                  <a:tcPr marL="101600" marR="101600" marT="50800" marB="50800">
                    <a:solidFill>
                      <a:srgbClr val="1E2761"/>
                    </a:solidFill>
                  </a:tcPr>
                </a:tc>
                <a:tc>
                  <a:txBody>
                    <a:bodyPr/>
                    <a:lstStyle/>
                    <a:p>
                      <a:pPr algn="ctr"/>
                      <a:r>
                        <a:rPr sz="1300" b="1">
                          <a:solidFill>
                            <a:srgbClr val="FFFFFF"/>
                          </a:solidFill>
                          <a:latin typeface="Calibri"/>
                        </a:rPr>
                        <a:t>ROC-AUC</a:t>
                      </a:r>
                    </a:p>
                  </a:txBody>
                  <a:tcPr marL="101600" marR="101600" marT="50800" marB="50800">
                    <a:solidFill>
                      <a:srgbClr val="1E2761"/>
                    </a:solidFill>
                  </a:tcPr>
                </a:tc>
              </a:tr>
              <a:tr h="640080">
                <a:tc>
                  <a:txBody>
                    <a:bodyPr/>
                    <a:lstStyle/>
                    <a:p>
                      <a:pPr algn="l"/>
                      <a:r>
                        <a:rPr sz="1300">
                          <a:solidFill>
                            <a:srgbClr val="4A4A4A"/>
                          </a:solidFill>
                          <a:latin typeface="Calibri"/>
                        </a:rPr>
                        <a:t>EPSS rule (threshold 0.01)</a:t>
                      </a:r>
                    </a:p>
                  </a:txBody>
                  <a:tcPr marL="101600" marR="101600" marT="50800" marB="50800">
                    <a:solidFill>
                      <a:srgbClr val="FFFFFF"/>
                    </a:solidFill>
                  </a:tcPr>
                </a:tc>
                <a:tc>
                  <a:txBody>
                    <a:bodyPr/>
                    <a:lstStyle/>
                    <a:p>
                      <a:pPr algn="ctr"/>
                      <a:r>
                        <a:rPr sz="1300">
                          <a:solidFill>
                            <a:srgbClr val="4A4A4A"/>
                          </a:solidFill>
                          <a:latin typeface="Calibri"/>
                        </a:rPr>
                        <a:t>0.580</a:t>
                      </a:r>
                    </a:p>
                  </a:txBody>
                  <a:tcPr marL="101600" marR="101600" marT="50800" marB="50800">
                    <a:solidFill>
                      <a:srgbClr val="FFFFFF"/>
                    </a:solidFill>
                  </a:tcPr>
                </a:tc>
                <a:tc>
                  <a:txBody>
                    <a:bodyPr/>
                    <a:lstStyle/>
                    <a:p>
                      <a:pPr algn="ctr"/>
                      <a:r>
                        <a:rPr sz="1300">
                          <a:solidFill>
                            <a:srgbClr val="4A4A4A"/>
                          </a:solidFill>
                          <a:latin typeface="Calibri"/>
                        </a:rPr>
                        <a:t>0.617</a:t>
                      </a:r>
                    </a:p>
                  </a:txBody>
                  <a:tcPr marL="101600" marR="101600" marT="50800" marB="50800">
                    <a:solidFill>
                      <a:srgbClr val="FFFFFF"/>
                    </a:solidFill>
                  </a:tcPr>
                </a:tc>
                <a:tc>
                  <a:txBody>
                    <a:bodyPr/>
                    <a:lstStyle/>
                    <a:p>
                      <a:pPr algn="ctr"/>
                      <a:r>
                        <a:rPr sz="1300">
                          <a:solidFill>
                            <a:srgbClr val="4A4A4A"/>
                          </a:solidFill>
                          <a:latin typeface="Calibri"/>
                        </a:rPr>
                        <a:t>0.547</a:t>
                      </a:r>
                    </a:p>
                  </a:txBody>
                  <a:tcPr marL="101600" marR="101600" marT="50800" marB="50800">
                    <a:solidFill>
                      <a:srgbClr val="FFFFFF"/>
                    </a:solidFill>
                  </a:tcPr>
                </a:tc>
                <a:tc>
                  <a:txBody>
                    <a:bodyPr/>
                    <a:lstStyle/>
                    <a:p>
                      <a:pPr algn="ctr"/>
                      <a:r>
                        <a:rPr sz="1300">
                          <a:solidFill>
                            <a:srgbClr val="4A4A4A"/>
                          </a:solidFill>
                          <a:latin typeface="Calibri"/>
                        </a:rPr>
                        <a:t>0.758</a:t>
                      </a:r>
                    </a:p>
                  </a:txBody>
                  <a:tcPr marL="101600" marR="101600" marT="50800" marB="50800">
                    <a:solidFill>
                      <a:srgbClr val="FFFFFF"/>
                    </a:solidFill>
                  </a:tcPr>
                </a:tc>
              </a:tr>
              <a:tr h="640080">
                <a:tc>
                  <a:txBody>
                    <a:bodyPr/>
                    <a:lstStyle/>
                    <a:p>
                      <a:pPr algn="l"/>
                      <a:r>
                        <a:rPr sz="1300">
                          <a:solidFill>
                            <a:srgbClr val="4A4A4A"/>
                          </a:solidFill>
                          <a:latin typeface="Calibri"/>
                        </a:rPr>
                        <a:t>TF-IDF + Logistic Regression</a:t>
                      </a:r>
                    </a:p>
                  </a:txBody>
                  <a:tcPr marL="101600" marR="101600" marT="50800" marB="50800">
                    <a:solidFill>
                      <a:srgbClr val="EAEAEA"/>
                    </a:solidFill>
                  </a:tcPr>
                </a:tc>
                <a:tc>
                  <a:txBody>
                    <a:bodyPr/>
                    <a:lstStyle/>
                    <a:p>
                      <a:pPr algn="ctr"/>
                      <a:r>
                        <a:rPr sz="1300">
                          <a:solidFill>
                            <a:srgbClr val="4A4A4A"/>
                          </a:solidFill>
                          <a:latin typeface="Calibri"/>
                        </a:rPr>
                        <a:t>0.607</a:t>
                      </a:r>
                    </a:p>
                  </a:txBody>
                  <a:tcPr marL="101600" marR="101600" marT="50800" marB="50800">
                    <a:solidFill>
                      <a:srgbClr val="EAEAEA"/>
                    </a:solidFill>
                  </a:tcPr>
                </a:tc>
                <a:tc>
                  <a:txBody>
                    <a:bodyPr/>
                    <a:lstStyle/>
                    <a:p>
                      <a:pPr algn="ctr"/>
                      <a:r>
                        <a:rPr sz="1300">
                          <a:solidFill>
                            <a:srgbClr val="4A4A4A"/>
                          </a:solidFill>
                          <a:latin typeface="Calibri"/>
                        </a:rPr>
                        <a:t>0.555</a:t>
                      </a:r>
                    </a:p>
                  </a:txBody>
                  <a:tcPr marL="101600" marR="101600" marT="50800" marB="50800">
                    <a:solidFill>
                      <a:srgbClr val="EAEAEA"/>
                    </a:solidFill>
                  </a:tcPr>
                </a:tc>
                <a:tc>
                  <a:txBody>
                    <a:bodyPr/>
                    <a:lstStyle/>
                    <a:p>
                      <a:pPr algn="ctr"/>
                      <a:r>
                        <a:rPr sz="1300">
                          <a:solidFill>
                            <a:srgbClr val="4A4A4A"/>
                          </a:solidFill>
                          <a:latin typeface="Calibri"/>
                        </a:rPr>
                        <a:t>0.670</a:t>
                      </a:r>
                    </a:p>
                  </a:txBody>
                  <a:tcPr marL="101600" marR="101600" marT="50800" marB="50800">
                    <a:solidFill>
                      <a:srgbClr val="EAEAEA"/>
                    </a:solidFill>
                  </a:tcPr>
                </a:tc>
                <a:tc>
                  <a:txBody>
                    <a:bodyPr/>
                    <a:lstStyle/>
                    <a:p>
                      <a:pPr algn="ctr"/>
                      <a:r>
                        <a:rPr sz="1300">
                          <a:solidFill>
                            <a:srgbClr val="4A4A4A"/>
                          </a:solidFill>
                          <a:latin typeface="Calibri"/>
                        </a:rPr>
                        <a:t>0.851</a:t>
                      </a:r>
                    </a:p>
                  </a:txBody>
                  <a:tcPr marL="101600" marR="101600" marT="50800" marB="50800">
                    <a:solidFill>
                      <a:srgbClr val="EAEAEA"/>
                    </a:solidFill>
                  </a:tcPr>
                </a:tc>
              </a:tr>
              <a:tr h="640080">
                <a:tc>
                  <a:txBody>
                    <a:bodyPr/>
                    <a:lstStyle/>
                    <a:p>
                      <a:pPr algn="l"/>
                      <a:r>
                        <a:rPr sz="1300">
                          <a:solidFill>
                            <a:srgbClr val="4A4A4A"/>
                          </a:solidFill>
                          <a:latin typeface="Calibri"/>
                        </a:rPr>
                        <a:t>RoBERTa fine-tune (3 epochs)</a:t>
                      </a:r>
                    </a:p>
                  </a:txBody>
                  <a:tcPr marL="101600" marR="101600" marT="50800" marB="50800">
                    <a:solidFill>
                      <a:srgbClr val="FFFFFF"/>
                    </a:solidFill>
                  </a:tcPr>
                </a:tc>
                <a:tc>
                  <a:txBody>
                    <a:bodyPr/>
                    <a:lstStyle/>
                    <a:p>
                      <a:pPr algn="ctr"/>
                      <a:r>
                        <a:rPr sz="1300">
                          <a:solidFill>
                            <a:srgbClr val="4A4A4A"/>
                          </a:solidFill>
                          <a:latin typeface="Calibri"/>
                        </a:rPr>
                        <a:t>0.593</a:t>
                      </a:r>
                    </a:p>
                  </a:txBody>
                  <a:tcPr marL="101600" marR="101600" marT="50800" marB="50800">
                    <a:solidFill>
                      <a:srgbClr val="FFFFFF"/>
                    </a:solidFill>
                  </a:tcPr>
                </a:tc>
                <a:tc>
                  <a:txBody>
                    <a:bodyPr/>
                    <a:lstStyle/>
                    <a:p>
                      <a:pPr algn="ctr"/>
                      <a:r>
                        <a:rPr sz="1300">
                          <a:solidFill>
                            <a:srgbClr val="4A4A4A"/>
                          </a:solidFill>
                          <a:latin typeface="Calibri"/>
                        </a:rPr>
                        <a:t>0.578</a:t>
                      </a:r>
                    </a:p>
                  </a:txBody>
                  <a:tcPr marL="101600" marR="101600" marT="50800" marB="50800">
                    <a:solidFill>
                      <a:srgbClr val="FFFFFF"/>
                    </a:solidFill>
                  </a:tcPr>
                </a:tc>
                <a:tc>
                  <a:txBody>
                    <a:bodyPr/>
                    <a:lstStyle/>
                    <a:p>
                      <a:pPr algn="ctr"/>
                      <a:r>
                        <a:rPr sz="1300">
                          <a:solidFill>
                            <a:srgbClr val="4A4A4A"/>
                          </a:solidFill>
                          <a:latin typeface="Calibri"/>
                        </a:rPr>
                        <a:t>0.608</a:t>
                      </a:r>
                    </a:p>
                  </a:txBody>
                  <a:tcPr marL="101600" marR="101600" marT="50800" marB="50800">
                    <a:solidFill>
                      <a:srgbClr val="FFFFFF"/>
                    </a:solidFill>
                  </a:tcPr>
                </a:tc>
                <a:tc>
                  <a:txBody>
                    <a:bodyPr/>
                    <a:lstStyle/>
                    <a:p>
                      <a:pPr algn="ctr"/>
                      <a:r>
                        <a:rPr sz="1300">
                          <a:solidFill>
                            <a:srgbClr val="4A4A4A"/>
                          </a:solidFill>
                          <a:latin typeface="Calibri"/>
                        </a:rPr>
                        <a:t>0.828</a:t>
                      </a:r>
                    </a:p>
                  </a:txBody>
                  <a:tcPr marL="101600" marR="101600" marT="50800" marB="50800">
                    <a:solidFill>
                      <a:srgbClr val="FFFFFF"/>
                    </a:solidFill>
                  </a:tcPr>
                </a:tc>
              </a:tr>
              <a:tr h="640080">
                <a:tc>
                  <a:txBody>
                    <a:bodyPr/>
                    <a:lstStyle/>
                    <a:p>
                      <a:pPr algn="l"/>
                      <a:r>
                        <a:rPr sz="1300" b="1">
                          <a:solidFill>
                            <a:srgbClr val="1E2761"/>
                          </a:solidFill>
                          <a:latin typeface="Calibri"/>
                        </a:rPr>
                        <a:t>Full pipeline (775-d fusion)</a:t>
                      </a:r>
                    </a:p>
                  </a:txBody>
                  <a:tcPr marL="101600" marR="101600" marT="50800" marB="50800">
                    <a:solidFill>
                      <a:srgbClr val="CADCFC"/>
                    </a:solidFill>
                  </a:tcPr>
                </a:tc>
                <a:tc>
                  <a:txBody>
                    <a:bodyPr/>
                    <a:lstStyle/>
                    <a:p>
                      <a:pPr algn="ctr"/>
                      <a:r>
                        <a:rPr sz="1300" b="1">
                          <a:solidFill>
                            <a:srgbClr val="1E2761"/>
                          </a:solidFill>
                          <a:latin typeface="Calibri"/>
                        </a:rPr>
                        <a:t>0.995</a:t>
                      </a:r>
                    </a:p>
                  </a:txBody>
                  <a:tcPr marL="101600" marR="101600" marT="50800" marB="50800">
                    <a:solidFill>
                      <a:srgbClr val="CADCFC"/>
                    </a:solidFill>
                  </a:tcPr>
                </a:tc>
                <a:tc>
                  <a:txBody>
                    <a:bodyPr/>
                    <a:lstStyle/>
                    <a:p>
                      <a:pPr algn="ctr"/>
                      <a:r>
                        <a:rPr sz="1300" b="1">
                          <a:solidFill>
                            <a:srgbClr val="1E2761"/>
                          </a:solidFill>
                          <a:latin typeface="Calibri"/>
                        </a:rPr>
                        <a:t>1.000</a:t>
                      </a:r>
                    </a:p>
                  </a:txBody>
                  <a:tcPr marL="101600" marR="101600" marT="50800" marB="50800">
                    <a:solidFill>
                      <a:srgbClr val="CADCFC"/>
                    </a:solidFill>
                  </a:tcPr>
                </a:tc>
                <a:tc>
                  <a:txBody>
                    <a:bodyPr/>
                    <a:lstStyle/>
                    <a:p>
                      <a:pPr algn="ctr"/>
                      <a:r>
                        <a:rPr sz="1300" b="1">
                          <a:solidFill>
                            <a:srgbClr val="1E2761"/>
                          </a:solidFill>
                          <a:latin typeface="Calibri"/>
                        </a:rPr>
                        <a:t>0.991</a:t>
                      </a:r>
                    </a:p>
                  </a:txBody>
                  <a:tcPr marL="101600" marR="101600" marT="50800" marB="50800">
                    <a:solidFill>
                      <a:srgbClr val="CADCFC"/>
                    </a:solidFill>
                  </a:tcPr>
                </a:tc>
                <a:tc>
                  <a:txBody>
                    <a:bodyPr/>
                    <a:lstStyle/>
                    <a:p>
                      <a:pPr algn="ctr"/>
                      <a:r>
                        <a:rPr sz="1300" b="1">
                          <a:solidFill>
                            <a:srgbClr val="1E2761"/>
                          </a:solidFill>
                          <a:latin typeface="Calibri"/>
                        </a:rPr>
                        <a:t>1.000</a:t>
                      </a:r>
                    </a:p>
                  </a:txBody>
                  <a:tcPr marL="101600" marR="101600" marT="50800" marB="50800">
                    <a:solidFill>
                      <a:srgbClr val="CADCFC"/>
                    </a:solidFill>
                  </a:tcPr>
                </a:tc>
              </a:tr>
            </a:tbl>
          </a:graphicData>
        </a:graphic>
      </p:graphicFrame>
      <p:sp>
        <p:nvSpPr>
          <p:cNvPr id="6" name="Rounded Rectangle 5"/>
          <p:cNvSpPr/>
          <p:nvPr/>
        </p:nvSpPr>
        <p:spPr>
          <a:xfrm>
            <a:off x="548640" y="4937760"/>
            <a:ext cx="5486400" cy="137160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5074920"/>
            <a:ext cx="5486400" cy="365760"/>
          </a:xfrm>
          <a:prstGeom prst="rect">
            <a:avLst/>
          </a:prstGeom>
          <a:noFill/>
        </p:spPr>
        <p:txBody>
          <a:bodyPr wrap="square" lIns="25400" rIns="25400" tIns="25400" bIns="25400">
            <a:spAutoFit/>
          </a:bodyPr>
          <a:lstStyle/>
          <a:p>
            <a:pPr algn="ctr"/>
            <a:r>
              <a:rPr sz="1400" b="1" i="0">
                <a:solidFill>
                  <a:srgbClr val="1E2761"/>
                </a:solidFill>
                <a:latin typeface="Calibri"/>
              </a:rPr>
              <a:t>F1 lift over RoBERTa alone</a:t>
            </a:r>
          </a:p>
        </p:txBody>
      </p:sp>
      <p:sp>
        <p:nvSpPr>
          <p:cNvPr id="8" name="TextBox 7"/>
          <p:cNvSpPr txBox="1"/>
          <p:nvPr/>
        </p:nvSpPr>
        <p:spPr>
          <a:xfrm>
            <a:off x="548640" y="5440680"/>
            <a:ext cx="5486400" cy="548640"/>
          </a:xfrm>
          <a:prstGeom prst="rect">
            <a:avLst/>
          </a:prstGeom>
          <a:noFill/>
        </p:spPr>
        <p:txBody>
          <a:bodyPr wrap="square" lIns="25400" rIns="25400" tIns="25400" bIns="25400">
            <a:spAutoFit/>
          </a:bodyPr>
          <a:lstStyle/>
          <a:p>
            <a:pPr algn="ctr"/>
            <a:r>
              <a:rPr sz="3200" b="1" i="0">
                <a:solidFill>
                  <a:srgbClr val="B85042"/>
                </a:solidFill>
                <a:latin typeface="Calibri"/>
              </a:rPr>
              <a:t>+0.40 F1</a:t>
            </a:r>
          </a:p>
        </p:txBody>
      </p:sp>
      <p:sp>
        <p:nvSpPr>
          <p:cNvPr id="9" name="Rounded Rectangle 8"/>
          <p:cNvSpPr/>
          <p:nvPr/>
        </p:nvSpPr>
        <p:spPr>
          <a:xfrm>
            <a:off x="6400800" y="4937760"/>
            <a:ext cx="5486400" cy="1371600"/>
          </a:xfrm>
          <a:prstGeom prst="roundRect">
            <a:avLst/>
          </a:prstGeom>
          <a:solidFill>
            <a:srgbClr val="CADC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5074920"/>
            <a:ext cx="5486400" cy="365760"/>
          </a:xfrm>
          <a:prstGeom prst="rect">
            <a:avLst/>
          </a:prstGeom>
          <a:noFill/>
        </p:spPr>
        <p:txBody>
          <a:bodyPr wrap="square" lIns="25400" rIns="25400" tIns="25400" bIns="25400">
            <a:spAutoFit/>
          </a:bodyPr>
          <a:lstStyle/>
          <a:p>
            <a:pPr algn="ctr"/>
            <a:r>
              <a:rPr sz="1400" b="1" i="0">
                <a:solidFill>
                  <a:srgbClr val="1E2761"/>
                </a:solidFill>
                <a:latin typeface="Calibri"/>
              </a:rPr>
              <a:t>False alarms eliminated</a:t>
            </a:r>
          </a:p>
        </p:txBody>
      </p:sp>
      <p:sp>
        <p:nvSpPr>
          <p:cNvPr id="11" name="TextBox 10"/>
          <p:cNvSpPr txBox="1"/>
          <p:nvPr/>
        </p:nvSpPr>
        <p:spPr>
          <a:xfrm>
            <a:off x="6400800" y="5440680"/>
            <a:ext cx="5486400" cy="548640"/>
          </a:xfrm>
          <a:prstGeom prst="rect">
            <a:avLst/>
          </a:prstGeom>
          <a:noFill/>
        </p:spPr>
        <p:txBody>
          <a:bodyPr wrap="square" lIns="25400" rIns="25400" tIns="25400" bIns="25400">
            <a:spAutoFit/>
          </a:bodyPr>
          <a:lstStyle/>
          <a:p>
            <a:pPr algn="ctr"/>
            <a:r>
              <a:rPr sz="3200" b="1" i="0">
                <a:solidFill>
                  <a:srgbClr val="B85042"/>
                </a:solidFill>
                <a:latin typeface="Calibri"/>
              </a:rPr>
              <a:t>100%</a:t>
            </a:r>
          </a:p>
        </p:txBody>
      </p:sp>
      <p:sp>
        <p:nvSpPr>
          <p:cNvPr id="12" name="TextBox 11"/>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13" name="TextBox 12"/>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Confusion matrix: full pipeline</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Two misses on 212 true positives. Zero false alarms on 790 negatives.</a:t>
            </a:r>
          </a:p>
        </p:txBody>
      </p:sp>
      <p:sp>
        <p:nvSpPr>
          <p:cNvPr id="5" name="Rectangle 4"/>
          <p:cNvSpPr/>
          <p:nvPr/>
        </p:nvSpPr>
        <p:spPr>
          <a:xfrm>
            <a:off x="3200400" y="1737360"/>
            <a:ext cx="2377440" cy="1280160"/>
          </a:xfrm>
          <a:prstGeom prst="rect">
            <a:avLst/>
          </a:prstGeom>
          <a:solidFill>
            <a:srgbClr val="FFFFFF"/>
          </a:solidFill>
          <a:ln w="63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60720" y="1737360"/>
            <a:ext cx="2377440" cy="1280160"/>
          </a:xfrm>
          <a:prstGeom prst="rect">
            <a:avLst/>
          </a:prstGeom>
          <a:solidFill>
            <a:srgbClr val="EAEAEA"/>
          </a:solidFill>
          <a:ln w="63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59" y="1874519"/>
            <a:ext cx="2194560" cy="640080"/>
          </a:xfrm>
          <a:prstGeom prst="rect">
            <a:avLst/>
          </a:prstGeom>
          <a:noFill/>
        </p:spPr>
        <p:txBody>
          <a:bodyPr wrap="none">
            <a:spAutoFit/>
          </a:bodyPr>
          <a:lstStyle/>
          <a:p>
            <a:pPr algn="ctr"/>
            <a:r>
              <a:rPr sz="1400" b="1">
                <a:solidFill>
                  <a:srgbClr val="1E2761"/>
                </a:solidFill>
                <a:latin typeface="Calibri"/>
              </a:rPr>
              <a:t>Predicted FP</a:t>
            </a:r>
          </a:p>
        </p:txBody>
      </p:sp>
      <p:sp>
        <p:nvSpPr>
          <p:cNvPr id="8" name="Rectangle 7"/>
          <p:cNvSpPr/>
          <p:nvPr/>
        </p:nvSpPr>
        <p:spPr>
          <a:xfrm>
            <a:off x="8321040" y="1737360"/>
            <a:ext cx="2377440" cy="1280160"/>
          </a:xfrm>
          <a:prstGeom prst="rect">
            <a:avLst/>
          </a:prstGeom>
          <a:solidFill>
            <a:srgbClr val="EAEAEA"/>
          </a:solidFill>
          <a:ln w="63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874519"/>
            <a:ext cx="2194560" cy="640080"/>
          </a:xfrm>
          <a:prstGeom prst="rect">
            <a:avLst/>
          </a:prstGeom>
          <a:noFill/>
        </p:spPr>
        <p:txBody>
          <a:bodyPr wrap="none">
            <a:spAutoFit/>
          </a:bodyPr>
          <a:lstStyle/>
          <a:p>
            <a:pPr algn="ctr"/>
            <a:r>
              <a:rPr sz="1400" b="1">
                <a:solidFill>
                  <a:srgbClr val="1E2761"/>
                </a:solidFill>
                <a:latin typeface="Calibri"/>
              </a:rPr>
              <a:t>Predicted TP</a:t>
            </a:r>
          </a:p>
        </p:txBody>
      </p:sp>
      <p:sp>
        <p:nvSpPr>
          <p:cNvPr id="10" name="Rectangle 9"/>
          <p:cNvSpPr/>
          <p:nvPr/>
        </p:nvSpPr>
        <p:spPr>
          <a:xfrm>
            <a:off x="3200400" y="2743200"/>
            <a:ext cx="2377440" cy="1280160"/>
          </a:xfrm>
          <a:prstGeom prst="rect">
            <a:avLst/>
          </a:prstGeom>
          <a:solidFill>
            <a:srgbClr val="EAEAEA"/>
          </a:solidFill>
          <a:ln w="63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2880360"/>
            <a:ext cx="2194560" cy="640080"/>
          </a:xfrm>
          <a:prstGeom prst="rect">
            <a:avLst/>
          </a:prstGeom>
          <a:noFill/>
        </p:spPr>
        <p:txBody>
          <a:bodyPr wrap="none">
            <a:spAutoFit/>
          </a:bodyPr>
          <a:lstStyle/>
          <a:p>
            <a:pPr algn="ctr"/>
            <a:r>
              <a:rPr sz="1400" b="1">
                <a:solidFill>
                  <a:srgbClr val="1E2761"/>
                </a:solidFill>
                <a:latin typeface="Calibri"/>
              </a:rPr>
              <a:t>Actual FP</a:t>
            </a:r>
          </a:p>
        </p:txBody>
      </p:sp>
      <p:sp>
        <p:nvSpPr>
          <p:cNvPr id="12" name="TextBox 11"/>
          <p:cNvSpPr txBox="1"/>
          <p:nvPr/>
        </p:nvSpPr>
        <p:spPr>
          <a:xfrm>
            <a:off x="3291840" y="3611880"/>
            <a:ext cx="2194560" cy="365760"/>
          </a:xfrm>
          <a:prstGeom prst="rect">
            <a:avLst/>
          </a:prstGeom>
          <a:noFill/>
        </p:spPr>
        <p:txBody>
          <a:bodyPr wrap="none">
            <a:spAutoFit/>
          </a:bodyPr>
          <a:lstStyle/>
          <a:p>
            <a:pPr algn="ctr"/>
            <a:r>
              <a:rPr sz="1100" i="1">
                <a:solidFill>
                  <a:srgbClr val="4A4A4A"/>
                </a:solidFill>
                <a:latin typeface="Calibri"/>
              </a:rPr>
              <a:t>n = 790</a:t>
            </a:r>
          </a:p>
        </p:txBody>
      </p:sp>
      <p:sp>
        <p:nvSpPr>
          <p:cNvPr id="13" name="Rectangle 12"/>
          <p:cNvSpPr/>
          <p:nvPr/>
        </p:nvSpPr>
        <p:spPr>
          <a:xfrm>
            <a:off x="5760720" y="2743200"/>
            <a:ext cx="2377440" cy="1280160"/>
          </a:xfrm>
          <a:prstGeom prst="rect">
            <a:avLst/>
          </a:prstGeom>
          <a:solidFill>
            <a:srgbClr val="CADCFC"/>
          </a:solidFill>
          <a:ln w="63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59" y="2880360"/>
            <a:ext cx="2194560" cy="640080"/>
          </a:xfrm>
          <a:prstGeom prst="rect">
            <a:avLst/>
          </a:prstGeom>
          <a:noFill/>
        </p:spPr>
        <p:txBody>
          <a:bodyPr wrap="none">
            <a:spAutoFit/>
          </a:bodyPr>
          <a:lstStyle/>
          <a:p>
            <a:pPr algn="ctr"/>
            <a:r>
              <a:rPr sz="3400" b="1">
                <a:solidFill>
                  <a:srgbClr val="1E2761"/>
                </a:solidFill>
                <a:latin typeface="Calibri"/>
              </a:rPr>
              <a:t>790</a:t>
            </a:r>
          </a:p>
        </p:txBody>
      </p:sp>
      <p:sp>
        <p:nvSpPr>
          <p:cNvPr id="15" name="TextBox 14"/>
          <p:cNvSpPr txBox="1"/>
          <p:nvPr/>
        </p:nvSpPr>
        <p:spPr>
          <a:xfrm>
            <a:off x="5852159" y="3611880"/>
            <a:ext cx="2194560" cy="365760"/>
          </a:xfrm>
          <a:prstGeom prst="rect">
            <a:avLst/>
          </a:prstGeom>
          <a:noFill/>
        </p:spPr>
        <p:txBody>
          <a:bodyPr wrap="none">
            <a:spAutoFit/>
          </a:bodyPr>
          <a:lstStyle/>
          <a:p>
            <a:pPr algn="ctr"/>
            <a:r>
              <a:rPr sz="1100" i="1">
                <a:solidFill>
                  <a:srgbClr val="4A4A4A"/>
                </a:solidFill>
                <a:latin typeface="Calibri"/>
              </a:rPr>
              <a:t>true neg.</a:t>
            </a:r>
          </a:p>
        </p:txBody>
      </p:sp>
      <p:sp>
        <p:nvSpPr>
          <p:cNvPr id="16" name="Rectangle 15"/>
          <p:cNvSpPr/>
          <p:nvPr/>
        </p:nvSpPr>
        <p:spPr>
          <a:xfrm>
            <a:off x="8321040" y="2743200"/>
            <a:ext cx="2377440" cy="1280160"/>
          </a:xfrm>
          <a:prstGeom prst="rect">
            <a:avLst/>
          </a:prstGeom>
          <a:solidFill>
            <a:srgbClr val="ECF8EE"/>
          </a:solidFill>
          <a:ln w="63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880360"/>
            <a:ext cx="2194560" cy="640080"/>
          </a:xfrm>
          <a:prstGeom prst="rect">
            <a:avLst/>
          </a:prstGeom>
          <a:noFill/>
        </p:spPr>
        <p:txBody>
          <a:bodyPr wrap="none">
            <a:spAutoFit/>
          </a:bodyPr>
          <a:lstStyle/>
          <a:p>
            <a:pPr algn="ctr"/>
            <a:r>
              <a:rPr sz="3400" b="1">
                <a:solidFill>
                  <a:srgbClr val="2E7D32"/>
                </a:solidFill>
                <a:latin typeface="Calibri"/>
              </a:rPr>
              <a:t>0</a:t>
            </a:r>
          </a:p>
        </p:txBody>
      </p:sp>
      <p:sp>
        <p:nvSpPr>
          <p:cNvPr id="18" name="TextBox 17"/>
          <p:cNvSpPr txBox="1"/>
          <p:nvPr/>
        </p:nvSpPr>
        <p:spPr>
          <a:xfrm>
            <a:off x="8412480" y="3611880"/>
            <a:ext cx="2194560" cy="365760"/>
          </a:xfrm>
          <a:prstGeom prst="rect">
            <a:avLst/>
          </a:prstGeom>
          <a:noFill/>
        </p:spPr>
        <p:txBody>
          <a:bodyPr wrap="none">
            <a:spAutoFit/>
          </a:bodyPr>
          <a:lstStyle/>
          <a:p>
            <a:pPr algn="ctr"/>
            <a:r>
              <a:rPr sz="1100" i="1">
                <a:solidFill>
                  <a:srgbClr val="4A4A4A"/>
                </a:solidFill>
                <a:latin typeface="Calibri"/>
              </a:rPr>
              <a:t>false pos.</a:t>
            </a:r>
          </a:p>
        </p:txBody>
      </p:sp>
      <p:sp>
        <p:nvSpPr>
          <p:cNvPr id="19" name="Rectangle 18"/>
          <p:cNvSpPr/>
          <p:nvPr/>
        </p:nvSpPr>
        <p:spPr>
          <a:xfrm>
            <a:off x="3200400" y="4114800"/>
            <a:ext cx="2377440" cy="1280160"/>
          </a:xfrm>
          <a:prstGeom prst="rect">
            <a:avLst/>
          </a:prstGeom>
          <a:solidFill>
            <a:srgbClr val="EAEAEA"/>
          </a:solidFill>
          <a:ln w="63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0" y="4251960"/>
            <a:ext cx="2194560" cy="640080"/>
          </a:xfrm>
          <a:prstGeom prst="rect">
            <a:avLst/>
          </a:prstGeom>
          <a:noFill/>
        </p:spPr>
        <p:txBody>
          <a:bodyPr wrap="none">
            <a:spAutoFit/>
          </a:bodyPr>
          <a:lstStyle/>
          <a:p>
            <a:pPr algn="ctr"/>
            <a:r>
              <a:rPr sz="1400" b="1">
                <a:solidFill>
                  <a:srgbClr val="1E2761"/>
                </a:solidFill>
                <a:latin typeface="Calibri"/>
              </a:rPr>
              <a:t>Actual TP</a:t>
            </a:r>
          </a:p>
        </p:txBody>
      </p:sp>
      <p:sp>
        <p:nvSpPr>
          <p:cNvPr id="21" name="TextBox 20"/>
          <p:cNvSpPr txBox="1"/>
          <p:nvPr/>
        </p:nvSpPr>
        <p:spPr>
          <a:xfrm>
            <a:off x="3291840" y="4983480"/>
            <a:ext cx="2194560" cy="365760"/>
          </a:xfrm>
          <a:prstGeom prst="rect">
            <a:avLst/>
          </a:prstGeom>
          <a:noFill/>
        </p:spPr>
        <p:txBody>
          <a:bodyPr wrap="none">
            <a:spAutoFit/>
          </a:bodyPr>
          <a:lstStyle/>
          <a:p>
            <a:pPr algn="ctr"/>
            <a:r>
              <a:rPr sz="1100" i="1">
                <a:solidFill>
                  <a:srgbClr val="4A4A4A"/>
                </a:solidFill>
                <a:latin typeface="Calibri"/>
              </a:rPr>
              <a:t>n = 212</a:t>
            </a:r>
          </a:p>
        </p:txBody>
      </p:sp>
      <p:sp>
        <p:nvSpPr>
          <p:cNvPr id="22" name="Rectangle 21"/>
          <p:cNvSpPr/>
          <p:nvPr/>
        </p:nvSpPr>
        <p:spPr>
          <a:xfrm>
            <a:off x="5760720" y="4114800"/>
            <a:ext cx="2377440" cy="1280160"/>
          </a:xfrm>
          <a:prstGeom prst="rect">
            <a:avLst/>
          </a:prstGeom>
          <a:solidFill>
            <a:srgbClr val="FDE7E7"/>
          </a:solidFill>
          <a:ln w="63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59" y="4251960"/>
            <a:ext cx="2194560" cy="640080"/>
          </a:xfrm>
          <a:prstGeom prst="rect">
            <a:avLst/>
          </a:prstGeom>
          <a:noFill/>
        </p:spPr>
        <p:txBody>
          <a:bodyPr wrap="none">
            <a:spAutoFit/>
          </a:bodyPr>
          <a:lstStyle/>
          <a:p>
            <a:pPr algn="ctr"/>
            <a:r>
              <a:rPr sz="3400" b="1">
                <a:solidFill>
                  <a:srgbClr val="B71C1C"/>
                </a:solidFill>
                <a:latin typeface="Calibri"/>
              </a:rPr>
              <a:t>2</a:t>
            </a:r>
          </a:p>
        </p:txBody>
      </p:sp>
      <p:sp>
        <p:nvSpPr>
          <p:cNvPr id="24" name="TextBox 23"/>
          <p:cNvSpPr txBox="1"/>
          <p:nvPr/>
        </p:nvSpPr>
        <p:spPr>
          <a:xfrm>
            <a:off x="5852159" y="4983480"/>
            <a:ext cx="2194560" cy="365760"/>
          </a:xfrm>
          <a:prstGeom prst="rect">
            <a:avLst/>
          </a:prstGeom>
          <a:noFill/>
        </p:spPr>
        <p:txBody>
          <a:bodyPr wrap="none">
            <a:spAutoFit/>
          </a:bodyPr>
          <a:lstStyle/>
          <a:p>
            <a:pPr algn="ctr"/>
            <a:r>
              <a:rPr sz="1100" i="1">
                <a:solidFill>
                  <a:srgbClr val="4A4A4A"/>
                </a:solidFill>
                <a:latin typeface="Calibri"/>
              </a:rPr>
              <a:t>false neg.</a:t>
            </a:r>
          </a:p>
        </p:txBody>
      </p:sp>
      <p:sp>
        <p:nvSpPr>
          <p:cNvPr id="25" name="Rectangle 24"/>
          <p:cNvSpPr/>
          <p:nvPr/>
        </p:nvSpPr>
        <p:spPr>
          <a:xfrm>
            <a:off x="8321040" y="4114800"/>
            <a:ext cx="2377440" cy="1280160"/>
          </a:xfrm>
          <a:prstGeom prst="rect">
            <a:avLst/>
          </a:prstGeom>
          <a:solidFill>
            <a:srgbClr val="CADCFC"/>
          </a:solidFill>
          <a:ln w="6350">
            <a:solidFill>
              <a:srgbClr val="4A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4251960"/>
            <a:ext cx="2194560" cy="640080"/>
          </a:xfrm>
          <a:prstGeom prst="rect">
            <a:avLst/>
          </a:prstGeom>
          <a:noFill/>
        </p:spPr>
        <p:txBody>
          <a:bodyPr wrap="none">
            <a:spAutoFit/>
          </a:bodyPr>
          <a:lstStyle/>
          <a:p>
            <a:pPr algn="ctr"/>
            <a:r>
              <a:rPr sz="3400" b="1">
                <a:solidFill>
                  <a:srgbClr val="1E2761"/>
                </a:solidFill>
                <a:latin typeface="Calibri"/>
              </a:rPr>
              <a:t>210</a:t>
            </a:r>
          </a:p>
        </p:txBody>
      </p:sp>
      <p:sp>
        <p:nvSpPr>
          <p:cNvPr id="27" name="TextBox 26"/>
          <p:cNvSpPr txBox="1"/>
          <p:nvPr/>
        </p:nvSpPr>
        <p:spPr>
          <a:xfrm>
            <a:off x="8412480" y="4983480"/>
            <a:ext cx="2194560" cy="365760"/>
          </a:xfrm>
          <a:prstGeom prst="rect">
            <a:avLst/>
          </a:prstGeom>
          <a:noFill/>
        </p:spPr>
        <p:txBody>
          <a:bodyPr wrap="none">
            <a:spAutoFit/>
          </a:bodyPr>
          <a:lstStyle/>
          <a:p>
            <a:pPr algn="ctr"/>
            <a:r>
              <a:rPr sz="1100" i="1">
                <a:solidFill>
                  <a:srgbClr val="4A4A4A"/>
                </a:solidFill>
                <a:latin typeface="Calibri"/>
              </a:rPr>
              <a:t>true pos.</a:t>
            </a:r>
          </a:p>
        </p:txBody>
      </p:sp>
      <p:sp>
        <p:nvSpPr>
          <p:cNvPr id="28" name="TextBox 27"/>
          <p:cNvSpPr txBox="1"/>
          <p:nvPr/>
        </p:nvSpPr>
        <p:spPr>
          <a:xfrm>
            <a:off x="548640" y="5760720"/>
            <a:ext cx="10972800" cy="457200"/>
          </a:xfrm>
          <a:prstGeom prst="rect">
            <a:avLst/>
          </a:prstGeom>
          <a:noFill/>
        </p:spPr>
        <p:txBody>
          <a:bodyPr wrap="square" lIns="25400" rIns="25400" tIns="25400" bIns="25400">
            <a:spAutoFit/>
          </a:bodyPr>
          <a:lstStyle/>
          <a:p>
            <a:pPr algn="l"/>
            <a:r>
              <a:rPr sz="1200" b="0" i="1">
                <a:solidFill>
                  <a:srgbClr val="B85042"/>
                </a:solidFill>
                <a:latin typeface="Calibri"/>
              </a:rPr>
              <a:t>Recall 0.991, precision 1.000, F1 0.995. Trading one false alarm against one missed exploit is the wrong tradeoff in security.</a:t>
            </a:r>
          </a:p>
        </p:txBody>
      </p:sp>
      <p:sp>
        <p:nvSpPr>
          <p:cNvPr id="29" name="TextBox 28"/>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30" name="TextBox 29"/>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What worked, and what did not</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Honest accounting before any production claim.</a:t>
            </a:r>
          </a:p>
        </p:txBody>
      </p:sp>
      <p:sp>
        <p:nvSpPr>
          <p:cNvPr id="5" name="Rounded Rectangle 4"/>
          <p:cNvSpPr/>
          <p:nvPr/>
        </p:nvSpPr>
        <p:spPr>
          <a:xfrm>
            <a:off x="548640" y="1554480"/>
            <a:ext cx="5486400" cy="4114800"/>
          </a:xfrm>
          <a:prstGeom prst="roundRect">
            <a:avLst/>
          </a:prstGeom>
          <a:solidFill>
            <a:srgbClr val="ECF8EE"/>
          </a:solidFill>
          <a:ln w="9525">
            <a:solidFill>
              <a:srgbClr val="4CAF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91640"/>
            <a:ext cx="5029200" cy="365760"/>
          </a:xfrm>
          <a:prstGeom prst="rect">
            <a:avLst/>
          </a:prstGeom>
          <a:noFill/>
        </p:spPr>
        <p:txBody>
          <a:bodyPr wrap="square" lIns="25400" rIns="25400" tIns="25400" bIns="25400">
            <a:spAutoFit/>
          </a:bodyPr>
          <a:lstStyle/>
          <a:p>
            <a:pPr algn="l"/>
            <a:r>
              <a:rPr sz="1600" b="1" i="0">
                <a:solidFill>
                  <a:srgbClr val="2E7D32"/>
                </a:solidFill>
                <a:latin typeface="Calibri"/>
              </a:rPr>
              <a:t>Worked</a:t>
            </a:r>
          </a:p>
        </p:txBody>
      </p:sp>
      <p:sp>
        <p:nvSpPr>
          <p:cNvPr id="7" name="TextBox 6"/>
          <p:cNvSpPr txBox="1"/>
          <p:nvPr/>
        </p:nvSpPr>
        <p:spPr>
          <a:xfrm>
            <a:off x="777240" y="2148840"/>
            <a:ext cx="5029200" cy="3474720"/>
          </a:xfrm>
          <a:prstGeom prst="rect">
            <a:avLst/>
          </a:prstGeom>
          <a:noFill/>
        </p:spPr>
        <p:txBody>
          <a:bodyPr wrap="square" lIns="25400" rIns="25400">
            <a:spAutoFit/>
          </a:bodyPr>
          <a:lstStyle/>
          <a:p>
            <a:pPr algn="l">
              <a:spcAft>
                <a:spcPts val="600"/>
              </a:spcAft>
            </a:pPr>
            <a:r>
              <a:rPr sz="1200">
                <a:solidFill>
                  <a:srgbClr val="4A4A4A"/>
                </a:solidFill>
                <a:latin typeface="Calibri"/>
              </a:rPr>
              <a:t>•  Reproducible from a fresh Colab session in around 5 minutes.</a:t>
            </a:r>
          </a:p>
          <a:p>
            <a:pPr algn="l">
              <a:spcAft>
                <a:spcPts val="600"/>
              </a:spcAft>
            </a:pPr>
            <a:r>
              <a:rPr sz="1200">
                <a:solidFill>
                  <a:srgbClr val="4A4A4A"/>
                </a:solidFill>
                <a:latin typeface="Calibri"/>
              </a:rPr>
              <a:t>•  Static call graph correctly distinguishes the SAFE and VULN lodash apps.</a:t>
            </a:r>
          </a:p>
          <a:p>
            <a:pPr algn="l">
              <a:spcAft>
                <a:spcPts val="600"/>
              </a:spcAft>
            </a:pPr>
            <a:r>
              <a:rPr sz="1200">
                <a:solidFill>
                  <a:srgbClr val="4A4A4A"/>
                </a:solidFill>
                <a:latin typeface="Calibri"/>
              </a:rPr>
              <a:t>•  0.42-point F1 lift over RoBERTa alone matches the project hypothesis.</a:t>
            </a:r>
          </a:p>
          <a:p>
            <a:pPr algn="l">
              <a:spcAft>
                <a:spcPts val="600"/>
              </a:spcAft>
            </a:pPr>
            <a:r>
              <a:rPr sz="1200">
                <a:solidFill>
                  <a:srgbClr val="4A4A4A"/>
                </a:solidFill>
                <a:latin typeface="Calibri"/>
              </a:rPr>
              <a:t>•  FAISS fallback gives a 3.5x similarity gap between vulnerable and safe code.</a:t>
            </a:r>
          </a:p>
          <a:p>
            <a:pPr algn="l">
              <a:spcAft>
                <a:spcPts val="600"/>
              </a:spcAft>
            </a:pPr>
            <a:r>
              <a:rPr sz="1200">
                <a:solidFill>
                  <a:srgbClr val="4A4A4A"/>
                </a:solidFill>
                <a:latin typeface="Calibri"/>
              </a:rPr>
              <a:t>•  15 unit tests, CI-friendly module layout, pip-installable package.</a:t>
            </a:r>
          </a:p>
        </p:txBody>
      </p:sp>
      <p:sp>
        <p:nvSpPr>
          <p:cNvPr id="8" name="Rounded Rectangle 7"/>
          <p:cNvSpPr/>
          <p:nvPr/>
        </p:nvSpPr>
        <p:spPr>
          <a:xfrm>
            <a:off x="6400800" y="1554480"/>
            <a:ext cx="5486400" cy="4114800"/>
          </a:xfrm>
          <a:prstGeom prst="roundRect">
            <a:avLst/>
          </a:prstGeom>
          <a:solidFill>
            <a:srgbClr val="FDE7E7"/>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1691640"/>
            <a:ext cx="5029200" cy="365760"/>
          </a:xfrm>
          <a:prstGeom prst="rect">
            <a:avLst/>
          </a:prstGeom>
          <a:noFill/>
        </p:spPr>
        <p:txBody>
          <a:bodyPr wrap="square" lIns="25400" rIns="25400" tIns="25400" bIns="25400">
            <a:spAutoFit/>
          </a:bodyPr>
          <a:lstStyle/>
          <a:p>
            <a:pPr algn="l"/>
            <a:r>
              <a:rPr sz="1600" b="1" i="0">
                <a:solidFill>
                  <a:srgbClr val="B71C1C"/>
                </a:solidFill>
                <a:latin typeface="Calibri"/>
              </a:rPr>
              <a:t>Did not work / limitations</a:t>
            </a:r>
          </a:p>
        </p:txBody>
      </p:sp>
      <p:sp>
        <p:nvSpPr>
          <p:cNvPr id="10" name="TextBox 9"/>
          <p:cNvSpPr txBox="1"/>
          <p:nvPr/>
        </p:nvSpPr>
        <p:spPr>
          <a:xfrm>
            <a:off x="6629400" y="2148840"/>
            <a:ext cx="5029200" cy="3474720"/>
          </a:xfrm>
          <a:prstGeom prst="rect">
            <a:avLst/>
          </a:prstGeom>
          <a:noFill/>
        </p:spPr>
        <p:txBody>
          <a:bodyPr wrap="square" lIns="25400" rIns="25400">
            <a:spAutoFit/>
          </a:bodyPr>
          <a:lstStyle/>
          <a:p>
            <a:pPr algn="l">
              <a:spcAft>
                <a:spcPts val="600"/>
              </a:spcAft>
            </a:pPr>
            <a:r>
              <a:rPr sz="1200">
                <a:solidFill>
                  <a:srgbClr val="4A4A4A"/>
                </a:solidFill>
                <a:latin typeface="Calibri"/>
              </a:rPr>
              <a:t>•  Flan-T5-large returned the wrong verdict on the VULN lodash app.</a:t>
            </a:r>
          </a:p>
          <a:p>
            <a:pPr algn="l">
              <a:spcAft>
                <a:spcPts val="600"/>
              </a:spcAft>
            </a:pPr>
            <a:r>
              <a:rPr sz="1200">
                <a:solidFill>
                  <a:srgbClr val="4A4A4A"/>
                </a:solidFill>
                <a:latin typeface="Calibri"/>
              </a:rPr>
              <a:t>•  0.995 F1 is an upper bound. Training reachability features are synthesised with 15% noise.</a:t>
            </a:r>
          </a:p>
          <a:p>
            <a:pPr algn="l">
              <a:spcAft>
                <a:spcPts val="600"/>
              </a:spcAft>
            </a:pPr>
            <a:r>
              <a:rPr sz="1200">
                <a:solidFill>
                  <a:srgbClr val="4A4A4A"/>
                </a:solidFill>
                <a:latin typeface="Calibri"/>
              </a:rPr>
              <a:t>•  Regex JS parser misses dynamic dispatch and eval (around 85-90% coverage).</a:t>
            </a:r>
          </a:p>
          <a:p>
            <a:pPr algn="l">
              <a:spcAft>
                <a:spcPts val="600"/>
              </a:spcAft>
            </a:pPr>
            <a:r>
              <a:rPr sz="1200">
                <a:solidFill>
                  <a:srgbClr val="4A4A4A"/>
                </a:solidFill>
                <a:latin typeface="Calibri"/>
              </a:rPr>
              <a:t>•  VULN_SYMBOL_MAP covers 10 CVEs. Production needs roughly 10K.</a:t>
            </a:r>
          </a:p>
          <a:p>
            <a:pPr algn="l">
              <a:spcAft>
                <a:spcPts val="600"/>
              </a:spcAft>
            </a:pPr>
            <a:r>
              <a:rPr sz="1200">
                <a:solidFill>
                  <a:srgbClr val="4A4A4A"/>
                </a:solidFill>
                <a:latin typeface="Calibri"/>
              </a:rPr>
              <a:t>•  Proxy label correlates with EPSS, which inflates the EPSS-rule ceiling.</a:t>
            </a:r>
          </a:p>
        </p:txBody>
      </p:sp>
      <p:sp>
        <p:nvSpPr>
          <p:cNvPr id="11" name="TextBox 10"/>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12" name="TextBox 11"/>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Future work: concrete next steps</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Each item maps to a specific limitation from the previous slide.</a:t>
            </a:r>
          </a:p>
        </p:txBody>
      </p:sp>
      <p:sp>
        <p:nvSpPr>
          <p:cNvPr id="5" name="Oval 4"/>
          <p:cNvSpPr/>
          <p:nvPr/>
        </p:nvSpPr>
        <p:spPr>
          <a:xfrm>
            <a:off x="594360" y="1600200"/>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1</a:t>
            </a:r>
          </a:p>
        </p:txBody>
      </p:sp>
      <p:sp>
        <p:nvSpPr>
          <p:cNvPr id="6" name="TextBox 5"/>
          <p:cNvSpPr txBox="1"/>
          <p:nvPr/>
        </p:nvSpPr>
        <p:spPr>
          <a:xfrm>
            <a:off x="1051560" y="1554480"/>
            <a:ext cx="10972800" cy="365760"/>
          </a:xfrm>
          <a:prstGeom prst="rect">
            <a:avLst/>
          </a:prstGeom>
          <a:noFill/>
        </p:spPr>
        <p:txBody>
          <a:bodyPr wrap="square" lIns="25400" rIns="25400" tIns="25400" bIns="25400">
            <a:spAutoFit/>
          </a:bodyPr>
          <a:lstStyle/>
          <a:p>
            <a:pPr algn="l"/>
            <a:r>
              <a:rPr sz="1300" b="1" i="0">
                <a:solidFill>
                  <a:srgbClr val="1E2761"/>
                </a:solidFill>
                <a:latin typeface="Calibri"/>
              </a:rPr>
              <a:t>Replace the regex JS parser with tree-sitter</a:t>
            </a:r>
          </a:p>
        </p:txBody>
      </p:sp>
      <p:sp>
        <p:nvSpPr>
          <p:cNvPr id="7" name="TextBox 6"/>
          <p:cNvSpPr txBox="1"/>
          <p:nvPr/>
        </p:nvSpPr>
        <p:spPr>
          <a:xfrm>
            <a:off x="1051560" y="1874519"/>
            <a:ext cx="10972800" cy="365760"/>
          </a:xfrm>
          <a:prstGeom prst="rect">
            <a:avLst/>
          </a:prstGeom>
          <a:noFill/>
        </p:spPr>
        <p:txBody>
          <a:bodyPr wrap="square" lIns="25400" rIns="25400" tIns="25400" bIns="25400">
            <a:spAutoFit/>
          </a:bodyPr>
          <a:lstStyle/>
          <a:p>
            <a:pPr algn="l"/>
            <a:r>
              <a:rPr sz="1100" b="0" i="1">
                <a:solidFill>
                  <a:srgbClr val="4A4A4A"/>
                </a:solidFill>
                <a:latin typeface="Calibri"/>
              </a:rPr>
              <a:t>AST-level accuracy closes the dynamic-dispatch and TypeScript-generics gaps.</a:t>
            </a:r>
          </a:p>
        </p:txBody>
      </p:sp>
      <p:sp>
        <p:nvSpPr>
          <p:cNvPr id="8" name="Oval 7"/>
          <p:cNvSpPr/>
          <p:nvPr/>
        </p:nvSpPr>
        <p:spPr>
          <a:xfrm>
            <a:off x="594360" y="23500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2</a:t>
            </a:r>
          </a:p>
        </p:txBody>
      </p:sp>
      <p:sp>
        <p:nvSpPr>
          <p:cNvPr id="9" name="TextBox 8"/>
          <p:cNvSpPr txBox="1"/>
          <p:nvPr/>
        </p:nvSpPr>
        <p:spPr>
          <a:xfrm>
            <a:off x="1051560" y="2304288"/>
            <a:ext cx="10972800" cy="365760"/>
          </a:xfrm>
          <a:prstGeom prst="rect">
            <a:avLst/>
          </a:prstGeom>
          <a:noFill/>
        </p:spPr>
        <p:txBody>
          <a:bodyPr wrap="square" lIns="25400" rIns="25400" tIns="25400" bIns="25400">
            <a:spAutoFit/>
          </a:bodyPr>
          <a:lstStyle/>
          <a:p>
            <a:pPr algn="l"/>
            <a:r>
              <a:rPr sz="1300" b="1" i="0">
                <a:solidFill>
                  <a:srgbClr val="1E2761"/>
                </a:solidFill>
                <a:latin typeface="Calibri"/>
              </a:rPr>
              <a:t>Swap Flan-T5-large for Qwen-2.5-Coder-7B or Llama-3-8B-Instruct</a:t>
            </a:r>
          </a:p>
        </p:txBody>
      </p:sp>
      <p:sp>
        <p:nvSpPr>
          <p:cNvPr id="10" name="TextBox 9"/>
          <p:cNvSpPr txBox="1"/>
          <p:nvPr/>
        </p:nvSpPr>
        <p:spPr>
          <a:xfrm>
            <a:off x="1051560" y="2624328"/>
            <a:ext cx="10972800" cy="365760"/>
          </a:xfrm>
          <a:prstGeom prst="rect">
            <a:avLst/>
          </a:prstGeom>
          <a:noFill/>
        </p:spPr>
        <p:txBody>
          <a:bodyPr wrap="square" lIns="25400" rIns="25400" tIns="25400" bIns="25400">
            <a:spAutoFit/>
          </a:bodyPr>
          <a:lstStyle/>
          <a:p>
            <a:pPr algn="l"/>
            <a:r>
              <a:rPr sz="1100" b="0" i="1">
                <a:solidFill>
                  <a:srgbClr val="4A4A4A"/>
                </a:solidFill>
                <a:latin typeface="Calibri"/>
              </a:rPr>
              <a:t>Larger instruction-tuned models with few-shot taint examples. Direct fix for the VULN lodash miss.</a:t>
            </a:r>
          </a:p>
        </p:txBody>
      </p:sp>
      <p:sp>
        <p:nvSpPr>
          <p:cNvPr id="11" name="Oval 10"/>
          <p:cNvSpPr/>
          <p:nvPr/>
        </p:nvSpPr>
        <p:spPr>
          <a:xfrm>
            <a:off x="594360" y="3099815"/>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3</a:t>
            </a:r>
          </a:p>
        </p:txBody>
      </p:sp>
      <p:sp>
        <p:nvSpPr>
          <p:cNvPr id="12" name="TextBox 11"/>
          <p:cNvSpPr txBox="1"/>
          <p:nvPr/>
        </p:nvSpPr>
        <p:spPr>
          <a:xfrm>
            <a:off x="1051560" y="3054096"/>
            <a:ext cx="10972800" cy="365760"/>
          </a:xfrm>
          <a:prstGeom prst="rect">
            <a:avLst/>
          </a:prstGeom>
          <a:noFill/>
        </p:spPr>
        <p:txBody>
          <a:bodyPr wrap="square" lIns="25400" rIns="25400" tIns="25400" bIns="25400">
            <a:spAutoFit/>
          </a:bodyPr>
          <a:lstStyle/>
          <a:p>
            <a:pPr algn="l"/>
            <a:r>
              <a:rPr sz="1300" b="1" i="0">
                <a:solidFill>
                  <a:srgbClr val="1E2761"/>
                </a:solidFill>
                <a:latin typeface="Calibri"/>
              </a:rPr>
              <a:t>Add lightweight static taint analysis</a:t>
            </a:r>
          </a:p>
        </p:txBody>
      </p:sp>
      <p:sp>
        <p:nvSpPr>
          <p:cNvPr id="13" name="TextBox 12"/>
          <p:cNvSpPr txBox="1"/>
          <p:nvPr/>
        </p:nvSpPr>
        <p:spPr>
          <a:xfrm>
            <a:off x="1051560" y="3374136"/>
            <a:ext cx="10972800" cy="365760"/>
          </a:xfrm>
          <a:prstGeom prst="rect">
            <a:avLst/>
          </a:prstGeom>
          <a:noFill/>
        </p:spPr>
        <p:txBody>
          <a:bodyPr wrap="square" lIns="25400" rIns="25400" tIns="25400" bIns="25400">
            <a:spAutoFit/>
          </a:bodyPr>
          <a:lstStyle/>
          <a:p>
            <a:pPr algn="l"/>
            <a:r>
              <a:rPr sz="1100" b="0" i="1">
                <a:solidFill>
                  <a:srgbClr val="4A4A4A"/>
                </a:solidFill>
                <a:latin typeface="Calibri"/>
              </a:rPr>
              <a:t>Track sources (req.query, req.body, env) to sinks (exec, eval, template sourceURL). Removes the LLM dependency for easy taint cases.</a:t>
            </a:r>
          </a:p>
        </p:txBody>
      </p:sp>
      <p:sp>
        <p:nvSpPr>
          <p:cNvPr id="14" name="Oval 13"/>
          <p:cNvSpPr/>
          <p:nvPr/>
        </p:nvSpPr>
        <p:spPr>
          <a:xfrm>
            <a:off x="594360" y="3849624"/>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4</a:t>
            </a:r>
          </a:p>
        </p:txBody>
      </p:sp>
      <p:sp>
        <p:nvSpPr>
          <p:cNvPr id="15" name="TextBox 14"/>
          <p:cNvSpPr txBox="1"/>
          <p:nvPr/>
        </p:nvSpPr>
        <p:spPr>
          <a:xfrm>
            <a:off x="1051560" y="3803904"/>
            <a:ext cx="10972800" cy="365760"/>
          </a:xfrm>
          <a:prstGeom prst="rect">
            <a:avLst/>
          </a:prstGeom>
          <a:noFill/>
        </p:spPr>
        <p:txBody>
          <a:bodyPr wrap="square" lIns="25400" rIns="25400" tIns="25400" bIns="25400">
            <a:spAutoFit/>
          </a:bodyPr>
          <a:lstStyle/>
          <a:p>
            <a:pPr algn="l"/>
            <a:r>
              <a:rPr sz="1300" b="1" i="0">
                <a:solidFill>
                  <a:srgbClr val="1E2761"/>
                </a:solidFill>
                <a:latin typeface="Calibri"/>
              </a:rPr>
              <a:t>Build a real reachability oracle</a:t>
            </a:r>
          </a:p>
        </p:txBody>
      </p:sp>
      <p:sp>
        <p:nvSpPr>
          <p:cNvPr id="16" name="TextBox 15"/>
          <p:cNvSpPr txBox="1"/>
          <p:nvPr/>
        </p:nvSpPr>
        <p:spPr>
          <a:xfrm>
            <a:off x="1051560" y="4123944"/>
            <a:ext cx="10972800" cy="365760"/>
          </a:xfrm>
          <a:prstGeom prst="rect">
            <a:avLst/>
          </a:prstGeom>
          <a:noFill/>
        </p:spPr>
        <p:txBody>
          <a:bodyPr wrap="square" lIns="25400" rIns="25400" tIns="25400" bIns="25400">
            <a:spAutoFit/>
          </a:bodyPr>
          <a:lstStyle/>
          <a:p>
            <a:pPr algn="l"/>
            <a:r>
              <a:rPr sz="1100" b="0" i="1">
                <a:solidFill>
                  <a:srgbClr val="4A4A4A"/>
                </a:solidFill>
                <a:latin typeface="Calibri"/>
              </a:rPr>
              <a:t>Sample 200 to 500 advisories with public patch commits, mine the vulnerable symbol from the diff, label reachability against real consumer repos. Converts the 0.995 upper bound into a deployment number.</a:t>
            </a:r>
          </a:p>
        </p:txBody>
      </p:sp>
      <p:sp>
        <p:nvSpPr>
          <p:cNvPr id="17" name="Oval 16"/>
          <p:cNvSpPr/>
          <p:nvPr/>
        </p:nvSpPr>
        <p:spPr>
          <a:xfrm>
            <a:off x="594360" y="4599431"/>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5</a:t>
            </a:r>
          </a:p>
        </p:txBody>
      </p:sp>
      <p:sp>
        <p:nvSpPr>
          <p:cNvPr id="18" name="TextBox 17"/>
          <p:cNvSpPr txBox="1"/>
          <p:nvPr/>
        </p:nvSpPr>
        <p:spPr>
          <a:xfrm>
            <a:off x="1051560" y="4553712"/>
            <a:ext cx="10972800" cy="365760"/>
          </a:xfrm>
          <a:prstGeom prst="rect">
            <a:avLst/>
          </a:prstGeom>
          <a:noFill/>
        </p:spPr>
        <p:txBody>
          <a:bodyPr wrap="square" lIns="25400" rIns="25400" tIns="25400" bIns="25400">
            <a:spAutoFit/>
          </a:bodyPr>
          <a:lstStyle/>
          <a:p>
            <a:pPr algn="l"/>
            <a:r>
              <a:rPr sz="1300" b="1" i="0">
                <a:solidFill>
                  <a:srgbClr val="1E2761"/>
                </a:solidFill>
                <a:latin typeface="Calibri"/>
              </a:rPr>
              <a:t>Calibrated confidence model</a:t>
            </a:r>
          </a:p>
        </p:txBody>
      </p:sp>
      <p:sp>
        <p:nvSpPr>
          <p:cNvPr id="19" name="TextBox 18"/>
          <p:cNvSpPr txBox="1"/>
          <p:nvPr/>
        </p:nvSpPr>
        <p:spPr>
          <a:xfrm>
            <a:off x="1051560" y="4873751"/>
            <a:ext cx="10972800" cy="365760"/>
          </a:xfrm>
          <a:prstGeom prst="rect">
            <a:avLst/>
          </a:prstGeom>
          <a:noFill/>
        </p:spPr>
        <p:txBody>
          <a:bodyPr wrap="square" lIns="25400" rIns="25400" tIns="25400" bIns="25400">
            <a:spAutoFit/>
          </a:bodyPr>
          <a:lstStyle/>
          <a:p>
            <a:pPr algn="l"/>
            <a:r>
              <a:rPr sz="1100" b="0" i="1">
                <a:solidFill>
                  <a:srgbClr val="4A4A4A"/>
                </a:solidFill>
                <a:latin typeface="Calibri"/>
              </a:rPr>
              <a:t>Return reachable, unreachable, or unknown with thresholded probabilities. Surface only the uncertain band to a human reviewer.</a:t>
            </a:r>
          </a:p>
        </p:txBody>
      </p:sp>
      <p:sp>
        <p:nvSpPr>
          <p:cNvPr id="20" name="Oval 19"/>
          <p:cNvSpPr/>
          <p:nvPr/>
        </p:nvSpPr>
        <p:spPr>
          <a:xfrm>
            <a:off x="594360" y="5349240"/>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6</a:t>
            </a:r>
          </a:p>
        </p:txBody>
      </p:sp>
      <p:sp>
        <p:nvSpPr>
          <p:cNvPr id="21" name="TextBox 20"/>
          <p:cNvSpPr txBox="1"/>
          <p:nvPr/>
        </p:nvSpPr>
        <p:spPr>
          <a:xfrm>
            <a:off x="1051560" y="5303520"/>
            <a:ext cx="10972800" cy="365760"/>
          </a:xfrm>
          <a:prstGeom prst="rect">
            <a:avLst/>
          </a:prstGeom>
          <a:noFill/>
        </p:spPr>
        <p:txBody>
          <a:bodyPr wrap="square" lIns="25400" rIns="25400" tIns="25400" bIns="25400">
            <a:spAutoFit/>
          </a:bodyPr>
          <a:lstStyle/>
          <a:p>
            <a:pPr algn="l"/>
            <a:r>
              <a:rPr sz="1300" b="1" i="0">
                <a:solidFill>
                  <a:srgbClr val="1E2761"/>
                </a:solidFill>
                <a:latin typeface="Calibri"/>
              </a:rPr>
              <a:t>LLM-extracted symbol map for 10K+ CVEs</a:t>
            </a:r>
          </a:p>
        </p:txBody>
      </p:sp>
      <p:sp>
        <p:nvSpPr>
          <p:cNvPr id="22" name="TextBox 21"/>
          <p:cNvSpPr txBox="1"/>
          <p:nvPr/>
        </p:nvSpPr>
        <p:spPr>
          <a:xfrm>
            <a:off x="1051560" y="5623559"/>
            <a:ext cx="10972800" cy="365760"/>
          </a:xfrm>
          <a:prstGeom prst="rect">
            <a:avLst/>
          </a:prstGeom>
          <a:noFill/>
        </p:spPr>
        <p:txBody>
          <a:bodyPr wrap="square" lIns="25400" rIns="25400" tIns="25400" bIns="25400">
            <a:spAutoFit/>
          </a:bodyPr>
          <a:lstStyle/>
          <a:p>
            <a:pPr algn="l"/>
            <a:r>
              <a:rPr sz="1100" b="0" i="1">
                <a:solidFill>
                  <a:srgbClr val="4A4A4A"/>
                </a:solidFill>
                <a:latin typeface="Calibri"/>
              </a:rPr>
              <a:t>Prompt for the vulnerable symbol from each patch diff, cache, manually review the low-confidence extractions.</a:t>
            </a:r>
          </a:p>
        </p:txBody>
      </p:sp>
      <p:sp>
        <p:nvSpPr>
          <p:cNvPr id="23" name="TextBox 22"/>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24" name="TextBox 23"/>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4864"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11247120" cy="640080"/>
          </a:xfrm>
          <a:prstGeom prst="rect">
            <a:avLst/>
          </a:prstGeom>
          <a:noFill/>
        </p:spPr>
        <p:txBody>
          <a:bodyPr wrap="none">
            <a:spAutoFit/>
          </a:bodyPr>
          <a:lstStyle/>
          <a:p>
            <a:pPr algn="l"/>
            <a:r>
              <a:rPr sz="3000" b="1">
                <a:solidFill>
                  <a:srgbClr val="1E2761"/>
                </a:solidFill>
                <a:latin typeface="Calibri"/>
              </a:rPr>
              <a:t>Reproducibility: clone, run, get the same numbers</a:t>
            </a:r>
          </a:p>
        </p:txBody>
      </p:sp>
      <p:sp>
        <p:nvSpPr>
          <p:cNvPr id="4" name="TextBox 3"/>
          <p:cNvSpPr txBox="1"/>
          <p:nvPr/>
        </p:nvSpPr>
        <p:spPr>
          <a:xfrm>
            <a:off x="457200" y="960120"/>
            <a:ext cx="11247120" cy="365760"/>
          </a:xfrm>
          <a:prstGeom prst="rect">
            <a:avLst/>
          </a:prstGeom>
          <a:noFill/>
        </p:spPr>
        <p:txBody>
          <a:bodyPr wrap="none">
            <a:spAutoFit/>
          </a:bodyPr>
          <a:lstStyle/>
          <a:p>
            <a:pPr algn="l"/>
            <a:r>
              <a:rPr sz="1400" i="1">
                <a:solidFill>
                  <a:srgbClr val="B85042"/>
                </a:solidFill>
                <a:latin typeface="Calibri"/>
              </a:rPr>
              <a:t>All code public. All datasets public. All seeds fixed.</a:t>
            </a:r>
          </a:p>
        </p:txBody>
      </p:sp>
      <p:sp>
        <p:nvSpPr>
          <p:cNvPr id="5" name="TextBox 4"/>
          <p:cNvSpPr txBox="1"/>
          <p:nvPr/>
        </p:nvSpPr>
        <p:spPr>
          <a:xfrm>
            <a:off x="548640" y="1554480"/>
            <a:ext cx="10972800" cy="365760"/>
          </a:xfrm>
          <a:prstGeom prst="rect">
            <a:avLst/>
          </a:prstGeom>
          <a:noFill/>
        </p:spPr>
        <p:txBody>
          <a:bodyPr wrap="square" lIns="25400" rIns="25400" tIns="25400" bIns="25400">
            <a:spAutoFit/>
          </a:bodyPr>
          <a:lstStyle/>
          <a:p>
            <a:pPr algn="l"/>
            <a:r>
              <a:rPr sz="1300" b="1" i="0">
                <a:solidFill>
                  <a:srgbClr val="1E2761"/>
                </a:solidFill>
                <a:latin typeface="Calibri"/>
              </a:rPr>
              <a:t>Option A, Google Colab (recommended)</a:t>
            </a:r>
          </a:p>
        </p:txBody>
      </p:sp>
      <p:sp>
        <p:nvSpPr>
          <p:cNvPr id="6" name="Rectangle 5"/>
          <p:cNvSpPr/>
          <p:nvPr/>
        </p:nvSpPr>
        <p:spPr>
          <a:xfrm>
            <a:off x="548640" y="1965960"/>
            <a:ext cx="11338560" cy="86868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57400"/>
            <a:ext cx="11064240" cy="685800"/>
          </a:xfrm>
          <a:prstGeom prst="rect">
            <a:avLst/>
          </a:prstGeom>
          <a:noFill/>
        </p:spPr>
        <p:txBody>
          <a:bodyPr wrap="square">
            <a:spAutoFit/>
          </a:bodyPr>
          <a:lstStyle/>
          <a:p>
            <a:pPr algn="l">
              <a:spcAft>
                <a:spcPts val="0"/>
              </a:spcAft>
            </a:pPr>
            <a:r>
              <a:rPr sz="1000">
                <a:solidFill>
                  <a:srgbClr val="FFFFFF"/>
                </a:solidFill>
                <a:latin typeface="Consolas"/>
              </a:rPr>
              <a:t>1. Open notebooks/FalsePositive_SupplyChain_Honey.ipynb via the GitHub badge</a:t>
            </a:r>
          </a:p>
          <a:p>
            <a:pPr algn="l">
              <a:spcAft>
                <a:spcPts val="0"/>
              </a:spcAft>
            </a:pPr>
            <a:r>
              <a:rPr sz="1000">
                <a:solidFill>
                  <a:srgbClr val="FFFFFF"/>
                </a:solidFill>
                <a:latin typeface="Consolas"/>
              </a:rPr>
              <a:t>2. Runtime &gt; Change runtime type &gt; A100 GPU</a:t>
            </a:r>
          </a:p>
          <a:p>
            <a:pPr algn="l">
              <a:spcAft>
                <a:spcPts val="0"/>
              </a:spcAft>
            </a:pPr>
            <a:r>
              <a:rPr sz="1000">
                <a:solidFill>
                  <a:srgbClr val="FFFFFF"/>
                </a:solidFill>
                <a:latin typeface="Consolas"/>
              </a:rPr>
              <a:t>3. Runtime &gt; Run all  (around 5 min synthetic, around 25 min real on A100)</a:t>
            </a:r>
          </a:p>
        </p:txBody>
      </p:sp>
      <p:sp>
        <p:nvSpPr>
          <p:cNvPr id="8" name="TextBox 7"/>
          <p:cNvSpPr txBox="1"/>
          <p:nvPr/>
        </p:nvSpPr>
        <p:spPr>
          <a:xfrm>
            <a:off x="548640" y="3017520"/>
            <a:ext cx="10972800" cy="365760"/>
          </a:xfrm>
          <a:prstGeom prst="rect">
            <a:avLst/>
          </a:prstGeom>
          <a:noFill/>
        </p:spPr>
        <p:txBody>
          <a:bodyPr wrap="square" lIns="25400" rIns="25400" tIns="25400" bIns="25400">
            <a:spAutoFit/>
          </a:bodyPr>
          <a:lstStyle/>
          <a:p>
            <a:pPr algn="l"/>
            <a:r>
              <a:rPr sz="1300" b="1" i="0">
                <a:solidFill>
                  <a:srgbClr val="1E2761"/>
                </a:solidFill>
                <a:latin typeface="Calibri"/>
              </a:rPr>
              <a:t>Option B, local</a:t>
            </a:r>
          </a:p>
        </p:txBody>
      </p:sp>
      <p:sp>
        <p:nvSpPr>
          <p:cNvPr id="9" name="Rectangle 8"/>
          <p:cNvSpPr/>
          <p:nvPr/>
        </p:nvSpPr>
        <p:spPr>
          <a:xfrm>
            <a:off x="548640" y="3429000"/>
            <a:ext cx="11338560" cy="109728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520440"/>
            <a:ext cx="11064240" cy="914400"/>
          </a:xfrm>
          <a:prstGeom prst="rect">
            <a:avLst/>
          </a:prstGeom>
          <a:noFill/>
        </p:spPr>
        <p:txBody>
          <a:bodyPr wrap="square">
            <a:spAutoFit/>
          </a:bodyPr>
          <a:lstStyle/>
          <a:p>
            <a:pPr algn="l">
              <a:spcAft>
                <a:spcPts val="0"/>
              </a:spcAft>
            </a:pPr>
            <a:r>
              <a:rPr sz="1000">
                <a:solidFill>
                  <a:srgbClr val="FFFFFF"/>
                </a:solidFill>
                <a:latin typeface="Consolas"/>
              </a:rPr>
              <a:t>git clone https://github.com/honeyankit/reachability-llm</a:t>
            </a:r>
          </a:p>
          <a:p>
            <a:pPr algn="l">
              <a:spcAft>
                <a:spcPts val="0"/>
              </a:spcAft>
            </a:pPr>
            <a:r>
              <a:rPr sz="1000">
                <a:solidFill>
                  <a:srgbClr val="FFFFFF"/>
                </a:solidFill>
                <a:latin typeface="Consolas"/>
              </a:rPr>
              <a:t>cd reachability-llm</a:t>
            </a:r>
          </a:p>
          <a:p>
            <a:pPr algn="l">
              <a:spcAft>
                <a:spcPts val="0"/>
              </a:spcAft>
            </a:pPr>
            <a:r>
              <a:rPr sz="1000">
                <a:solidFill>
                  <a:srgbClr val="FFFFFF"/>
                </a:solidFill>
                <a:latin typeface="Consolas"/>
              </a:rPr>
              <a:t>python -m venv .venv &amp;&amp; source .venv/bin/activate</a:t>
            </a:r>
          </a:p>
          <a:p>
            <a:pPr algn="l">
              <a:spcAft>
                <a:spcPts val="0"/>
              </a:spcAft>
            </a:pPr>
            <a:r>
              <a:rPr sz="1000">
                <a:solidFill>
                  <a:srgbClr val="FFFFFF"/>
                </a:solidFill>
                <a:latin typeface="Consolas"/>
              </a:rPr>
              <a:t>pip install -r requirements.txt</a:t>
            </a:r>
          </a:p>
          <a:p>
            <a:pPr algn="l">
              <a:spcAft>
                <a:spcPts val="0"/>
              </a:spcAft>
            </a:pPr>
            <a:r>
              <a:rPr sz="1000">
                <a:solidFill>
                  <a:srgbClr val="FFFFFF"/>
                </a:solidFill>
                <a:latin typeface="Consolas"/>
              </a:rPr>
              <a:t>pytest -q                          # 15 tests, ~3 seconds</a:t>
            </a:r>
          </a:p>
        </p:txBody>
      </p:sp>
      <p:sp>
        <p:nvSpPr>
          <p:cNvPr id="11" name="TextBox 10"/>
          <p:cNvSpPr txBox="1"/>
          <p:nvPr/>
        </p:nvSpPr>
        <p:spPr>
          <a:xfrm>
            <a:off x="548640" y="4754880"/>
            <a:ext cx="10972800" cy="365760"/>
          </a:xfrm>
          <a:prstGeom prst="rect">
            <a:avLst/>
          </a:prstGeom>
          <a:noFill/>
        </p:spPr>
        <p:txBody>
          <a:bodyPr wrap="square" lIns="25400" rIns="25400" tIns="25400" bIns="25400">
            <a:spAutoFit/>
          </a:bodyPr>
          <a:lstStyle/>
          <a:p>
            <a:pPr algn="l"/>
            <a:r>
              <a:rPr sz="1300" b="1" i="0">
                <a:solidFill>
                  <a:srgbClr val="1E2761"/>
                </a:solidFill>
                <a:latin typeface="Calibri"/>
              </a:rPr>
              <a:t>Datasets</a:t>
            </a:r>
          </a:p>
        </p:txBody>
      </p:sp>
      <p:sp>
        <p:nvSpPr>
          <p:cNvPr id="12" name="TextBox 11"/>
          <p:cNvSpPr txBox="1"/>
          <p:nvPr/>
        </p:nvSpPr>
        <p:spPr>
          <a:xfrm>
            <a:off x="548640" y="5074920"/>
            <a:ext cx="11430000" cy="914400"/>
          </a:xfrm>
          <a:prstGeom prst="rect">
            <a:avLst/>
          </a:prstGeom>
          <a:noFill/>
        </p:spPr>
        <p:txBody>
          <a:bodyPr wrap="square" lIns="25400" rIns="25400">
            <a:spAutoFit/>
          </a:bodyPr>
          <a:lstStyle/>
          <a:p>
            <a:pPr algn="l">
              <a:spcAft>
                <a:spcPts val="600"/>
              </a:spcAft>
            </a:pPr>
            <a:r>
              <a:rPr sz="1200">
                <a:solidFill>
                  <a:srgbClr val="4A4A4A"/>
                </a:solidFill>
                <a:latin typeface="Calibri"/>
              </a:rPr>
              <a:t>•  github/advisory-database, shallow-clone (~400 MB), auto-downloaded on first run.</a:t>
            </a:r>
          </a:p>
          <a:p>
            <a:pPr algn="l">
              <a:spcAft>
                <a:spcPts val="600"/>
              </a:spcAft>
            </a:pPr>
            <a:r>
              <a:rPr sz="1200">
                <a:solidFill>
                  <a:srgbClr val="4A4A4A"/>
                </a:solidFill>
                <a:latin typeface="Calibri"/>
              </a:rPr>
              <a:t>•  FIRST EPSS, daily CSV, auto-downloaded. Cached to Drive in Colab.</a:t>
            </a:r>
          </a:p>
        </p:txBody>
      </p:sp>
      <p:sp>
        <p:nvSpPr>
          <p:cNvPr id="13" name="TextBox 12"/>
          <p:cNvSpPr txBox="1"/>
          <p:nvPr/>
        </p:nvSpPr>
        <p:spPr>
          <a:xfrm>
            <a:off x="365760" y="6492240"/>
            <a:ext cx="11460175" cy="274320"/>
          </a:xfrm>
          <a:prstGeom prst="rect">
            <a:avLst/>
          </a:prstGeom>
          <a:noFill/>
        </p:spPr>
        <p:txBody>
          <a:bodyPr wrap="none">
            <a:spAutoFit/>
          </a:bodyPr>
          <a:lstStyle/>
          <a:p>
            <a:pPr algn="l"/>
            <a:r>
              <a:rPr sz="900">
                <a:solidFill>
                  <a:srgbClr val="4A4A4A"/>
                </a:solidFill>
                <a:latin typeface="Calibri"/>
              </a:rPr>
              <a:t>Ankit Kumar Honey  |  CSCI E-222  |  Spring 2026</a:t>
            </a:r>
          </a:p>
        </p:txBody>
      </p:sp>
      <p:sp>
        <p:nvSpPr>
          <p:cNvPr id="14" name="TextBox 13"/>
          <p:cNvSpPr txBox="1"/>
          <p:nvPr/>
        </p:nvSpPr>
        <p:spPr>
          <a:xfrm>
            <a:off x="11277295" y="6492240"/>
            <a:ext cx="731520" cy="274320"/>
          </a:xfrm>
          <a:prstGeom prst="rect">
            <a:avLst/>
          </a:prstGeom>
          <a:noFill/>
        </p:spPr>
        <p:txBody>
          <a:bodyPr wrap="none">
            <a:spAutoFit/>
          </a:bodyPr>
          <a:lstStyle/>
          <a:p>
            <a:pPr algn="r"/>
            <a:r>
              <a:rPr sz="900">
                <a:solidFill>
                  <a:srgbClr val="4A4A4A"/>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11247120" cy="914400"/>
          </a:xfrm>
          <a:prstGeom prst="rect">
            <a:avLst/>
          </a:prstGeom>
          <a:noFill/>
        </p:spPr>
        <p:txBody>
          <a:bodyPr wrap="none">
            <a:spAutoFit/>
          </a:bodyPr>
          <a:lstStyle/>
          <a:p>
            <a:pPr algn="ctr"/>
            <a:r>
              <a:rPr sz="4400" b="1">
                <a:solidFill>
                  <a:srgbClr val="FFFFFF"/>
                </a:solidFill>
                <a:latin typeface="Calibri"/>
              </a:rPr>
              <a:t>Video Presentation</a:t>
            </a:r>
          </a:p>
        </p:txBody>
      </p:sp>
      <p:sp>
        <p:nvSpPr>
          <p:cNvPr id="4" name="TextBox 3"/>
          <p:cNvSpPr txBox="1"/>
          <p:nvPr/>
        </p:nvSpPr>
        <p:spPr>
          <a:xfrm>
            <a:off x="457200" y="2926080"/>
            <a:ext cx="11247120" cy="548640"/>
          </a:xfrm>
          <a:prstGeom prst="rect">
            <a:avLst/>
          </a:prstGeom>
          <a:noFill/>
        </p:spPr>
        <p:txBody>
          <a:bodyPr wrap="none">
            <a:spAutoFit/>
          </a:bodyPr>
          <a:lstStyle/>
          <a:p>
            <a:pPr algn="ctr"/>
            <a:r>
              <a:rPr sz="2000" i="1">
                <a:solidFill>
                  <a:srgbClr val="CADCFC"/>
                </a:solidFill>
                <a:latin typeface="Calibri"/>
              </a:rPr>
              <a:t>Watch the 10-minute walkthrough</a:t>
            </a:r>
          </a:p>
        </p:txBody>
      </p:sp>
      <p:sp>
        <p:nvSpPr>
          <p:cNvPr id="5" name="Rounded Rectangle 4"/>
          <p:cNvSpPr/>
          <p:nvPr/>
        </p:nvSpPr>
        <p:spPr>
          <a:xfrm>
            <a:off x="2286000" y="3931920"/>
            <a:ext cx="7589520" cy="1097280"/>
          </a:xfrm>
          <a:prstGeom prst="roundRect">
            <a:avLst/>
          </a:prstGeom>
          <a:solidFill>
            <a:srgbClr val="FFFFFF"/>
          </a:solidFill>
          <a:ln w="19050">
            <a:solidFill>
              <a:srgbClr val="CAD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4114800"/>
            <a:ext cx="7589520" cy="457200"/>
          </a:xfrm>
          <a:prstGeom prst="rect">
            <a:avLst/>
          </a:prstGeom>
          <a:noFill/>
        </p:spPr>
        <p:txBody>
          <a:bodyPr wrap="none">
            <a:spAutoFit/>
          </a:bodyPr>
          <a:lstStyle/>
          <a:p>
            <a:pPr algn="ctr"/>
            <a:r>
              <a:rPr sz="1400">
                <a:solidFill>
                  <a:srgbClr val="4A4A4A"/>
                </a:solidFill>
                <a:latin typeface="Calibri"/>
              </a:rPr>
              <a:t>Video presentation:</a:t>
            </a:r>
          </a:p>
        </p:txBody>
      </p:sp>
      <p:sp>
        <p:nvSpPr>
          <p:cNvPr id="7" name="TextBox 6"/>
          <p:cNvSpPr txBox="1"/>
          <p:nvPr/>
        </p:nvSpPr>
        <p:spPr>
          <a:xfrm>
            <a:off x="2286000" y="4434840"/>
            <a:ext cx="7589520" cy="502920"/>
          </a:xfrm>
          <a:prstGeom prst="rect">
            <a:avLst/>
          </a:prstGeom>
          <a:noFill/>
        </p:spPr>
        <p:txBody>
          <a:bodyPr wrap="none">
            <a:spAutoFit/>
          </a:bodyPr>
          <a:lstStyle/>
          <a:p>
            <a:pPr algn="ctr"/>
            <a:r>
              <a:rPr sz="1600" b="1">
                <a:solidFill>
                  <a:srgbClr val="1E2761"/>
                </a:solidFill>
                <a:latin typeface="Consolas"/>
              </a:rPr>
              <a:t>https://youtu.be/REPLACE-WITH-YOUR-VIDEO-URL</a:t>
            </a:r>
          </a:p>
        </p:txBody>
      </p:sp>
      <p:sp>
        <p:nvSpPr>
          <p:cNvPr id="8" name="TextBox 7"/>
          <p:cNvSpPr txBox="1"/>
          <p:nvPr/>
        </p:nvSpPr>
        <p:spPr>
          <a:xfrm>
            <a:off x="457200" y="5943600"/>
            <a:ext cx="11247120" cy="365760"/>
          </a:xfrm>
          <a:prstGeom prst="rect">
            <a:avLst/>
          </a:prstGeom>
          <a:noFill/>
        </p:spPr>
        <p:txBody>
          <a:bodyPr wrap="none">
            <a:spAutoFit/>
          </a:bodyPr>
          <a:lstStyle/>
          <a:p>
            <a:pPr algn="ctr"/>
            <a:r>
              <a:rPr sz="1100" i="1">
                <a:solidFill>
                  <a:srgbClr val="CADCFC"/>
                </a:solidFill>
                <a:latin typeface="Calibri"/>
              </a:rPr>
              <a:t>Ankit Kumar Honey  |  CSCI E-222  |  Spring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