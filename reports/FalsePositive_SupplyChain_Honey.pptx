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71" r:id="rId2"/>
    <p:sldId id="272"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4" r:id="rId17"/>
    <p:sldId id="275"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796"/>
    <p:restoredTop sz="80635"/>
  </p:normalViewPr>
  <p:slideViewPr>
    <p:cSldViewPr snapToGrid="0" snapToObjects="1">
      <p:cViewPr varScale="1">
        <p:scale>
          <a:sx n="112" d="100"/>
          <a:sy n="112" d="100"/>
        </p:scale>
        <p:origin x="1528"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1883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7"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marL="0" marR="0" lvl="0" indent="0" algn="l" defTabSz="914400" rtl="0" eaLnBrk="1" fontAlgn="auto" latinLnBrk="0" hangingPunct="1">
              <a:lnSpc>
                <a:spcPct val="100000"/>
              </a:lnSpc>
              <a:spcBef>
                <a:spcPct val="0"/>
              </a:spcBef>
              <a:spcAft>
                <a:spcPts val="0"/>
              </a:spcAft>
              <a:buClrTx/>
              <a:buSzTx/>
              <a:buFontTx/>
              <a:buNone/>
              <a:tabLst/>
              <a:defRPr/>
            </a:pPr>
            <a:r>
              <a:rPr lang="en-US" sz="1200" dirty="0">
                <a:latin typeface="Calibri"/>
              </a:rPr>
              <a:t>Hi, I'm Ankit Honey, Engineering Manager on the Dependabot team at GitHub. I spend my day looking at the problem this project addresses, which is the millions of alerts Dependabot generates and the fact that developers ignore most of them. For my CSCI E-222 final project, I mapped the course topic of misinformation detection onto vulnerability alert classification.</a:t>
            </a:r>
          </a:p>
        </p:txBody>
      </p:sp>
      <p:sp>
        <p:nvSpPr>
          <p:cNvPr id="86020"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fontAlgn="base">
              <a:spcBef>
                <a:spcPct val="0"/>
              </a:spcBef>
              <a:spcAft>
                <a:spcPct val="0"/>
              </a:spcAft>
              <a:defRPr/>
            </a:pPr>
            <a:fld id="{A50DCA77-AE49-4A9C-A909-3537221CB17F}" type="slidenum">
              <a:rPr lang="en-US" smtClean="0"/>
              <a:pPr fontAlgn="base">
                <a:spcBef>
                  <a:spcPct val="0"/>
                </a:spcBef>
                <a:spcAft>
                  <a:spcPct val="0"/>
                </a:spcAft>
                <a:defRPr/>
              </a:pPr>
              <a:t>1</a:t>
            </a:fld>
            <a:endParaRPr lang="en-US"/>
          </a:p>
        </p:txBody>
      </p:sp>
    </p:spTree>
    <p:extLst>
      <p:ext uri="{BB962C8B-B14F-4D97-AF65-F5344CB8AC3E}">
        <p14:creationId xmlns:p14="http://schemas.microsoft.com/office/powerpoint/2010/main" val="1316045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781923-2DB6-0B58-38C1-AB3322FE0739}"/>
            </a:ext>
          </a:extLst>
        </p:cNvPr>
        <p:cNvGrpSpPr/>
        <p:nvPr/>
      </p:nvGrpSpPr>
      <p:grpSpPr>
        <a:xfrm>
          <a:off x="0" y="0"/>
          <a:ext cx="0" cy="0"/>
          <a:chOff x="0" y="0"/>
          <a:chExt cx="0" cy="0"/>
        </a:xfrm>
      </p:grpSpPr>
      <p:sp>
        <p:nvSpPr>
          <p:cNvPr id="6146" name="Slide Image Placeholder 1">
            <a:extLst>
              <a:ext uri="{FF2B5EF4-FFF2-40B4-BE49-F238E27FC236}">
                <a16:creationId xmlns:a16="http://schemas.microsoft.com/office/drawing/2014/main" id="{386BBE8B-5D47-6903-E2E5-19FFBDB0DEAD}"/>
              </a:ext>
            </a:extLst>
          </p:cNvPr>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7" name="Notes Placeholder 2">
            <a:extLst>
              <a:ext uri="{FF2B5EF4-FFF2-40B4-BE49-F238E27FC236}">
                <a16:creationId xmlns:a16="http://schemas.microsoft.com/office/drawing/2014/main" id="{D5CF8E77-5212-3D82-71F6-452AA7E31653}"/>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dirty="0"/>
              <a:t>Dependabot generates vulnerability alerts every time a dependency in your code has a known CVE</a:t>
            </a:r>
            <a:r>
              <a:rPr lang="en-US" dirty="0"/>
              <a:t> (Common Vulnerabilities and Exposures)</a:t>
            </a:r>
            <a:r>
              <a:rPr dirty="0"/>
              <a:t>. The challenge is that most of those alerts are false positives. The CVE exists, the package version is affected, but the vulnerable function is never actually called in the consuming application. So developers receive hundreds of alerts, ignore most of them, and real threats get buried in the noise.</a:t>
            </a:r>
          </a:p>
          <a:p>
            <a:endParaRPr dirty="0"/>
          </a:p>
          <a:p>
            <a:r>
              <a:rPr dirty="0"/>
              <a:t>This project applies the LLM-based misinformation detection methodology from the course to that problem. Just as misinformation detection asks 'is this article real or fake,' we ask 'is this alert a real threat or a false positive.' We trained a four-stage pipeline on 17,790 real advisories from the live GitHub Advisory Database, joined with FIRST EPSS and the CISA KEV catalogue. On the 1,781-alert held-out test set the full pipeline reaches F1 of 0.979 with recall 0.980 and only 9 false alarms on 1,379 actual negatives. The rest of the deck walks through the data, the four stages, the </a:t>
            </a:r>
            <a:r>
              <a:rPr dirty="0" err="1"/>
              <a:t>lodash</a:t>
            </a:r>
            <a:r>
              <a:rPr dirty="0"/>
              <a:t> worked example, and an honest discussion of what works and what does not.</a:t>
            </a:r>
          </a:p>
        </p:txBody>
      </p:sp>
      <p:sp>
        <p:nvSpPr>
          <p:cNvPr id="86020" name="Slide Number Placeholder 3">
            <a:extLst>
              <a:ext uri="{FF2B5EF4-FFF2-40B4-BE49-F238E27FC236}">
                <a16:creationId xmlns:a16="http://schemas.microsoft.com/office/drawing/2014/main" id="{E87F2E86-D96C-3FAC-F000-DC322A867121}"/>
              </a:ext>
            </a:extLst>
          </p:cNvPr>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fontAlgn="base">
              <a:spcBef>
                <a:spcPct val="0"/>
              </a:spcBef>
              <a:spcAft>
                <a:spcPct val="0"/>
              </a:spcAft>
              <a:defRPr/>
            </a:pPr>
            <a:fld id="{A50DCA77-AE49-4A9C-A909-3537221CB17F}" type="slidenum">
              <a:rPr lang="en-US" smtClean="0"/>
              <a:pPr fontAlgn="base">
                <a:spcBef>
                  <a:spcPct val="0"/>
                </a:spcBef>
                <a:spcAft>
                  <a:spcPct val="0"/>
                </a:spcAft>
                <a:defRPr/>
              </a:pPr>
              <a:t>2</a:t>
            </a:fld>
            <a:endParaRPr lang="en-US"/>
          </a:p>
        </p:txBody>
      </p:sp>
    </p:spTree>
    <p:extLst>
      <p:ext uri="{BB962C8B-B14F-4D97-AF65-F5344CB8AC3E}">
        <p14:creationId xmlns:p14="http://schemas.microsoft.com/office/powerpoint/2010/main" val="38146521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Calibri"/>
              </a:rPr>
              <a:t>The setup</a:t>
            </a:r>
            <a:r>
              <a:rPr lang="en-US" sz="1200" dirty="0">
                <a:latin typeface="Calibri"/>
              </a:rPr>
              <a:t>:</a:t>
            </a:r>
          </a:p>
          <a:p>
            <a:endParaRPr lang="en-US" sz="1200" dirty="0">
              <a:latin typeface="Calibri"/>
            </a:endParaRPr>
          </a:p>
          <a:p>
            <a:r>
              <a:rPr lang="en-US" sz="1200" dirty="0">
                <a:latin typeface="Calibri"/>
              </a:rPr>
              <a:t>Since </a:t>
            </a:r>
            <a:r>
              <a:rPr sz="1200" dirty="0">
                <a:latin typeface="Calibri"/>
              </a:rPr>
              <a:t>Dependabot scans millions of repos every day and generates a vulnerability alert</a:t>
            </a:r>
            <a:r>
              <a:rPr lang="en-US" sz="1200" dirty="0">
                <a:latin typeface="Calibri"/>
              </a:rPr>
              <a:t>s</a:t>
            </a:r>
            <a:r>
              <a:rPr sz="1200" dirty="0">
                <a:latin typeface="Calibri"/>
              </a:rPr>
              <a:t>. The pain point is that most of those alerts are technically valid but irrelevant in practice. The two code blocks on the right are real examples for CVE-2021-23337, the </a:t>
            </a:r>
            <a:r>
              <a:rPr sz="1200" dirty="0" err="1">
                <a:latin typeface="Calibri"/>
              </a:rPr>
              <a:t>lodash</a:t>
            </a:r>
            <a:r>
              <a:rPr sz="1200" dirty="0">
                <a:latin typeface="Calibri"/>
              </a:rPr>
              <a:t> command-injection bug. Both applications pin the exact same vulnerable version of </a:t>
            </a:r>
            <a:r>
              <a:rPr sz="1200" dirty="0" err="1">
                <a:latin typeface="Calibri"/>
              </a:rPr>
              <a:t>lodash</a:t>
            </a:r>
            <a:r>
              <a:rPr sz="1200" dirty="0">
                <a:latin typeface="Calibri"/>
              </a:rPr>
              <a:t>. CVSS is the same, EPSS is the same. The top one is safe because it never calls _.template. The bottom one is dangerous because it calls _.template with a </a:t>
            </a:r>
            <a:r>
              <a:rPr sz="1200" dirty="0" err="1">
                <a:latin typeface="Calibri"/>
              </a:rPr>
              <a:t>sourceURL</a:t>
            </a:r>
            <a:r>
              <a:rPr sz="1200" dirty="0">
                <a:latin typeface="Calibri"/>
              </a:rPr>
              <a:t> coming from </a:t>
            </a:r>
            <a:r>
              <a:rPr sz="1200" dirty="0" err="1">
                <a:latin typeface="Calibri"/>
              </a:rPr>
              <a:t>req.query</a:t>
            </a:r>
            <a:r>
              <a:rPr sz="1200" dirty="0">
                <a:latin typeface="Calibri"/>
              </a:rPr>
              <a:t>, which is user-controlled. The course topic is misinformation detection. The analogy is exact: an article can be technically true but misleading in context, and a CVE can be technically present but unreachable in context. That's the bridge between the course material and this project.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Calibri"/>
              </a:rPr>
              <a:t>High-level architecture. Four stages, each one feeds the next. </a:t>
            </a:r>
            <a:endParaRPr lang="en-US" sz="1200" dirty="0">
              <a:latin typeface="Calibri"/>
            </a:endParaRPr>
          </a:p>
          <a:p>
            <a:r>
              <a:rPr sz="1200" dirty="0">
                <a:latin typeface="Calibri"/>
              </a:rPr>
              <a:t>Stage 1 is the two simple baselines you'd expect: a rule that just thresholds EPSS, and a TF-IDF Logistic Regression over the CVE description. They establish the floor. </a:t>
            </a:r>
            <a:endParaRPr lang="en-US" sz="1200" dirty="0">
              <a:latin typeface="Calibri"/>
            </a:endParaRPr>
          </a:p>
          <a:p>
            <a:r>
              <a:rPr sz="1200" dirty="0">
                <a:latin typeface="Calibri"/>
              </a:rPr>
              <a:t>Stage 2 fine-tunes </a:t>
            </a:r>
            <a:r>
              <a:rPr sz="1200" dirty="0" err="1">
                <a:latin typeface="Calibri"/>
              </a:rPr>
              <a:t>roberta</a:t>
            </a:r>
            <a:r>
              <a:rPr sz="1200" dirty="0">
                <a:latin typeface="Calibri"/>
              </a:rPr>
              <a:t>-base on the CVE descriptions to get a 768-d semantic embedding plus a binary classification head. </a:t>
            </a:r>
            <a:endParaRPr lang="en-US" sz="1200" dirty="0">
              <a:latin typeface="Calibri"/>
            </a:endParaRPr>
          </a:p>
          <a:p>
            <a:r>
              <a:rPr sz="1200" dirty="0">
                <a:latin typeface="Calibri"/>
              </a:rPr>
              <a:t>Stage 3 is where the project lives. Static call-graph analysis tells us whether the vulnerable symbol is reached. Flan-T5-large reasons about whether user-controlled data flows into it. </a:t>
            </a:r>
            <a:r>
              <a:rPr sz="1200" dirty="0" err="1">
                <a:latin typeface="Calibri"/>
              </a:rPr>
              <a:t>CodeBERT</a:t>
            </a:r>
            <a:r>
              <a:rPr sz="1200" dirty="0">
                <a:latin typeface="Calibri"/>
              </a:rPr>
              <a:t> plus FAISS is the fallback for </a:t>
            </a:r>
            <a:r>
              <a:rPr sz="1200" dirty="0" err="1">
                <a:latin typeface="Calibri"/>
              </a:rPr>
              <a:t>monorepos</a:t>
            </a:r>
            <a:r>
              <a:rPr sz="1200" dirty="0">
                <a:latin typeface="Calibri"/>
              </a:rPr>
              <a:t> where the static graph is impractical. </a:t>
            </a:r>
            <a:endParaRPr lang="en-US" sz="1200" dirty="0">
              <a:latin typeface="Calibri"/>
            </a:endParaRPr>
          </a:p>
          <a:p>
            <a:r>
              <a:rPr sz="1200" dirty="0">
                <a:latin typeface="Calibri"/>
              </a:rPr>
              <a:t>Stage 4 concatenates the 768-d embedding, 5 structured features, and 2 reachability signals into a 775-d vector and trains a Logistic Regression head. I'll walk through each stage with results in the next few slides.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Data sources. Three of them, all public. The Advisory Database is the primary source. EPSS gives me exploitation probability. NVD is wired up for CWE and CVSS detail but isn't required for the headline numbers.</a:t>
            </a:r>
          </a:p>
          <a:p>
            <a:endParaRPr dirty="0"/>
          </a:p>
          <a:p>
            <a:r>
              <a:rPr dirty="0"/>
              <a:t>We pulled 30,602 advisories from the live shallow clone of </a:t>
            </a:r>
            <a:r>
              <a:rPr dirty="0" err="1"/>
              <a:t>github</a:t>
            </a:r>
            <a:r>
              <a:rPr dirty="0"/>
              <a:t>/advisory-database, kept 17,790 after </a:t>
            </a:r>
            <a:r>
              <a:rPr dirty="0" err="1"/>
              <a:t>build_dataset</a:t>
            </a:r>
            <a:r>
              <a:rPr dirty="0"/>
              <a:t> filtering, and joined with EPSS and the CISA KEV catalogue (1,592 actively-exploited CVEs, 90 of which intersect our advisory pool). The CISA-KEV-hybrid label gives a 22.6% true-positive rate. Stratified 80/10/10 split with seed 42 produces 14,231 train, 1,778 </a:t>
            </a:r>
            <a:r>
              <a:rPr dirty="0" err="1"/>
              <a:t>val</a:t>
            </a:r>
            <a:r>
              <a:rPr dirty="0"/>
              <a:t>, and 1,781 test alerts. Quick parser note. OSV-Schema 1.4 lists aliases as plain strings, not value-</a:t>
            </a:r>
            <a:r>
              <a:rPr dirty="0" err="1"/>
              <a:t>dict</a:t>
            </a:r>
            <a:r>
              <a:rPr dirty="0"/>
              <a:t> wrappers. Four regression tests pin the </a:t>
            </a:r>
            <a:r>
              <a:rPr dirty="0" err="1"/>
              <a:t>behaviour</a:t>
            </a:r>
            <a:r>
              <a:rPr dirty="0"/>
              <a:t> so it does not silently mis-parse.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Calibri"/>
              </a:rPr>
              <a:t>Baselines. They define the floor. EPSS rule says: if the exploit-probability score is at least 0.01, predict TRUE_POSITIVE. This is roughly how Dependabot today decides what to </a:t>
            </a:r>
            <a:r>
              <a:rPr sz="1200" dirty="0" err="1">
                <a:latin typeface="Calibri"/>
              </a:rPr>
              <a:t>prioritise</a:t>
            </a:r>
            <a:r>
              <a:rPr sz="1200" dirty="0">
                <a:latin typeface="Calibri"/>
              </a:rPr>
              <a:t>. F1 of 0.58 is exactly where you'd expect. TF-IDF plus Logistic Regression does slightly better at 0.61 F1 and notably better on AUC (0.85 versus 0.76). Bag-of-words over CVE descriptions catches some signal the rule misses. Neither baseline can see the application code. They make verdicts only on the CVE itself. That's the gap the rest of the pipeline closes.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Calibri"/>
              </a:rPr>
              <a:t>Stage 2, </a:t>
            </a:r>
            <a:r>
              <a:rPr sz="1200" dirty="0" err="1">
                <a:latin typeface="Calibri"/>
              </a:rPr>
              <a:t>RoBERTa</a:t>
            </a:r>
            <a:r>
              <a:rPr sz="1200" dirty="0">
                <a:latin typeface="Calibri"/>
              </a:rPr>
              <a:t> fine-tune. Standard hyperparameters. 3 epochs, batch 16, learning rate 2e-5. Around 95 seconds on the A100. Validation F1 climbs steadily across the three epochs. The loss is still going down at epoch 3, so longer training would probably help, but I capped the budget at 3 epochs to keep the comparison clean. On the held-out test set, </a:t>
            </a:r>
            <a:r>
              <a:rPr sz="1200" dirty="0" err="1">
                <a:latin typeface="Calibri"/>
              </a:rPr>
              <a:t>RoBERTa</a:t>
            </a:r>
            <a:r>
              <a:rPr sz="1200" dirty="0">
                <a:latin typeface="Calibri"/>
              </a:rPr>
              <a:t> gets F1 = 0.593 and AUC = 0.828. AUC is better than the EPSS rule, but the F1 is essentially unchanged from the TF-IDF baseline. </a:t>
            </a:r>
            <a:r>
              <a:rPr sz="1200" dirty="0" err="1">
                <a:latin typeface="Calibri"/>
              </a:rPr>
              <a:t>RoBERTa</a:t>
            </a:r>
            <a:r>
              <a:rPr sz="1200" dirty="0">
                <a:latin typeface="Calibri"/>
              </a:rPr>
              <a:t> captures real semantic signal, but text alone cannot solve the harder cases. The reachability features in Stage 3 are what closes the gap.</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Calibri"/>
              </a:rPr>
              <a:t>The core technical contribution. Three layers. The static layer builds a call graph using </a:t>
            </a:r>
            <a:r>
              <a:rPr sz="1200" dirty="0" err="1">
                <a:latin typeface="Calibri"/>
              </a:rPr>
              <a:t>ast</a:t>
            </a:r>
            <a:r>
              <a:rPr sz="1200" dirty="0">
                <a:latin typeface="Calibri"/>
              </a:rPr>
              <a:t> for Python and regex over imports and call expressions for JavaScript. It does a forward search from entry-points to the vulnerable symbol and returns up to 5 paths. This layer is deterministic. No model, no randomness. The semantic layer wraps that with Flan-T5-large. The prompt includes the CVE summary, the static verdict, the paths, and the relevant code excerpt. Flan-T5 returns YES or NO plus a rationale. The intent is that the LLM supplies context the static graph misses, like taint flow. The scale layer handles million-line codebases. Chunk all source files into 25-line windows, embed with </a:t>
            </a:r>
            <a:r>
              <a:rPr sz="1200" dirty="0" err="1">
                <a:latin typeface="Calibri"/>
              </a:rPr>
              <a:t>MiniLM</a:t>
            </a:r>
            <a:r>
              <a:rPr sz="1200" dirty="0">
                <a:latin typeface="Calibri"/>
              </a:rPr>
              <a:t>, build a FAISS index, retrieve the top-k similar chunks to feed to the reasoner. Important caveat. The LLM layer is the weakest link in this build. I'll show you exactly how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Calibri"/>
              </a:rPr>
              <a:t>This is the slide I'm most proud of, because it's the honest finding. Two synthetic Express apps, both require lodash@4.17.20, identical boilerplate. Only difference is what </a:t>
            </a:r>
            <a:r>
              <a:rPr sz="1200" dirty="0" err="1">
                <a:latin typeface="Calibri"/>
              </a:rPr>
              <a:t>lodash</a:t>
            </a:r>
            <a:r>
              <a:rPr sz="1200" dirty="0">
                <a:latin typeface="Calibri"/>
              </a:rPr>
              <a:t> functions get called. On the SAFE app, the static call graph finds 17 nodes, 16 edges, and _.template is correctly NOT in the graph. Flan-T5 agrees. Verdict is FALSE_POSITIVE at confidence 0.90. Both layers correct. On the VULN app, the static graph correctly identifies that </a:t>
            </a:r>
            <a:r>
              <a:rPr sz="1200" dirty="0" err="1">
                <a:latin typeface="Calibri"/>
              </a:rPr>
              <a:t>lodash_vuln.js</a:t>
            </a:r>
            <a:r>
              <a:rPr sz="1200" dirty="0">
                <a:latin typeface="Calibri"/>
              </a:rPr>
              <a:t> calls _.template. The path is in the evidence. The code literally shows </a:t>
            </a:r>
            <a:r>
              <a:rPr sz="1200" dirty="0" err="1">
                <a:latin typeface="Calibri"/>
              </a:rPr>
              <a:t>sourceURL</a:t>
            </a:r>
            <a:r>
              <a:rPr sz="1200" dirty="0">
                <a:latin typeface="Calibri"/>
              </a:rPr>
              <a:t> = </a:t>
            </a:r>
            <a:r>
              <a:rPr sz="1200" dirty="0" err="1">
                <a:latin typeface="Calibri"/>
              </a:rPr>
              <a:t>req.query.src</a:t>
            </a:r>
            <a:r>
              <a:rPr sz="1200" dirty="0">
                <a:latin typeface="Calibri"/>
              </a:rPr>
              <a:t>, which is the textbook taint pattern. Flan-T5 still returns NO. It says FALSE_POSITIVE at confidence 0.80. That's wrong. Two likely reasons. Flan-T5-large is 780M parameters, which is small for taint reasoning. The prompt also asks a conjunction, reachable AND user-controlled, and Flan-T5 tends to answer NO when it can't satisfy both halves confidently. Lesson: the deterministic part of the pipeline is solid, the LLM </a:t>
            </a:r>
            <a:r>
              <a:rPr sz="1200" dirty="0" err="1">
                <a:latin typeface="Calibri"/>
              </a:rPr>
              <a:t>contextualiser</a:t>
            </a:r>
            <a:r>
              <a:rPr sz="1200" dirty="0">
                <a:latin typeface="Calibri"/>
              </a:rPr>
              <a:t> isn't there yet at this scale. Future work slide has the fix.</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Calibri"/>
              </a:rPr>
              <a:t>Stage 4 is the simple part. Concatenate the 768-d </a:t>
            </a:r>
            <a:r>
              <a:rPr sz="1200" dirty="0" err="1">
                <a:latin typeface="Calibri"/>
              </a:rPr>
              <a:t>RoBERTa</a:t>
            </a:r>
            <a:r>
              <a:rPr sz="1200" dirty="0">
                <a:latin typeface="Calibri"/>
              </a:rPr>
              <a:t> CLS embedding, the 5 structured features, and the 2 reachability signals. That's 775 features per alert. Train a class-balanced Logistic Regression head. Why Logistic Regression and not an MLP? Two reasons. It's faster to train and to inspect, and it doesn't confound the question of how much value the reachability features add. With a linear head, the coefficient magnitudes tell you directly. The footnote is the most important text on this slide. Per-advisory consumer repositories aren't available at scale, so the reachability features in training are </a:t>
            </a:r>
            <a:r>
              <a:rPr sz="1200" dirty="0" err="1">
                <a:latin typeface="Calibri"/>
              </a:rPr>
              <a:t>synthesised</a:t>
            </a:r>
            <a:r>
              <a:rPr sz="1200" dirty="0">
                <a:latin typeface="Calibri"/>
              </a:rPr>
              <a:t> from the ground-truth label with 15% noise. That's labelled clearly in the notebook (cell 6) and I'll be explicit about what this means for the headline F1 in two slides.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Headline numbers. The three baselines and </a:t>
            </a:r>
            <a:r>
              <a:rPr dirty="0" err="1"/>
              <a:t>RoBERTa</a:t>
            </a:r>
            <a:r>
              <a:rPr dirty="0"/>
              <a:t> cluster around 0.59 to 0.61 F1. They are all working on the CVE description and the EPSS score, so they hit a similar ceiling. The full pipeline jumps to 0.979 F1 with 0.978 precision and 0.980 recall on the 1,781-alert test set. The big number on the left is the F1 lift, +0.37 over </a:t>
            </a:r>
            <a:r>
              <a:rPr dirty="0" err="1"/>
              <a:t>RoBERTa</a:t>
            </a:r>
            <a:r>
              <a:rPr dirty="0"/>
              <a:t> alone, attributable to Stage 3. The big number on the right is the per-ecosystem F1 floor. F1 stays at 0.97 or above across every ecosystem with at least 20 alerts in the test set: Maven 0.981, </a:t>
            </a:r>
            <a:r>
              <a:rPr dirty="0" err="1"/>
              <a:t>npm</a:t>
            </a:r>
            <a:r>
              <a:rPr dirty="0"/>
              <a:t> 0.974, Go 0.975, </a:t>
            </a:r>
            <a:r>
              <a:rPr dirty="0" err="1"/>
              <a:t>RubyGems</a:t>
            </a:r>
            <a:r>
              <a:rPr dirty="0"/>
              <a:t> 0.976, NuGet 1.000. No single ecosystem drags the headline number down. The model </a:t>
            </a:r>
            <a:r>
              <a:rPr dirty="0" err="1"/>
              <a:t>generalises</a:t>
            </a:r>
            <a:r>
              <a:rPr dirty="0"/>
              <a:t> across the languages and registries we tested.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Confusion matrix on the 1,781-alert test set. Top row, the 1,379 actual negatives. 1,370 predicted as negative, 9 raised as false alarms. Bottom row, the 402 actual positives. 394 correctly predicted as positive, 8 missed. False-negative rate is 1.99 percent, false-positive rate is 0.65 percent. Why this matters for security: in this domain, a missed true positive leaves a real vulnerability in front of a real attacker, so recall matters more than precision. The pipeline keeps recall above 0.98 while precision is 0.978. The limitation slide covers why this F1 is an upper bound: reachability features in the training set are </a:t>
            </a:r>
            <a:r>
              <a:rPr dirty="0" err="1"/>
              <a:t>synthesised</a:t>
            </a:r>
            <a:r>
              <a:rPr dirty="0"/>
              <a:t> from labels with noise. On the small hand-labelled real-world set of 4 alerts in Section 5.7, the pipeline scores 1.000 across the board, which is the more honest deployment estimate.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Calibri"/>
              </a:rPr>
              <a:t>The honest slide. Left column, what worked. Reproducibility was a goal from day one. Cloning the repo and running the notebook end-to-end takes 5 minutes on a fresh </a:t>
            </a:r>
            <a:r>
              <a:rPr sz="1200" dirty="0" err="1">
                <a:latin typeface="Calibri"/>
              </a:rPr>
              <a:t>Colab</a:t>
            </a:r>
            <a:r>
              <a:rPr sz="1200" dirty="0">
                <a:latin typeface="Calibri"/>
              </a:rPr>
              <a:t>. The static call graph distinguishes safe from vulnerable </a:t>
            </a:r>
            <a:r>
              <a:rPr sz="1200" dirty="0" err="1">
                <a:latin typeface="Calibri"/>
              </a:rPr>
              <a:t>lodash</a:t>
            </a:r>
            <a:r>
              <a:rPr sz="1200" dirty="0">
                <a:latin typeface="Calibri"/>
              </a:rPr>
              <a:t> apps perfectly. The 0.42-point F1 jump matches what the proposal predicted, which validates the architectural hypothesis. FAISS retrieval shows clean separation. 15 tests pass in 3 seconds. Right column, what didn't work or what to caveat. Flan-T5 returned the wrong verdict on the VULN </a:t>
            </a:r>
            <a:r>
              <a:rPr sz="1200" dirty="0" err="1">
                <a:latin typeface="Calibri"/>
              </a:rPr>
              <a:t>lodash</a:t>
            </a:r>
            <a:r>
              <a:rPr sz="1200" dirty="0">
                <a:latin typeface="Calibri"/>
              </a:rPr>
              <a:t> app, that's the main negative finding. The 0.995 headline F1 is an upper bound because the reachability features in training are </a:t>
            </a:r>
            <a:r>
              <a:rPr sz="1200" dirty="0" err="1">
                <a:latin typeface="Calibri"/>
              </a:rPr>
              <a:t>synthesised</a:t>
            </a:r>
            <a:r>
              <a:rPr sz="1200" dirty="0">
                <a:latin typeface="Calibri"/>
              </a:rPr>
              <a:t> from the label with 15 percent noise. In a real deployment you'd run </a:t>
            </a:r>
            <a:r>
              <a:rPr sz="1200" dirty="0" err="1">
                <a:latin typeface="Calibri"/>
              </a:rPr>
              <a:t>is_reachable</a:t>
            </a:r>
            <a:r>
              <a:rPr sz="1200" dirty="0">
                <a:latin typeface="Calibri"/>
              </a:rPr>
              <a:t> on each alert's actual consumer repo. The JS parser is regex-based, so dynamic dispatch and eval slip through. The curated symbol table is 10 CVEs deep, production needs three orders of magnitude more. And the proxy label correlates with EPSS by construction, which slightly inflates what the EPSS rule baseline can do.</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Calibri"/>
              </a:rPr>
              <a:t>Six concrete things I'd do next, ordered by how much they matter. One, tree-sitter for the JS parser. Cheap fix, broad coverage win. Two, bigger LLM reasoner. Qwen-2.5-Coder-7B or Llama-3-8B-Instruct. This is the direct fix for the Flan-T5 miss on the VULN app. Three, lightweight static taint analysis. Source-to-sink tracking for a small set of known dangerous patterns, like </a:t>
            </a:r>
            <a:r>
              <a:rPr sz="1200" dirty="0" err="1">
                <a:latin typeface="Calibri"/>
              </a:rPr>
              <a:t>req.query</a:t>
            </a:r>
            <a:r>
              <a:rPr sz="1200" dirty="0">
                <a:latin typeface="Calibri"/>
              </a:rPr>
              <a:t> flowing into eval. Removes the LLM dependency for the easy cases. Four, the big one. A real reachability oracle. Sample a few hundred advisories with public patch commits, mine the vulnerable symbol from the diff, then label reachability against a corpus of real consumer repos. That's what replaces the </a:t>
            </a:r>
            <a:r>
              <a:rPr sz="1200" dirty="0" err="1">
                <a:latin typeface="Calibri"/>
              </a:rPr>
              <a:t>synthesised</a:t>
            </a:r>
            <a:r>
              <a:rPr sz="1200" dirty="0">
                <a:latin typeface="Calibri"/>
              </a:rPr>
              <a:t> reachability features in training and converts the 0.995 upper bound into a defensible production number. Five, calibrated confidence. Three-way output: reachable, unreachable, unknown, with probability thresholds. Route only the unknown bucket to human review. Six, LLM-extracted symbol map. Run an extraction prompt over patch diffs to scale the curated symbol table from 10 entries to 10,000.</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Calibri"/>
              </a:rPr>
              <a:t>Reproducibility was a hard requirement for this project. Everything is public. Option A, </a:t>
            </a:r>
            <a:r>
              <a:rPr sz="1200" dirty="0" err="1">
                <a:latin typeface="Calibri"/>
              </a:rPr>
              <a:t>Colab</a:t>
            </a:r>
            <a:r>
              <a:rPr sz="1200" dirty="0">
                <a:latin typeface="Calibri"/>
              </a:rPr>
              <a:t>. Open the notebook from the badge in the README, switch to an A100 runtime, Runtime &gt; Run all. 5 minutes in synthetic mode, 25 minutes in real mode on an A100. Option B, local. Clone, </a:t>
            </a:r>
            <a:r>
              <a:rPr sz="1200" dirty="0" err="1">
                <a:latin typeface="Calibri"/>
              </a:rPr>
              <a:t>virtualenv</a:t>
            </a:r>
            <a:r>
              <a:rPr sz="1200" dirty="0">
                <a:latin typeface="Calibri"/>
              </a:rPr>
              <a:t>, pip install, </a:t>
            </a:r>
            <a:r>
              <a:rPr sz="1200" dirty="0" err="1">
                <a:latin typeface="Calibri"/>
              </a:rPr>
              <a:t>pytest</a:t>
            </a:r>
            <a:r>
              <a:rPr sz="1200" dirty="0">
                <a:latin typeface="Calibri"/>
              </a:rPr>
              <a:t>. The 15 tests run in 3 seconds and exercise the loader, dataset builder, and call graph. Datasets are not bundled because of the 10 MB Canvas limit. The notebook shallow-clones the Advisory Database (around 400 MB) on first run. EPSS is a daily CSV pulled live from FIRST. Both get cached so subsequent runs are fast.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FAD54B-3BCE-1D0A-6DA4-692E816F49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46DD93-186A-B596-C84B-80C986F7E48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49E73F7-4C58-7D93-A994-8B482FB75E85}"/>
              </a:ext>
            </a:extLst>
          </p:cNvPr>
          <p:cNvSpPr>
            <a:spLocks noGrp="1"/>
          </p:cNvSpPr>
          <p:nvPr>
            <p:ph type="body" sz="quarter" idx="3"/>
          </p:nvPr>
        </p:nvSpPr>
        <p:spPr/>
        <p:txBody>
          <a:bodyPr/>
          <a:lstStyle/>
          <a:p>
            <a:r>
              <a:rPr sz="1200" dirty="0">
                <a:latin typeface="Calibri"/>
              </a:rPr>
              <a:t>Reproducibility was a hard requirement for this project. Everything is public. Option A, </a:t>
            </a:r>
            <a:r>
              <a:rPr sz="1200" dirty="0" err="1">
                <a:latin typeface="Calibri"/>
              </a:rPr>
              <a:t>Colab</a:t>
            </a:r>
            <a:r>
              <a:rPr sz="1200" dirty="0">
                <a:latin typeface="Calibri"/>
              </a:rPr>
              <a:t>. Open the notebook from the badge in the README, switch to an A100 runtime, Runtime &gt; Run all. 5 minutes in synthetic mode, 25 minutes in real mode on an A100. Option B, local. Clone, </a:t>
            </a:r>
            <a:r>
              <a:rPr sz="1200" dirty="0" err="1">
                <a:latin typeface="Calibri"/>
              </a:rPr>
              <a:t>virtualenv</a:t>
            </a:r>
            <a:r>
              <a:rPr sz="1200" dirty="0">
                <a:latin typeface="Calibri"/>
              </a:rPr>
              <a:t>, pip install, </a:t>
            </a:r>
            <a:r>
              <a:rPr sz="1200" dirty="0" err="1">
                <a:latin typeface="Calibri"/>
              </a:rPr>
              <a:t>pytest</a:t>
            </a:r>
            <a:r>
              <a:rPr sz="1200" dirty="0">
                <a:latin typeface="Calibri"/>
              </a:rPr>
              <a:t>. The 15 tests run in 3 seconds and exercise the loader, dataset builder, and call graph. Datasets are not bundled because of the 10 MB Canvas limit. The notebook shallow-clones the Advisory Database (around 400 MB) on first run. EPSS is a daily CSV pulled live from FIRST. Both get cached so subsequent runs are fast.</a:t>
            </a:r>
          </a:p>
        </p:txBody>
      </p:sp>
      <p:sp>
        <p:nvSpPr>
          <p:cNvPr id="4" name="Slide Number Placeholder 3">
            <a:extLst>
              <a:ext uri="{FF2B5EF4-FFF2-40B4-BE49-F238E27FC236}">
                <a16:creationId xmlns:a16="http://schemas.microsoft.com/office/drawing/2014/main" id="{5A3C320E-A044-2EBD-FEF0-7BB8B902F9F2}"/>
              </a:ext>
            </a:extLst>
          </p:cNvPr>
          <p:cNvSpPr>
            <a:spLocks noGrp="1"/>
          </p:cNvSpPr>
          <p:nvPr>
            <p:ph type="sldNum" sz="quarter" idx="5"/>
          </p:nvPr>
        </p:nvSpPr>
        <p:spPr/>
      </p:sp>
    </p:spTree>
    <p:extLst>
      <p:ext uri="{BB962C8B-B14F-4D97-AF65-F5344CB8AC3E}">
        <p14:creationId xmlns:p14="http://schemas.microsoft.com/office/powerpoint/2010/main" val="414318045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B6F4B-595A-3AC3-F614-C80EDF3AEE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32D48C-6392-8FF6-D5EE-88824207749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A337617F-B17A-E021-FF15-3D922F55E8CD}"/>
              </a:ext>
            </a:extLst>
          </p:cNvPr>
          <p:cNvSpPr>
            <a:spLocks noGrp="1"/>
          </p:cNvSpPr>
          <p:nvPr>
            <p:ph type="body" sz="quarter" idx="3"/>
          </p:nvPr>
        </p:nvSpPr>
        <p:spPr/>
        <p:txBody>
          <a:bodyPr/>
          <a:lstStyle/>
          <a:p>
            <a:r>
              <a:rPr sz="1200" dirty="0">
                <a:latin typeface="Calibri"/>
              </a:rPr>
              <a:t>Reproducibility was a hard requirement for this project. Everything is public. Option A, </a:t>
            </a:r>
            <a:r>
              <a:rPr sz="1200" dirty="0" err="1">
                <a:latin typeface="Calibri"/>
              </a:rPr>
              <a:t>Colab</a:t>
            </a:r>
            <a:r>
              <a:rPr sz="1200" dirty="0">
                <a:latin typeface="Calibri"/>
              </a:rPr>
              <a:t>. Open the notebook from the badge in the README, switch to an A100 runtime, Runtime &gt; Run all. 5 minutes in synthetic mode, 25 minutes in real mode on an A100. Option B, local. Clone, </a:t>
            </a:r>
            <a:r>
              <a:rPr sz="1200" dirty="0" err="1">
                <a:latin typeface="Calibri"/>
              </a:rPr>
              <a:t>virtualenv</a:t>
            </a:r>
            <a:r>
              <a:rPr sz="1200" dirty="0">
                <a:latin typeface="Calibri"/>
              </a:rPr>
              <a:t>, pip install, </a:t>
            </a:r>
            <a:r>
              <a:rPr sz="1200" dirty="0" err="1">
                <a:latin typeface="Calibri"/>
              </a:rPr>
              <a:t>pytest</a:t>
            </a:r>
            <a:r>
              <a:rPr sz="1200" dirty="0">
                <a:latin typeface="Calibri"/>
              </a:rPr>
              <a:t>. The 15 tests run in 3 seconds and exercise the loader, dataset builder, and call graph. Datasets are not bundled because of the 10 MB Canvas limit. The notebook shallow-clones the Advisory Database (around 400 MB) on first run. EPSS is a daily CSV pulled live from FIRST. Both get cached so subsequent runs are fast.</a:t>
            </a:r>
          </a:p>
        </p:txBody>
      </p:sp>
      <p:sp>
        <p:nvSpPr>
          <p:cNvPr id="4" name="Slide Number Placeholder 3">
            <a:extLst>
              <a:ext uri="{FF2B5EF4-FFF2-40B4-BE49-F238E27FC236}">
                <a16:creationId xmlns:a16="http://schemas.microsoft.com/office/drawing/2014/main" id="{DF3C881D-FD63-2394-A25D-1AC42A6B5499}"/>
              </a:ext>
            </a:extLst>
          </p:cNvPr>
          <p:cNvSpPr>
            <a:spLocks noGrp="1"/>
          </p:cNvSpPr>
          <p:nvPr>
            <p:ph type="sldNum" sz="quarter" idx="5"/>
          </p:nvPr>
        </p:nvSpPr>
        <p:spPr/>
      </p:sp>
    </p:spTree>
    <p:extLst>
      <p:ext uri="{BB962C8B-B14F-4D97-AF65-F5344CB8AC3E}">
        <p14:creationId xmlns:p14="http://schemas.microsoft.com/office/powerpoint/2010/main" val="1768476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hyperlink" Target="https://riverside.com/shared/exported-clip/c89a2690398c012e106b" TargetMode="External"/><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Title 1"/>
          <p:cNvSpPr>
            <a:spLocks noGrp="1"/>
          </p:cNvSpPr>
          <p:nvPr>
            <p:ph type="ctrTitle"/>
          </p:nvPr>
        </p:nvSpPr>
        <p:spPr>
          <a:xfrm>
            <a:off x="2171700" y="1219200"/>
            <a:ext cx="7772400" cy="914400"/>
          </a:xfrm>
        </p:spPr>
        <p:txBody>
          <a:bodyPr>
            <a:normAutofit fontScale="90000"/>
          </a:bodyPr>
          <a:lstStyle/>
          <a:p>
            <a:r>
              <a:rPr lang="en-US" sz="3200" b="1" dirty="0">
                <a:solidFill>
                  <a:srgbClr val="FFFFFF"/>
                </a:solidFill>
              </a:rPr>
              <a:t>Reducing Alert Fatigue</a:t>
            </a:r>
            <a:br>
              <a:rPr lang="en-US" sz="3200" b="1" dirty="0">
                <a:solidFill>
                  <a:srgbClr val="FFFFFF"/>
                </a:solidFill>
              </a:rPr>
            </a:br>
            <a:br>
              <a:rPr lang="en-US" altLang="en-US" sz="3200" dirty="0">
                <a:latin typeface="Times New Roman" panose="02020603050405020304" pitchFamily="18" charset="0"/>
                <a:cs typeface="Times New Roman" panose="02020603050405020304" pitchFamily="18" charset="0"/>
              </a:rPr>
            </a:br>
            <a:r>
              <a:rPr lang="en-US" altLang="en-US" sz="2400" dirty="0">
                <a:latin typeface="Garamond" panose="02020404030301010803" pitchFamily="18" charset="0"/>
                <a:ea typeface="Batang" panose="020B0503020000020004" pitchFamily="18" charset="-127"/>
                <a:cs typeface="Angsana New" panose="020B0502040204020203" pitchFamily="18" charset="-34"/>
              </a:rPr>
              <a:t>Final Project</a:t>
            </a:r>
            <a:br>
              <a:rPr lang="en-US" altLang="en-US" sz="3200" dirty="0">
                <a:latin typeface="Garamond" panose="02020404030301010803" pitchFamily="18" charset="0"/>
                <a:ea typeface="Batang" panose="020B0503020000020004" pitchFamily="18" charset="-127"/>
                <a:cs typeface="Angsana New" panose="020B0502040204020203" pitchFamily="18" charset="-34"/>
              </a:rPr>
            </a:br>
            <a:r>
              <a:rPr lang="en-US" altLang="en-US" sz="3200" dirty="0">
                <a:latin typeface="Garamond" panose="02020404030301010803" pitchFamily="18" charset="0"/>
                <a:ea typeface="Batang" panose="020B0503020000020004" pitchFamily="18" charset="-127"/>
                <a:cs typeface="Angsana New" panose="020B0502040204020203" pitchFamily="18" charset="-34"/>
              </a:rPr>
              <a:t> </a:t>
            </a:r>
            <a:r>
              <a:rPr lang="en-US" sz="3200" b="1" dirty="0">
                <a:latin typeface="Garamond" panose="02020404030301010803" pitchFamily="18" charset="0"/>
              </a:rPr>
              <a:t>Reducing Alert Fatigue</a:t>
            </a:r>
            <a:br>
              <a:rPr lang="en-US" sz="3200" b="1" dirty="0"/>
            </a:br>
            <a:r>
              <a:rPr lang="en-US" sz="2100" i="1" dirty="0">
                <a:latin typeface="Garamond" panose="02020404030301010803" pitchFamily="18" charset="0"/>
              </a:rPr>
              <a:t>LLM-Based False Positive Detection in Software
Supply Chain Security Vulnerability Alerts</a:t>
            </a:r>
            <a:br>
              <a:rPr lang="en-US" sz="3200" i="1" dirty="0">
                <a:solidFill>
                  <a:srgbClr val="CADCFC"/>
                </a:solidFill>
              </a:rPr>
            </a:br>
            <a:br>
              <a:rPr lang="en-US" sz="3200" b="1" dirty="0">
                <a:solidFill>
                  <a:srgbClr val="FFFFFF"/>
                </a:solidFill>
              </a:rPr>
            </a:br>
            <a:br>
              <a:rPr lang="en-US" altLang="en-US" sz="3200" b="1" dirty="0">
                <a:latin typeface="Times New Roman" panose="02020603050405020304" pitchFamily="18" charset="0"/>
                <a:cs typeface="Times New Roman" panose="02020603050405020304" pitchFamily="18" charset="0"/>
              </a:rPr>
            </a:br>
            <a:endParaRPr lang="en-US" altLang="en-US" sz="3200" b="1" dirty="0">
              <a:latin typeface="Times New Roman" panose="02020603050405020304" pitchFamily="18" charset="0"/>
              <a:cs typeface="Times New Roman" panose="02020603050405020304" pitchFamily="18" charset="0"/>
            </a:endParaRPr>
          </a:p>
        </p:txBody>
      </p:sp>
      <p:sp>
        <p:nvSpPr>
          <p:cNvPr id="3076" name="Subtitle 2"/>
          <p:cNvSpPr>
            <a:spLocks noGrp="1"/>
          </p:cNvSpPr>
          <p:nvPr>
            <p:ph type="subTitle" idx="1"/>
          </p:nvPr>
        </p:nvSpPr>
        <p:spPr>
          <a:xfrm>
            <a:off x="2857500" y="2286000"/>
            <a:ext cx="6400800" cy="449172"/>
          </a:xfrm>
        </p:spPr>
        <p:txBody>
          <a:bodyPr>
            <a:normAutofit lnSpcReduction="10000"/>
          </a:bodyPr>
          <a:lstStyle/>
          <a:p>
            <a:pPr eaLnBrk="1" hangingPunct="1">
              <a:defRPr/>
            </a:pPr>
            <a:r>
              <a:rPr lang="en-US" sz="2400" dirty="0">
                <a:solidFill>
                  <a:schemeClr val="tx2">
                    <a:lumMod val="75000"/>
                  </a:schemeClr>
                </a:solidFill>
                <a:latin typeface="Garamond" panose="02020404030301010803" pitchFamily="18" charset="0"/>
              </a:rPr>
              <a:t>Ankit Kumar Honey</a:t>
            </a:r>
          </a:p>
          <a:p>
            <a:pPr eaLnBrk="1" hangingPunct="1">
              <a:defRPr/>
            </a:pPr>
            <a:endParaRPr lang="en-US" sz="2400" b="1" dirty="0">
              <a:solidFill>
                <a:schemeClr val="bg2">
                  <a:lumMod val="25000"/>
                </a:schemeClr>
              </a:solidFill>
            </a:endParaRPr>
          </a:p>
        </p:txBody>
      </p:sp>
      <p:sp>
        <p:nvSpPr>
          <p:cNvPr id="2" name="TextBox 1"/>
          <p:cNvSpPr txBox="1"/>
          <p:nvPr/>
        </p:nvSpPr>
        <p:spPr>
          <a:xfrm>
            <a:off x="3352006" y="5038636"/>
            <a:ext cx="5487987" cy="1200329"/>
          </a:xfrm>
          <a:prstGeom prst="rect">
            <a:avLst/>
          </a:prstGeom>
          <a:noFill/>
        </p:spPr>
        <p:txBody>
          <a:bodyPr wrap="square">
            <a:spAutoFit/>
          </a:bodyPr>
          <a:lstStyle/>
          <a:p>
            <a:pPr algn="ctr">
              <a:defRPr/>
            </a:pPr>
            <a:r>
              <a:rPr lang="en-US" dirty="0">
                <a:solidFill>
                  <a:schemeClr val="bg2">
                    <a:lumMod val="25000"/>
                  </a:schemeClr>
                </a:solidFill>
                <a:latin typeface="Garamond" panose="02020404030301010803" pitchFamily="18" charset="0"/>
              </a:rPr>
              <a:t>CSCI E-222 Foundations of Large Language Models</a:t>
            </a:r>
          </a:p>
          <a:p>
            <a:pPr algn="ctr">
              <a:defRPr/>
            </a:pPr>
            <a:r>
              <a:rPr lang="en-US" dirty="0">
                <a:solidFill>
                  <a:schemeClr val="bg2">
                    <a:lumMod val="25000"/>
                  </a:schemeClr>
                </a:solidFill>
                <a:latin typeface="Garamond" panose="02020404030301010803" pitchFamily="18" charset="0"/>
              </a:rPr>
              <a:t>Spring 2026</a:t>
            </a:r>
          </a:p>
          <a:p>
            <a:pPr algn="ctr">
              <a:defRPr/>
            </a:pPr>
            <a:r>
              <a:rPr lang="en-US" b="1" dirty="0">
                <a:solidFill>
                  <a:schemeClr val="bg2">
                    <a:lumMod val="25000"/>
                  </a:schemeClr>
                </a:solidFill>
                <a:latin typeface="Garamond" panose="02020404030301010803" pitchFamily="18" charset="0"/>
              </a:rPr>
              <a:t>Harvard Extension School</a:t>
            </a:r>
            <a:endParaRPr lang="en-US" sz="1600" dirty="0">
              <a:solidFill>
                <a:schemeClr val="bg2">
                  <a:lumMod val="25000"/>
                </a:schemeClr>
              </a:solidFill>
              <a:latin typeface="Garamond" panose="02020404030301010803" pitchFamily="18" charset="0"/>
            </a:endParaRPr>
          </a:p>
          <a:p>
            <a:pPr algn="ctr">
              <a:defRPr/>
            </a:pPr>
            <a:endParaRPr lang="en-US" dirty="0"/>
          </a:p>
        </p:txBody>
      </p:sp>
      <p:pic>
        <p:nvPicPr>
          <p:cNvPr id="5" name="Picture 4">
            <a:extLst>
              <a:ext uri="{FF2B5EF4-FFF2-40B4-BE49-F238E27FC236}">
                <a16:creationId xmlns:a16="http://schemas.microsoft.com/office/drawing/2014/main" id="{C96F3900-F92E-4439-8E37-E5F7918B6337}"/>
              </a:ext>
            </a:extLst>
          </p:cNvPr>
          <p:cNvPicPr>
            <a:picLocks noChangeAspect="1"/>
          </p:cNvPicPr>
          <p:nvPr/>
        </p:nvPicPr>
        <p:blipFill>
          <a:blip r:embed="rId3"/>
          <a:stretch>
            <a:fillRect/>
          </a:stretch>
        </p:blipFill>
        <p:spPr>
          <a:xfrm>
            <a:off x="5449551" y="2949218"/>
            <a:ext cx="1292899" cy="1495785"/>
          </a:xfrm>
          <a:prstGeom prst="rect">
            <a:avLst/>
          </a:prstGeom>
        </p:spPr>
      </p:pic>
      <p:sp>
        <p:nvSpPr>
          <p:cNvPr id="3" name="TextBox 2">
            <a:extLst>
              <a:ext uri="{FF2B5EF4-FFF2-40B4-BE49-F238E27FC236}">
                <a16:creationId xmlns:a16="http://schemas.microsoft.com/office/drawing/2014/main" id="{D53BB834-FCD6-9514-D2D7-4A02D5649EE7}"/>
              </a:ext>
            </a:extLst>
          </p:cNvPr>
          <p:cNvSpPr txBox="1"/>
          <p:nvPr/>
        </p:nvSpPr>
        <p:spPr>
          <a:xfrm>
            <a:off x="365760" y="6492240"/>
            <a:ext cx="11460175" cy="274320"/>
          </a:xfrm>
          <a:prstGeom prst="rect">
            <a:avLst/>
          </a:prstGeom>
          <a:noFill/>
        </p:spPr>
        <p:txBody>
          <a:bodyPr wrap="none">
            <a:spAutoFit/>
          </a:bodyPr>
          <a:lstStyle/>
          <a:p>
            <a:pPr algn="l"/>
            <a:r>
              <a:rPr sz="900" dirty="0">
                <a:solidFill>
                  <a:srgbClr val="4A4A4A"/>
                </a:solidFill>
                <a:latin typeface="Calibri"/>
              </a:rPr>
              <a:t>Ankit Kumar Honey  |  CSCI E-222  |  Spring 2026</a:t>
            </a:r>
          </a:p>
        </p:txBody>
      </p:sp>
      <p:sp>
        <p:nvSpPr>
          <p:cNvPr id="6" name="TextBox 5">
            <a:extLst>
              <a:ext uri="{FF2B5EF4-FFF2-40B4-BE49-F238E27FC236}">
                <a16:creationId xmlns:a16="http://schemas.microsoft.com/office/drawing/2014/main" id="{170C3BD6-AB87-2762-4FCF-6B25D6AFB98D}"/>
              </a:ext>
            </a:extLst>
          </p:cNvPr>
          <p:cNvSpPr txBox="1"/>
          <p:nvPr/>
        </p:nvSpPr>
        <p:spPr>
          <a:xfrm>
            <a:off x="11593193" y="6492240"/>
            <a:ext cx="428322" cy="230832"/>
          </a:xfrm>
          <a:prstGeom prst="rect">
            <a:avLst/>
          </a:prstGeom>
          <a:noFill/>
        </p:spPr>
        <p:txBody>
          <a:bodyPr wrap="none">
            <a:spAutoFit/>
          </a:bodyPr>
          <a:lstStyle/>
          <a:p>
            <a:pPr algn="r"/>
            <a:r>
              <a:rPr lang="en-US" sz="900" dirty="0">
                <a:solidFill>
                  <a:srgbClr val="4A4A4A"/>
                </a:solidFill>
                <a:latin typeface="Calibri"/>
              </a:rPr>
              <a:t>1</a:t>
            </a:r>
            <a:r>
              <a:rPr sz="900" dirty="0">
                <a:solidFill>
                  <a:srgbClr val="4A4A4A"/>
                </a:solidFill>
                <a:latin typeface="Calibri"/>
              </a:rPr>
              <a:t>/ 1</a:t>
            </a:r>
            <a:r>
              <a:rPr lang="en-US" sz="900" dirty="0">
                <a:solidFill>
                  <a:srgbClr val="4A4A4A"/>
                </a:solidFill>
                <a:latin typeface="Calibri"/>
              </a:rPr>
              <a:t>7</a:t>
            </a:r>
            <a:endParaRPr sz="900" dirty="0">
              <a:solidFill>
                <a:srgbClr val="4A4A4A"/>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86942-A89F-E6FF-4894-3A51C8A5B90A}"/>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51673F2E-422B-553A-9F91-4BDF8638A802}"/>
              </a:ext>
            </a:extLst>
          </p:cNvPr>
          <p:cNvSpPr txBox="1"/>
          <p:nvPr/>
        </p:nvSpPr>
        <p:spPr>
          <a:xfrm>
            <a:off x="365760" y="6492240"/>
            <a:ext cx="11460175" cy="274320"/>
          </a:xfrm>
          <a:prstGeom prst="rect">
            <a:avLst/>
          </a:prstGeom>
          <a:noFill/>
        </p:spPr>
        <p:txBody>
          <a:bodyPr wrap="none">
            <a:spAutoFit/>
          </a:bodyPr>
          <a:lstStyle/>
          <a:p>
            <a:pPr algn="l"/>
            <a:r>
              <a:rPr sz="900" dirty="0">
                <a:solidFill>
                  <a:srgbClr val="4A4A4A"/>
                </a:solidFill>
                <a:latin typeface="Calibri"/>
              </a:rPr>
              <a:t>Ankit Kumar Honey  |  CSCI E-222  |  Spring 2026</a:t>
            </a:r>
          </a:p>
        </p:txBody>
      </p:sp>
      <p:sp>
        <p:nvSpPr>
          <p:cNvPr id="13" name="Title 5">
            <a:extLst>
              <a:ext uri="{FF2B5EF4-FFF2-40B4-BE49-F238E27FC236}">
                <a16:creationId xmlns:a16="http://schemas.microsoft.com/office/drawing/2014/main" id="{0ADC18F1-8444-C45E-CA77-20617A8B6610}"/>
              </a:ext>
            </a:extLst>
          </p:cNvPr>
          <p:cNvSpPr txBox="1">
            <a:spLocks/>
          </p:cNvSpPr>
          <p:nvPr/>
        </p:nvSpPr>
        <p:spPr bwMode="auto">
          <a:xfrm>
            <a:off x="1295400" y="266859"/>
            <a:ext cx="8229600" cy="71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ctr" rtl="0" eaLnBrk="0" fontAlgn="base" hangingPunct="0">
              <a:spcBef>
                <a:spcPct val="0"/>
              </a:spcBef>
              <a:spcAft>
                <a:spcPct val="0"/>
              </a:spcAft>
              <a:defRPr sz="3200" kern="1200" baseline="0">
                <a:solidFill>
                  <a:srgbClr val="0070C0"/>
                </a:solidFill>
                <a:latin typeface="+mj-lt"/>
                <a:ea typeface="+mj-ea"/>
                <a:cs typeface="+mj-cs"/>
              </a:defRPr>
            </a:lvl1pPr>
            <a:lvl2pPr algn="ctr" rtl="0" eaLnBrk="0" fontAlgn="base" hangingPunct="0">
              <a:spcBef>
                <a:spcPct val="0"/>
              </a:spcBef>
              <a:spcAft>
                <a:spcPct val="0"/>
              </a:spcAft>
              <a:defRPr sz="3600">
                <a:solidFill>
                  <a:schemeClr val="hlink"/>
                </a:solidFill>
                <a:latin typeface="Calibri" pitchFamily="34" charset="0"/>
              </a:defRPr>
            </a:lvl2pPr>
            <a:lvl3pPr algn="ctr" rtl="0" eaLnBrk="0" fontAlgn="base" hangingPunct="0">
              <a:spcBef>
                <a:spcPct val="0"/>
              </a:spcBef>
              <a:spcAft>
                <a:spcPct val="0"/>
              </a:spcAft>
              <a:defRPr sz="3600">
                <a:solidFill>
                  <a:schemeClr val="hlink"/>
                </a:solidFill>
                <a:latin typeface="Calibri" pitchFamily="34" charset="0"/>
              </a:defRPr>
            </a:lvl3pPr>
            <a:lvl4pPr algn="ctr" rtl="0" eaLnBrk="0" fontAlgn="base" hangingPunct="0">
              <a:spcBef>
                <a:spcPct val="0"/>
              </a:spcBef>
              <a:spcAft>
                <a:spcPct val="0"/>
              </a:spcAft>
              <a:defRPr sz="3600">
                <a:solidFill>
                  <a:schemeClr val="hlink"/>
                </a:solidFill>
                <a:latin typeface="Calibri" pitchFamily="34" charset="0"/>
              </a:defRPr>
            </a:lvl4pPr>
            <a:lvl5pPr algn="ctr" rtl="0" eaLnBrk="0" fontAlgn="base" hangingPunct="0">
              <a:spcBef>
                <a:spcPct val="0"/>
              </a:spcBef>
              <a:spcAft>
                <a:spcPct val="0"/>
              </a:spcAft>
              <a:defRPr sz="3600">
                <a:solidFill>
                  <a:schemeClr val="hlink"/>
                </a:solidFill>
                <a:latin typeface="Calibri" pitchFamily="34" charset="0"/>
              </a:defRPr>
            </a:lvl5pPr>
            <a:lvl6pPr marL="457200" algn="ctr" rtl="0" fontAlgn="base">
              <a:spcBef>
                <a:spcPct val="0"/>
              </a:spcBef>
              <a:spcAft>
                <a:spcPct val="0"/>
              </a:spcAft>
              <a:defRPr sz="3600">
                <a:solidFill>
                  <a:schemeClr val="hlink"/>
                </a:solidFill>
                <a:latin typeface="Calibri" pitchFamily="34" charset="0"/>
              </a:defRPr>
            </a:lvl6pPr>
            <a:lvl7pPr marL="914400" algn="ctr" rtl="0" fontAlgn="base">
              <a:spcBef>
                <a:spcPct val="0"/>
              </a:spcBef>
              <a:spcAft>
                <a:spcPct val="0"/>
              </a:spcAft>
              <a:defRPr sz="3600">
                <a:solidFill>
                  <a:schemeClr val="hlink"/>
                </a:solidFill>
                <a:latin typeface="Calibri" pitchFamily="34" charset="0"/>
              </a:defRPr>
            </a:lvl7pPr>
            <a:lvl8pPr marL="1371600" algn="ctr" rtl="0" fontAlgn="base">
              <a:spcBef>
                <a:spcPct val="0"/>
              </a:spcBef>
              <a:spcAft>
                <a:spcPct val="0"/>
              </a:spcAft>
              <a:defRPr sz="3600">
                <a:solidFill>
                  <a:schemeClr val="hlink"/>
                </a:solidFill>
                <a:latin typeface="Calibri" pitchFamily="34" charset="0"/>
              </a:defRPr>
            </a:lvl8pPr>
            <a:lvl9pPr marL="1828800" algn="ctr" rtl="0" fontAlgn="base">
              <a:spcBef>
                <a:spcPct val="0"/>
              </a:spcBef>
              <a:spcAft>
                <a:spcPct val="0"/>
              </a:spcAft>
              <a:defRPr sz="3600">
                <a:solidFill>
                  <a:schemeClr val="hlink"/>
                </a:solidFill>
                <a:latin typeface="Calibri" pitchFamily="34" charset="0"/>
              </a:defRPr>
            </a:lvl9pPr>
          </a:lstStyle>
          <a:p>
            <a:pPr algn="ctr" defTabSz="914400"/>
            <a:r>
              <a:rPr lang="en-US" b="1" dirty="0">
                <a:latin typeface="Garamond" panose="02020404030301010803" pitchFamily="18" charset="0"/>
              </a:rPr>
              <a:t>Introduction</a:t>
            </a:r>
            <a:endParaRPr b="1" dirty="0">
              <a:latin typeface="Garamond" panose="02020404030301010803" pitchFamily="18" charset="0"/>
            </a:endParaRPr>
          </a:p>
        </p:txBody>
      </p:sp>
      <p:sp>
        <p:nvSpPr>
          <p:cNvPr id="14" name="TextBox 13">
            <a:extLst>
              <a:ext uri="{FF2B5EF4-FFF2-40B4-BE49-F238E27FC236}">
                <a16:creationId xmlns:a16="http://schemas.microsoft.com/office/drawing/2014/main" id="{F0728AAF-5091-52A8-F531-5A8623D93EB2}"/>
              </a:ext>
            </a:extLst>
          </p:cNvPr>
          <p:cNvSpPr txBox="1"/>
          <p:nvPr/>
        </p:nvSpPr>
        <p:spPr>
          <a:xfrm>
            <a:off x="11554845" y="6492240"/>
            <a:ext cx="453970" cy="230832"/>
          </a:xfrm>
          <a:prstGeom prst="rect">
            <a:avLst/>
          </a:prstGeom>
          <a:noFill/>
        </p:spPr>
        <p:txBody>
          <a:bodyPr wrap="none">
            <a:spAutoFit/>
          </a:bodyPr>
          <a:lstStyle/>
          <a:p>
            <a:pPr algn="r"/>
            <a:r>
              <a:rPr sz="900" dirty="0">
                <a:solidFill>
                  <a:srgbClr val="4A4A4A"/>
                </a:solidFill>
                <a:latin typeface="Calibri"/>
              </a:rPr>
              <a:t>2 / 1</a:t>
            </a:r>
            <a:r>
              <a:rPr lang="en-US" sz="900" dirty="0">
                <a:solidFill>
                  <a:srgbClr val="4A4A4A"/>
                </a:solidFill>
                <a:latin typeface="Calibri"/>
              </a:rPr>
              <a:t>7</a:t>
            </a:r>
            <a:endParaRPr sz="900" dirty="0">
              <a:solidFill>
                <a:srgbClr val="4A4A4A"/>
              </a:solidFill>
              <a:latin typeface="Calibri"/>
            </a:endParaRPr>
          </a:p>
        </p:txBody>
      </p:sp>
      <p:sp>
        <p:nvSpPr>
          <p:cNvPr id="15" name="TextBox 14"/>
          <p:cNvSpPr txBox="1"/>
          <p:nvPr/>
        </p:nvSpPr>
        <p:spPr>
          <a:xfrm>
            <a:off x="822960" y="1280160"/>
            <a:ext cx="10515600" cy="1920240"/>
          </a:xfrm>
          <a:prstGeom prst="rect">
            <a:avLst/>
          </a:prstGeom>
          <a:noFill/>
        </p:spPr>
        <p:txBody>
          <a:bodyPr wrap="square">
            <a:spAutoFit/>
          </a:bodyPr>
          <a:lstStyle/>
          <a:p>
            <a:pPr algn="l">
              <a:lnSpc>
                <a:spcPct val="130000"/>
              </a:lnSpc>
            </a:pPr>
            <a:r>
              <a:rPr sz="1600" dirty="0">
                <a:solidFill>
                  <a:srgbClr val="222222"/>
                </a:solidFill>
                <a:latin typeface="Calibri"/>
              </a:rPr>
              <a:t>GitHub Dependabot scans millions of repositories every day and surfaces vulnerability alerts for every dependency affected by a known CVE. Most of those alerts are </a:t>
            </a:r>
            <a:r>
              <a:rPr sz="1600" b="1" dirty="0">
                <a:solidFill>
                  <a:srgbClr val="1E2761"/>
                </a:solidFill>
                <a:latin typeface="Calibri"/>
              </a:rPr>
              <a:t>technically valid but functionally irrelevant</a:t>
            </a:r>
            <a:r>
              <a:rPr sz="1600" dirty="0">
                <a:solidFill>
                  <a:srgbClr val="222222"/>
                </a:solidFill>
                <a:latin typeface="Calibri"/>
              </a:rPr>
              <a:t> — the vulnerable function is never reached by the consuming application. Developers learn to ignore alerts. Real threats slip through.</a:t>
            </a:r>
          </a:p>
          <a:p>
            <a:endParaRPr sz="1600" dirty="0">
              <a:solidFill>
                <a:srgbClr val="222222"/>
              </a:solidFill>
              <a:latin typeface="Calibri"/>
            </a:endParaRPr>
          </a:p>
          <a:p>
            <a:pPr algn="l">
              <a:lnSpc>
                <a:spcPct val="130000"/>
              </a:lnSpc>
            </a:pPr>
            <a:r>
              <a:rPr sz="1600" dirty="0">
                <a:solidFill>
                  <a:srgbClr val="222222"/>
                </a:solidFill>
                <a:latin typeface="Calibri"/>
              </a:rPr>
              <a:t>Mapping the course topic of misinformation detection onto this problem, we ask: </a:t>
            </a:r>
            <a:r>
              <a:rPr sz="1600" i="1" dirty="0">
                <a:solidFill>
                  <a:srgbClr val="1E2761"/>
                </a:solidFill>
                <a:latin typeface="Calibri"/>
              </a:rPr>
              <a:t>is this alert a real threat or a false positive?</a:t>
            </a:r>
            <a:r>
              <a:rPr sz="1600" dirty="0">
                <a:solidFill>
                  <a:srgbClr val="222222"/>
                </a:solidFill>
                <a:latin typeface="Calibri"/>
              </a:rPr>
              <a:t> A four-stage pipeline fuses CVE-description embeddings, EPSS/CVSS structured features, and reachability signals from a static call graph plus an LLM reasoner.</a:t>
            </a:r>
          </a:p>
        </p:txBody>
      </p:sp>
      <p:sp>
        <p:nvSpPr>
          <p:cNvPr id="16" name="TextBox 15"/>
          <p:cNvSpPr txBox="1"/>
          <p:nvPr/>
        </p:nvSpPr>
        <p:spPr>
          <a:xfrm>
            <a:off x="457200" y="4206240"/>
            <a:ext cx="11247120" cy="320040"/>
          </a:xfrm>
          <a:prstGeom prst="rect">
            <a:avLst/>
          </a:prstGeom>
          <a:noFill/>
        </p:spPr>
        <p:txBody>
          <a:bodyPr wrap="none">
            <a:spAutoFit/>
          </a:bodyPr>
          <a:lstStyle/>
          <a:p>
            <a:pPr algn="ctr"/>
            <a:r>
              <a:rPr sz="1100" b="1">
                <a:solidFill>
                  <a:srgbClr val="4A4A4A"/>
                </a:solidFill>
                <a:latin typeface="Calibri"/>
              </a:rPr>
              <a:t>HEADLINE RESULT  ·  1,781-alert held-out test set</a:t>
            </a:r>
          </a:p>
        </p:txBody>
      </p:sp>
      <p:sp>
        <p:nvSpPr>
          <p:cNvPr id="17" name="TextBox 16"/>
          <p:cNvSpPr txBox="1"/>
          <p:nvPr/>
        </p:nvSpPr>
        <p:spPr>
          <a:xfrm>
            <a:off x="457200" y="4572000"/>
            <a:ext cx="2743200" cy="1371600"/>
          </a:xfrm>
          <a:prstGeom prst="rect">
            <a:avLst/>
          </a:prstGeom>
          <a:noFill/>
        </p:spPr>
        <p:txBody>
          <a:bodyPr wrap="square" anchor="t">
            <a:spAutoFit/>
          </a:bodyPr>
          <a:lstStyle/>
          <a:p>
            <a:pPr algn="ctr"/>
            <a:r>
              <a:rPr sz="3200" b="1">
                <a:solidFill>
                  <a:srgbClr val="1E2761"/>
                </a:solidFill>
                <a:latin typeface="Calibri"/>
              </a:rPr>
              <a:t>17,790</a:t>
            </a:r>
          </a:p>
          <a:p>
            <a:pPr algn="ctr">
              <a:spcBef>
                <a:spcPts val="400"/>
              </a:spcBef>
            </a:pPr>
            <a:r>
              <a:rPr sz="1100">
                <a:solidFill>
                  <a:srgbClr val="4A4A4A"/>
                </a:solidFill>
                <a:latin typeface="Calibri"/>
              </a:rPr>
              <a:t>alerts evaluated</a:t>
            </a:r>
          </a:p>
        </p:txBody>
      </p:sp>
      <p:sp>
        <p:nvSpPr>
          <p:cNvPr id="18" name="TextBox 17"/>
          <p:cNvSpPr txBox="1"/>
          <p:nvPr/>
        </p:nvSpPr>
        <p:spPr>
          <a:xfrm>
            <a:off x="3337560" y="4572000"/>
            <a:ext cx="2743200" cy="1371600"/>
          </a:xfrm>
          <a:prstGeom prst="rect">
            <a:avLst/>
          </a:prstGeom>
          <a:noFill/>
        </p:spPr>
        <p:txBody>
          <a:bodyPr wrap="square" anchor="t">
            <a:spAutoFit/>
          </a:bodyPr>
          <a:lstStyle/>
          <a:p>
            <a:pPr algn="ctr"/>
            <a:r>
              <a:rPr sz="3200" b="1">
                <a:solidFill>
                  <a:srgbClr val="B85042"/>
                </a:solidFill>
                <a:latin typeface="Calibri"/>
              </a:rPr>
              <a:t>F1 = 0.979</a:t>
            </a:r>
          </a:p>
          <a:p>
            <a:pPr algn="ctr">
              <a:spcBef>
                <a:spcPts val="400"/>
              </a:spcBef>
            </a:pPr>
            <a:r>
              <a:rPr sz="1100">
                <a:solidFill>
                  <a:srgbClr val="4A4A4A"/>
                </a:solidFill>
                <a:latin typeface="Calibri"/>
              </a:rPr>
              <a:t>full pipeline test</a:t>
            </a:r>
          </a:p>
        </p:txBody>
      </p:sp>
      <p:sp>
        <p:nvSpPr>
          <p:cNvPr id="19" name="TextBox 18"/>
          <p:cNvSpPr txBox="1"/>
          <p:nvPr/>
        </p:nvSpPr>
        <p:spPr>
          <a:xfrm>
            <a:off x="6217920" y="4572000"/>
            <a:ext cx="2743200" cy="1371600"/>
          </a:xfrm>
          <a:prstGeom prst="rect">
            <a:avLst/>
          </a:prstGeom>
          <a:noFill/>
        </p:spPr>
        <p:txBody>
          <a:bodyPr wrap="square" anchor="t">
            <a:spAutoFit/>
          </a:bodyPr>
          <a:lstStyle/>
          <a:p>
            <a:pPr algn="ctr"/>
            <a:r>
              <a:rPr sz="3200" b="1">
                <a:solidFill>
                  <a:srgbClr val="1E2761"/>
                </a:solidFill>
                <a:latin typeface="Calibri"/>
              </a:rPr>
              <a:t>Recall 0.980</a:t>
            </a:r>
          </a:p>
          <a:p>
            <a:pPr algn="ctr">
              <a:spcBef>
                <a:spcPts val="400"/>
              </a:spcBef>
            </a:pPr>
            <a:r>
              <a:rPr sz="1100">
                <a:solidFill>
                  <a:srgbClr val="4A4A4A"/>
                </a:solidFill>
                <a:latin typeface="Calibri"/>
              </a:rPr>
              <a:t>8 of 402 true positives missed</a:t>
            </a:r>
          </a:p>
        </p:txBody>
      </p:sp>
      <p:sp>
        <p:nvSpPr>
          <p:cNvPr id="20" name="TextBox 19"/>
          <p:cNvSpPr txBox="1"/>
          <p:nvPr/>
        </p:nvSpPr>
        <p:spPr>
          <a:xfrm>
            <a:off x="9098280" y="4572000"/>
            <a:ext cx="2743200" cy="1371600"/>
          </a:xfrm>
          <a:prstGeom prst="rect">
            <a:avLst/>
          </a:prstGeom>
          <a:noFill/>
        </p:spPr>
        <p:txBody>
          <a:bodyPr wrap="square" anchor="t">
            <a:spAutoFit/>
          </a:bodyPr>
          <a:lstStyle/>
          <a:p>
            <a:pPr algn="ctr"/>
            <a:r>
              <a:rPr sz="3200" b="1">
                <a:solidFill>
                  <a:srgbClr val="1E2761"/>
                </a:solidFill>
                <a:latin typeface="Calibri"/>
              </a:rPr>
              <a:t>9 FP</a:t>
            </a:r>
          </a:p>
          <a:p>
            <a:pPr algn="ctr">
              <a:spcBef>
                <a:spcPts val="400"/>
              </a:spcBef>
            </a:pPr>
            <a:r>
              <a:rPr sz="1100">
                <a:solidFill>
                  <a:srgbClr val="4A4A4A"/>
                </a:solidFill>
                <a:latin typeface="Calibri"/>
              </a:rPr>
              <a:t>on 1,379 negatives (0.65%)</a:t>
            </a:r>
          </a:p>
        </p:txBody>
      </p:sp>
    </p:spTree>
    <p:extLst>
      <p:ext uri="{BB962C8B-B14F-4D97-AF65-F5344CB8AC3E}">
        <p14:creationId xmlns:p14="http://schemas.microsoft.com/office/powerpoint/2010/main" val="30649545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29541" y="411480"/>
            <a:ext cx="7715703" cy="584775"/>
          </a:xfrm>
          <a:prstGeom prst="rect">
            <a:avLst/>
          </a:prstGeom>
          <a:noFill/>
        </p:spPr>
        <p:txBody>
          <a:bodyPr wrap="none">
            <a:spAutoFit/>
          </a:bodyPr>
          <a:lstStyle/>
          <a:p>
            <a:pPr algn="ctr" defTabSz="914400" eaLnBrk="0" fontAlgn="base" hangingPunct="0">
              <a:spcBef>
                <a:spcPct val="0"/>
              </a:spcBef>
              <a:spcAft>
                <a:spcPct val="0"/>
              </a:spcAft>
            </a:pPr>
            <a:r>
              <a:rPr sz="3200" b="1" dirty="0">
                <a:solidFill>
                  <a:srgbClr val="0070C0"/>
                </a:solidFill>
                <a:latin typeface="Garamond" panose="02020404030301010803" pitchFamily="18" charset="0"/>
                <a:ea typeface="+mj-ea"/>
                <a:cs typeface="+mj-cs"/>
              </a:rPr>
              <a:t>The problem: alert fatigue is the bottleneck</a:t>
            </a:r>
          </a:p>
        </p:txBody>
      </p:sp>
      <p:sp>
        <p:nvSpPr>
          <p:cNvPr id="4" name="TextBox 3"/>
          <p:cNvSpPr txBox="1"/>
          <p:nvPr/>
        </p:nvSpPr>
        <p:spPr>
          <a:xfrm>
            <a:off x="457200" y="960120"/>
            <a:ext cx="11247120" cy="365760"/>
          </a:xfrm>
          <a:prstGeom prst="rect">
            <a:avLst/>
          </a:prstGeom>
          <a:noFill/>
        </p:spPr>
        <p:txBody>
          <a:bodyPr wrap="none">
            <a:spAutoFit/>
          </a:bodyPr>
          <a:lstStyle/>
          <a:p>
            <a:pPr algn="l"/>
            <a:r>
              <a:rPr sz="1400" i="1">
                <a:solidFill>
                  <a:srgbClr val="B85042"/>
                </a:solidFill>
                <a:latin typeface="Calibri"/>
              </a:rPr>
              <a:t>Same CVE, same package, same CVSS, same EPSS, different real-world risk.</a:t>
            </a:r>
          </a:p>
        </p:txBody>
      </p:sp>
      <p:sp>
        <p:nvSpPr>
          <p:cNvPr id="5" name="TextBox 4"/>
          <p:cNvSpPr txBox="1"/>
          <p:nvPr/>
        </p:nvSpPr>
        <p:spPr>
          <a:xfrm>
            <a:off x="548640" y="1554480"/>
            <a:ext cx="5852160" cy="3200400"/>
          </a:xfrm>
          <a:prstGeom prst="rect">
            <a:avLst/>
          </a:prstGeom>
          <a:noFill/>
        </p:spPr>
        <p:txBody>
          <a:bodyPr wrap="square" lIns="25400" rIns="25400">
            <a:spAutoFit/>
          </a:bodyPr>
          <a:lstStyle/>
          <a:p>
            <a:pPr algn="l">
              <a:spcAft>
                <a:spcPts val="600"/>
              </a:spcAft>
            </a:pPr>
            <a:r>
              <a:rPr sz="1400" dirty="0">
                <a:solidFill>
                  <a:srgbClr val="4A4A4A"/>
                </a:solidFill>
                <a:latin typeface="Calibri"/>
              </a:rPr>
              <a:t>•  Dependabot alone surfaces millions of CVE alerts per day across GitHub.</a:t>
            </a:r>
          </a:p>
          <a:p>
            <a:pPr algn="l">
              <a:spcAft>
                <a:spcPts val="600"/>
              </a:spcAft>
            </a:pPr>
            <a:r>
              <a:rPr sz="1400" dirty="0">
                <a:solidFill>
                  <a:srgbClr val="4A4A4A"/>
                </a:solidFill>
                <a:latin typeface="Calibri"/>
              </a:rPr>
              <a:t>•  A large fraction are technically valid but functionally irrelevant. The vulnerable function is never reached by the consuming application.</a:t>
            </a:r>
          </a:p>
          <a:p>
            <a:pPr algn="l">
              <a:spcAft>
                <a:spcPts val="600"/>
              </a:spcAft>
            </a:pPr>
            <a:r>
              <a:rPr sz="1400" dirty="0">
                <a:solidFill>
                  <a:srgbClr val="4A4A4A"/>
                </a:solidFill>
                <a:latin typeface="Calibri"/>
              </a:rPr>
              <a:t>•  Developers learn to ignore alerts. Real threats slip through.</a:t>
            </a:r>
          </a:p>
          <a:p>
            <a:pPr algn="l">
              <a:spcAft>
                <a:spcPts val="600"/>
              </a:spcAft>
            </a:pPr>
            <a:r>
              <a:rPr sz="1400" dirty="0">
                <a:solidFill>
                  <a:srgbClr val="4A4A4A"/>
                </a:solidFill>
                <a:latin typeface="Calibri"/>
              </a:rPr>
              <a:t>•  Pure severity (CVSS) and exploit probability (EPSS) cannot resolve this. They describe the CVE, not the application.</a:t>
            </a:r>
          </a:p>
          <a:p>
            <a:pPr algn="l">
              <a:spcAft>
                <a:spcPts val="600"/>
              </a:spcAft>
            </a:pPr>
            <a:r>
              <a:rPr sz="1400" dirty="0">
                <a:solidFill>
                  <a:srgbClr val="4A4A4A"/>
                </a:solidFill>
                <a:latin typeface="Calibri"/>
              </a:rPr>
              <a:t>•  Course parallel: identical structure to fake-news classification. True versus misleading in context.</a:t>
            </a:r>
          </a:p>
        </p:txBody>
      </p:sp>
      <p:sp>
        <p:nvSpPr>
          <p:cNvPr id="6" name="Rounded Rectangle 5"/>
          <p:cNvSpPr/>
          <p:nvPr/>
        </p:nvSpPr>
        <p:spPr>
          <a:xfrm>
            <a:off x="6583680" y="1554480"/>
            <a:ext cx="5303520" cy="1828800"/>
          </a:xfrm>
          <a:prstGeom prst="roundRect">
            <a:avLst/>
          </a:prstGeom>
          <a:solidFill>
            <a:srgbClr val="ECF8EE"/>
          </a:solidFill>
          <a:ln w="9525">
            <a:solidFill>
              <a:srgbClr val="4CAF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766560" y="1645920"/>
            <a:ext cx="5029200" cy="274320"/>
          </a:xfrm>
          <a:prstGeom prst="rect">
            <a:avLst/>
          </a:prstGeom>
          <a:noFill/>
        </p:spPr>
        <p:txBody>
          <a:bodyPr wrap="square" lIns="25400" tIns="25400" rIns="25400" bIns="25400">
            <a:spAutoFit/>
          </a:bodyPr>
          <a:lstStyle/>
          <a:p>
            <a:pPr algn="l"/>
            <a:r>
              <a:rPr sz="1100" b="1" i="0">
                <a:solidFill>
                  <a:srgbClr val="2E7D32"/>
                </a:solidFill>
                <a:latin typeface="Calibri"/>
              </a:rPr>
              <a:t>FALSE POSITIVE, unreachable</a:t>
            </a:r>
          </a:p>
        </p:txBody>
      </p:sp>
      <p:sp>
        <p:nvSpPr>
          <p:cNvPr id="8" name="Rectangle 7"/>
          <p:cNvSpPr/>
          <p:nvPr/>
        </p:nvSpPr>
        <p:spPr>
          <a:xfrm>
            <a:off x="6766560" y="1965960"/>
            <a:ext cx="5029200" cy="1325880"/>
          </a:xfrm>
          <a:prstGeom prst="rect">
            <a:avLst/>
          </a:prstGeom>
          <a:solidFill>
            <a:srgbClr val="2129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903720" y="2057400"/>
            <a:ext cx="4754880" cy="1143000"/>
          </a:xfrm>
          <a:prstGeom prst="rect">
            <a:avLst/>
          </a:prstGeom>
          <a:noFill/>
        </p:spPr>
        <p:txBody>
          <a:bodyPr wrap="square">
            <a:spAutoFit/>
          </a:bodyPr>
          <a:lstStyle/>
          <a:p>
            <a:pPr algn="l">
              <a:spcAft>
                <a:spcPts val="0"/>
              </a:spcAft>
            </a:pPr>
            <a:r>
              <a:rPr sz="1000">
                <a:solidFill>
                  <a:srgbClr val="FFFFFF"/>
                </a:solidFill>
                <a:latin typeface="Consolas"/>
              </a:rPr>
              <a:t>const _ = require('lodash');</a:t>
            </a:r>
          </a:p>
          <a:p>
            <a:pPr algn="l">
              <a:spcAft>
                <a:spcPts val="0"/>
              </a:spcAft>
            </a:pPr>
            <a:endParaRPr sz="1000">
              <a:solidFill>
                <a:srgbClr val="FFFFFF"/>
              </a:solidFill>
              <a:latin typeface="Consolas"/>
            </a:endParaRPr>
          </a:p>
          <a:p>
            <a:pPr algn="l">
              <a:spcAft>
                <a:spcPts val="0"/>
              </a:spcAft>
            </a:pPr>
            <a:r>
              <a:rPr sz="1000">
                <a:solidFill>
                  <a:srgbClr val="FFFFFF"/>
                </a:solidFill>
                <a:latin typeface="Consolas"/>
              </a:rPr>
              <a:t>_.map(users, u =&gt;</a:t>
            </a:r>
          </a:p>
          <a:p>
            <a:pPr algn="l">
              <a:spcAft>
                <a:spcPts val="0"/>
              </a:spcAft>
            </a:pPr>
            <a:r>
              <a:rPr sz="1000">
                <a:solidFill>
                  <a:srgbClr val="FFFFFF"/>
                </a:solidFill>
                <a:latin typeface="Consolas"/>
              </a:rPr>
              <a:t>    _.capitalize(u.name));</a:t>
            </a:r>
          </a:p>
        </p:txBody>
      </p:sp>
      <p:sp>
        <p:nvSpPr>
          <p:cNvPr id="10" name="Rounded Rectangle 9"/>
          <p:cNvSpPr/>
          <p:nvPr/>
        </p:nvSpPr>
        <p:spPr>
          <a:xfrm>
            <a:off x="6583680" y="3520440"/>
            <a:ext cx="5303520" cy="1828800"/>
          </a:xfrm>
          <a:prstGeom prst="roundRect">
            <a:avLst/>
          </a:prstGeom>
          <a:solidFill>
            <a:srgbClr val="FDE7E7"/>
          </a:solidFill>
          <a:ln w="9525">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766560" y="3611880"/>
            <a:ext cx="5029200" cy="274320"/>
          </a:xfrm>
          <a:prstGeom prst="rect">
            <a:avLst/>
          </a:prstGeom>
          <a:noFill/>
        </p:spPr>
        <p:txBody>
          <a:bodyPr wrap="square" lIns="25400" tIns="25400" rIns="25400" bIns="25400">
            <a:spAutoFit/>
          </a:bodyPr>
          <a:lstStyle/>
          <a:p>
            <a:pPr algn="l"/>
            <a:r>
              <a:rPr sz="1100" b="1" i="0">
                <a:solidFill>
                  <a:srgbClr val="B71C1C"/>
                </a:solidFill>
                <a:latin typeface="Calibri"/>
              </a:rPr>
              <a:t>TRUE POSITIVE, reachable and tainted</a:t>
            </a:r>
          </a:p>
        </p:txBody>
      </p:sp>
      <p:sp>
        <p:nvSpPr>
          <p:cNvPr id="12" name="Rectangle 11"/>
          <p:cNvSpPr/>
          <p:nvPr/>
        </p:nvSpPr>
        <p:spPr>
          <a:xfrm>
            <a:off x="6766560" y="3931920"/>
            <a:ext cx="5029200" cy="1325880"/>
          </a:xfrm>
          <a:prstGeom prst="rect">
            <a:avLst/>
          </a:prstGeom>
          <a:solidFill>
            <a:srgbClr val="2129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903720" y="4023359"/>
            <a:ext cx="4754880" cy="1143000"/>
          </a:xfrm>
          <a:prstGeom prst="rect">
            <a:avLst/>
          </a:prstGeom>
          <a:noFill/>
        </p:spPr>
        <p:txBody>
          <a:bodyPr wrap="square">
            <a:spAutoFit/>
          </a:bodyPr>
          <a:lstStyle/>
          <a:p>
            <a:pPr algn="l">
              <a:spcAft>
                <a:spcPts val="0"/>
              </a:spcAft>
            </a:pPr>
            <a:r>
              <a:rPr sz="1000">
                <a:solidFill>
                  <a:srgbClr val="FFFFFF"/>
                </a:solidFill>
                <a:latin typeface="Consolas"/>
              </a:rPr>
              <a:t>_.template(tpl, {</a:t>
            </a:r>
          </a:p>
          <a:p>
            <a:pPr algn="l">
              <a:spcAft>
                <a:spcPts val="0"/>
              </a:spcAft>
            </a:pPr>
            <a:r>
              <a:rPr sz="1000">
                <a:solidFill>
                  <a:srgbClr val="FFFFFF"/>
                </a:solidFill>
                <a:latin typeface="Consolas"/>
              </a:rPr>
              <a:t>    sourceURL: req.query.src</a:t>
            </a:r>
          </a:p>
          <a:p>
            <a:pPr algn="l">
              <a:spcAft>
                <a:spcPts val="0"/>
              </a:spcAft>
            </a:pPr>
            <a:r>
              <a:rPr sz="1000">
                <a:solidFill>
                  <a:srgbClr val="FFFFFF"/>
                </a:solidFill>
                <a:latin typeface="Consolas"/>
              </a:rPr>
              <a:t>})(data);</a:t>
            </a:r>
          </a:p>
          <a:p>
            <a:pPr algn="l">
              <a:spcAft>
                <a:spcPts val="0"/>
              </a:spcAft>
            </a:pPr>
            <a:endParaRPr sz="1000">
              <a:solidFill>
                <a:srgbClr val="FFFFFF"/>
              </a:solidFill>
              <a:latin typeface="Consolas"/>
            </a:endParaRPr>
          </a:p>
        </p:txBody>
      </p:sp>
      <p:sp>
        <p:nvSpPr>
          <p:cNvPr id="14" name="TextBox 13"/>
          <p:cNvSpPr txBox="1"/>
          <p:nvPr/>
        </p:nvSpPr>
        <p:spPr>
          <a:xfrm>
            <a:off x="548640" y="6035040"/>
            <a:ext cx="10972800" cy="320040"/>
          </a:xfrm>
          <a:prstGeom prst="rect">
            <a:avLst/>
          </a:prstGeom>
          <a:noFill/>
        </p:spPr>
        <p:txBody>
          <a:bodyPr wrap="square" lIns="25400" tIns="25400" rIns="25400" bIns="25400">
            <a:spAutoFit/>
          </a:bodyPr>
          <a:lstStyle/>
          <a:p>
            <a:pPr algn="l"/>
            <a:r>
              <a:rPr sz="1200" b="0" i="1">
                <a:solidFill>
                  <a:srgbClr val="B85042"/>
                </a:solidFill>
                <a:latin typeface="Calibri"/>
              </a:rPr>
              <a:t>Both pin lodash@4.17.20. CVSS = 7.2. EPSS = 0.0023. Only reachability separates them.</a:t>
            </a:r>
          </a:p>
        </p:txBody>
      </p:sp>
      <p:sp>
        <p:nvSpPr>
          <p:cNvPr id="15" name="TextBox 14"/>
          <p:cNvSpPr txBox="1"/>
          <p:nvPr/>
        </p:nvSpPr>
        <p:spPr>
          <a:xfrm>
            <a:off x="365760" y="6492240"/>
            <a:ext cx="11460175" cy="274320"/>
          </a:xfrm>
          <a:prstGeom prst="rect">
            <a:avLst/>
          </a:prstGeom>
          <a:noFill/>
        </p:spPr>
        <p:txBody>
          <a:bodyPr wrap="none">
            <a:spAutoFit/>
          </a:bodyPr>
          <a:lstStyle/>
          <a:p>
            <a:pPr algn="l"/>
            <a:r>
              <a:rPr sz="900" dirty="0">
                <a:solidFill>
                  <a:srgbClr val="4A4A4A"/>
                </a:solidFill>
                <a:latin typeface="Calibri"/>
              </a:rPr>
              <a:t>Ankit Kumar Honey  |  CSCI E-222  |  Spring 2026</a:t>
            </a:r>
          </a:p>
        </p:txBody>
      </p:sp>
      <p:sp>
        <p:nvSpPr>
          <p:cNvPr id="16" name="TextBox 15"/>
          <p:cNvSpPr txBox="1"/>
          <p:nvPr/>
        </p:nvSpPr>
        <p:spPr>
          <a:xfrm>
            <a:off x="11554845" y="6492240"/>
            <a:ext cx="453970" cy="230832"/>
          </a:xfrm>
          <a:prstGeom prst="rect">
            <a:avLst/>
          </a:prstGeom>
          <a:noFill/>
        </p:spPr>
        <p:txBody>
          <a:bodyPr wrap="none">
            <a:spAutoFit/>
          </a:bodyPr>
          <a:lstStyle/>
          <a:p>
            <a:pPr algn="r"/>
            <a:r>
              <a:rPr lang="en-US" sz="900" dirty="0">
                <a:solidFill>
                  <a:srgbClr val="4A4A4A"/>
                </a:solidFill>
                <a:latin typeface="Calibri"/>
              </a:rPr>
              <a:t>3</a:t>
            </a:r>
            <a:r>
              <a:rPr sz="900" dirty="0">
                <a:solidFill>
                  <a:srgbClr val="4A4A4A"/>
                </a:solidFill>
                <a:latin typeface="Calibri"/>
              </a:rPr>
              <a:t> / 1</a:t>
            </a:r>
            <a:r>
              <a:rPr lang="en-US" sz="900" dirty="0">
                <a:solidFill>
                  <a:srgbClr val="4A4A4A"/>
                </a:solidFill>
                <a:latin typeface="Calibri"/>
              </a:rPr>
              <a:t>7</a:t>
            </a:r>
            <a:endParaRPr sz="900" dirty="0">
              <a:solidFill>
                <a:srgbClr val="4A4A4A"/>
              </a:solidFill>
              <a:latin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411480"/>
            <a:ext cx="5465407" cy="584775"/>
          </a:xfrm>
          <a:prstGeom prst="rect">
            <a:avLst/>
          </a:prstGeom>
          <a:noFill/>
        </p:spPr>
        <p:txBody>
          <a:bodyPr wrap="none">
            <a:spAutoFit/>
          </a:bodyPr>
          <a:lstStyle/>
          <a:p>
            <a:pPr algn="l"/>
            <a:r>
              <a:rPr sz="3200" b="1" dirty="0">
                <a:solidFill>
                  <a:srgbClr val="0070C0"/>
                </a:solidFill>
                <a:latin typeface="Garamond" panose="02020404030301010803" pitchFamily="18" charset="0"/>
                <a:ea typeface="+mj-ea"/>
                <a:cs typeface="+mj-cs"/>
              </a:rPr>
              <a:t>Solution: a four-stage</a:t>
            </a:r>
            <a:r>
              <a:rPr sz="3000" b="1" dirty="0">
                <a:solidFill>
                  <a:srgbClr val="1E2761"/>
                </a:solidFill>
                <a:latin typeface="Calibri"/>
              </a:rPr>
              <a:t> </a:t>
            </a:r>
            <a:r>
              <a:rPr sz="3200" b="1" dirty="0">
                <a:solidFill>
                  <a:srgbClr val="0070C0"/>
                </a:solidFill>
                <a:latin typeface="Garamond" panose="02020404030301010803" pitchFamily="18" charset="0"/>
                <a:ea typeface="+mj-ea"/>
                <a:cs typeface="+mj-cs"/>
              </a:rPr>
              <a:t>classifier</a:t>
            </a:r>
          </a:p>
        </p:txBody>
      </p:sp>
      <p:sp>
        <p:nvSpPr>
          <p:cNvPr id="4" name="TextBox 3"/>
          <p:cNvSpPr txBox="1"/>
          <p:nvPr/>
        </p:nvSpPr>
        <p:spPr>
          <a:xfrm>
            <a:off x="457200" y="960120"/>
            <a:ext cx="11247120" cy="365760"/>
          </a:xfrm>
          <a:prstGeom prst="rect">
            <a:avLst/>
          </a:prstGeom>
          <a:noFill/>
        </p:spPr>
        <p:txBody>
          <a:bodyPr wrap="none">
            <a:spAutoFit/>
          </a:bodyPr>
          <a:lstStyle/>
          <a:p>
            <a:pPr algn="l"/>
            <a:r>
              <a:rPr sz="1400" i="1">
                <a:solidFill>
                  <a:srgbClr val="B85042"/>
                </a:solidFill>
                <a:latin typeface="Calibri"/>
              </a:rPr>
              <a:t>Fuse rule baseline, RoBERTa text features, and reachability into one verdict.</a:t>
            </a:r>
          </a:p>
        </p:txBody>
      </p:sp>
      <p:sp>
        <p:nvSpPr>
          <p:cNvPr id="5" name="Oval 4"/>
          <p:cNvSpPr/>
          <p:nvPr/>
        </p:nvSpPr>
        <p:spPr>
          <a:xfrm>
            <a:off x="1691640" y="1600200"/>
            <a:ext cx="594360" cy="59436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1</a:t>
            </a:r>
          </a:p>
        </p:txBody>
      </p:sp>
      <p:sp>
        <p:nvSpPr>
          <p:cNvPr id="6" name="Rounded Rectangle 5"/>
          <p:cNvSpPr/>
          <p:nvPr/>
        </p:nvSpPr>
        <p:spPr>
          <a:xfrm>
            <a:off x="548640" y="2377440"/>
            <a:ext cx="2743200" cy="3108960"/>
          </a:xfrm>
          <a:prstGeom prst="round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2514600"/>
            <a:ext cx="2743200" cy="365760"/>
          </a:xfrm>
          <a:prstGeom prst="rect">
            <a:avLst/>
          </a:prstGeom>
          <a:noFill/>
        </p:spPr>
        <p:txBody>
          <a:bodyPr wrap="square" lIns="25400" tIns="25400" rIns="25400" bIns="25400">
            <a:spAutoFit/>
          </a:bodyPr>
          <a:lstStyle/>
          <a:p>
            <a:pPr algn="ctr"/>
            <a:r>
              <a:rPr sz="1500" b="1" i="0">
                <a:solidFill>
                  <a:srgbClr val="1E2761"/>
                </a:solidFill>
                <a:latin typeface="Calibri"/>
              </a:rPr>
              <a:t>Baselines</a:t>
            </a:r>
          </a:p>
        </p:txBody>
      </p:sp>
      <p:sp>
        <p:nvSpPr>
          <p:cNvPr id="8" name="TextBox 7"/>
          <p:cNvSpPr txBox="1"/>
          <p:nvPr/>
        </p:nvSpPr>
        <p:spPr>
          <a:xfrm>
            <a:off x="731520" y="2971800"/>
            <a:ext cx="2377440" cy="1828800"/>
          </a:xfrm>
          <a:prstGeom prst="rect">
            <a:avLst/>
          </a:prstGeom>
          <a:noFill/>
        </p:spPr>
        <p:txBody>
          <a:bodyPr wrap="square">
            <a:spAutoFit/>
          </a:bodyPr>
          <a:lstStyle/>
          <a:p>
            <a:pPr algn="ctr"/>
            <a:r>
              <a:rPr sz="1100">
                <a:solidFill>
                  <a:srgbClr val="4A4A4A"/>
                </a:solidFill>
                <a:latin typeface="Calibri"/>
              </a:rPr>
              <a:t>EPSS-threshold rule
TF-IDF + Logistic Reg.</a:t>
            </a:r>
          </a:p>
        </p:txBody>
      </p:sp>
      <p:sp>
        <p:nvSpPr>
          <p:cNvPr id="9" name="TextBox 8"/>
          <p:cNvSpPr txBox="1"/>
          <p:nvPr/>
        </p:nvSpPr>
        <p:spPr>
          <a:xfrm>
            <a:off x="548640" y="4983480"/>
            <a:ext cx="2743200" cy="365760"/>
          </a:xfrm>
          <a:prstGeom prst="rect">
            <a:avLst/>
          </a:prstGeom>
          <a:noFill/>
        </p:spPr>
        <p:txBody>
          <a:bodyPr wrap="square" lIns="25400" tIns="25400" rIns="25400" bIns="25400">
            <a:spAutoFit/>
          </a:bodyPr>
          <a:lstStyle/>
          <a:p>
            <a:pPr algn="ctr"/>
            <a:r>
              <a:rPr sz="1200" b="1" i="1">
                <a:solidFill>
                  <a:srgbClr val="B85042"/>
                </a:solidFill>
                <a:latin typeface="Calibri"/>
              </a:rPr>
              <a:t>0.58 to 0.61 F1</a:t>
            </a:r>
          </a:p>
        </p:txBody>
      </p:sp>
      <p:sp>
        <p:nvSpPr>
          <p:cNvPr id="10" name="Oval 9"/>
          <p:cNvSpPr/>
          <p:nvPr/>
        </p:nvSpPr>
        <p:spPr>
          <a:xfrm>
            <a:off x="4572000" y="1600200"/>
            <a:ext cx="594360" cy="59436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2</a:t>
            </a:r>
          </a:p>
        </p:txBody>
      </p:sp>
      <p:sp>
        <p:nvSpPr>
          <p:cNvPr id="11" name="Rounded Rectangle 10"/>
          <p:cNvSpPr/>
          <p:nvPr/>
        </p:nvSpPr>
        <p:spPr>
          <a:xfrm>
            <a:off x="3429000" y="2377440"/>
            <a:ext cx="2743200" cy="3108960"/>
          </a:xfrm>
          <a:prstGeom prst="round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429000" y="2514600"/>
            <a:ext cx="2743200" cy="365760"/>
          </a:xfrm>
          <a:prstGeom prst="rect">
            <a:avLst/>
          </a:prstGeom>
          <a:noFill/>
        </p:spPr>
        <p:txBody>
          <a:bodyPr wrap="square" lIns="25400" tIns="25400" rIns="25400" bIns="25400">
            <a:spAutoFit/>
          </a:bodyPr>
          <a:lstStyle/>
          <a:p>
            <a:pPr algn="ctr"/>
            <a:r>
              <a:rPr sz="1500" b="1" i="0">
                <a:solidFill>
                  <a:srgbClr val="1E2761"/>
                </a:solidFill>
                <a:latin typeface="Calibri"/>
              </a:rPr>
              <a:t>RoBERTa</a:t>
            </a:r>
          </a:p>
        </p:txBody>
      </p:sp>
      <p:sp>
        <p:nvSpPr>
          <p:cNvPr id="13" name="TextBox 12"/>
          <p:cNvSpPr txBox="1"/>
          <p:nvPr/>
        </p:nvSpPr>
        <p:spPr>
          <a:xfrm>
            <a:off x="3611880" y="2971800"/>
            <a:ext cx="2377440" cy="1828800"/>
          </a:xfrm>
          <a:prstGeom prst="rect">
            <a:avLst/>
          </a:prstGeom>
          <a:noFill/>
        </p:spPr>
        <p:txBody>
          <a:bodyPr wrap="square">
            <a:spAutoFit/>
          </a:bodyPr>
          <a:lstStyle/>
          <a:p>
            <a:pPr algn="ctr"/>
            <a:r>
              <a:rPr sz="1100">
                <a:solidFill>
                  <a:srgbClr val="4A4A4A"/>
                </a:solidFill>
                <a:latin typeface="Calibri"/>
              </a:rPr>
              <a:t>Fine-tune roberta-base
on CVE descriptions</a:t>
            </a:r>
          </a:p>
        </p:txBody>
      </p:sp>
      <p:sp>
        <p:nvSpPr>
          <p:cNvPr id="14" name="TextBox 13"/>
          <p:cNvSpPr txBox="1"/>
          <p:nvPr/>
        </p:nvSpPr>
        <p:spPr>
          <a:xfrm>
            <a:off x="3429000" y="4983480"/>
            <a:ext cx="2743200" cy="365760"/>
          </a:xfrm>
          <a:prstGeom prst="rect">
            <a:avLst/>
          </a:prstGeom>
          <a:noFill/>
        </p:spPr>
        <p:txBody>
          <a:bodyPr wrap="square" lIns="25400" tIns="25400" rIns="25400" bIns="25400">
            <a:spAutoFit/>
          </a:bodyPr>
          <a:lstStyle/>
          <a:p>
            <a:pPr algn="ctr"/>
            <a:r>
              <a:rPr sz="1200" b="1" i="1">
                <a:solidFill>
                  <a:srgbClr val="B85042"/>
                </a:solidFill>
                <a:latin typeface="Calibri"/>
              </a:rPr>
              <a:t>F1 = 0.61</a:t>
            </a:r>
          </a:p>
        </p:txBody>
      </p:sp>
      <p:sp>
        <p:nvSpPr>
          <p:cNvPr id="15" name="Oval 14"/>
          <p:cNvSpPr/>
          <p:nvPr/>
        </p:nvSpPr>
        <p:spPr>
          <a:xfrm>
            <a:off x="7452359" y="1600200"/>
            <a:ext cx="594360" cy="59436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3</a:t>
            </a:r>
          </a:p>
        </p:txBody>
      </p:sp>
      <p:sp>
        <p:nvSpPr>
          <p:cNvPr id="16" name="Rounded Rectangle 15"/>
          <p:cNvSpPr/>
          <p:nvPr/>
        </p:nvSpPr>
        <p:spPr>
          <a:xfrm>
            <a:off x="6309359" y="2377440"/>
            <a:ext cx="2743200" cy="3108960"/>
          </a:xfrm>
          <a:prstGeom prst="round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09359" y="2514600"/>
            <a:ext cx="2743200" cy="365760"/>
          </a:xfrm>
          <a:prstGeom prst="rect">
            <a:avLst/>
          </a:prstGeom>
          <a:noFill/>
        </p:spPr>
        <p:txBody>
          <a:bodyPr wrap="square" lIns="25400" tIns="25400" rIns="25400" bIns="25400">
            <a:spAutoFit/>
          </a:bodyPr>
          <a:lstStyle/>
          <a:p>
            <a:pPr algn="ctr"/>
            <a:r>
              <a:rPr sz="1500" b="1" i="0">
                <a:solidFill>
                  <a:srgbClr val="1E2761"/>
                </a:solidFill>
                <a:latin typeface="Calibri"/>
              </a:rPr>
              <a:t>Reachability</a:t>
            </a:r>
          </a:p>
        </p:txBody>
      </p:sp>
      <p:sp>
        <p:nvSpPr>
          <p:cNvPr id="18" name="TextBox 17"/>
          <p:cNvSpPr txBox="1"/>
          <p:nvPr/>
        </p:nvSpPr>
        <p:spPr>
          <a:xfrm>
            <a:off x="6492240" y="2971800"/>
            <a:ext cx="2377440" cy="1828800"/>
          </a:xfrm>
          <a:prstGeom prst="rect">
            <a:avLst/>
          </a:prstGeom>
          <a:noFill/>
        </p:spPr>
        <p:txBody>
          <a:bodyPr wrap="square">
            <a:spAutoFit/>
          </a:bodyPr>
          <a:lstStyle/>
          <a:p>
            <a:pPr algn="ctr"/>
            <a:r>
              <a:rPr sz="1100">
                <a:solidFill>
                  <a:srgbClr val="4A4A4A"/>
                </a:solidFill>
                <a:latin typeface="Calibri"/>
              </a:rPr>
              <a:t>Static call graph
+ Flan-T5 reasoner
+ CodeBERT/FAISS</a:t>
            </a:r>
          </a:p>
        </p:txBody>
      </p:sp>
      <p:sp>
        <p:nvSpPr>
          <p:cNvPr id="19" name="TextBox 18"/>
          <p:cNvSpPr txBox="1"/>
          <p:nvPr/>
        </p:nvSpPr>
        <p:spPr>
          <a:xfrm>
            <a:off x="6309359" y="4983480"/>
            <a:ext cx="2743200" cy="365760"/>
          </a:xfrm>
          <a:prstGeom prst="rect">
            <a:avLst/>
          </a:prstGeom>
          <a:noFill/>
        </p:spPr>
        <p:txBody>
          <a:bodyPr wrap="square" lIns="25400" tIns="25400" rIns="25400" bIns="25400">
            <a:spAutoFit/>
          </a:bodyPr>
          <a:lstStyle/>
          <a:p>
            <a:pPr algn="ctr"/>
            <a:r>
              <a:rPr sz="1200" b="1" i="1">
                <a:solidFill>
                  <a:srgbClr val="B85042"/>
                </a:solidFill>
                <a:latin typeface="Calibri"/>
              </a:rPr>
              <a:t>core innovation</a:t>
            </a:r>
          </a:p>
        </p:txBody>
      </p:sp>
      <p:sp>
        <p:nvSpPr>
          <p:cNvPr id="20" name="Oval 19"/>
          <p:cNvSpPr/>
          <p:nvPr/>
        </p:nvSpPr>
        <p:spPr>
          <a:xfrm>
            <a:off x="10332719" y="1600200"/>
            <a:ext cx="594360" cy="594360"/>
          </a:xfrm>
          <a:prstGeom prst="ellipse">
            <a:avLst/>
          </a:prstGeom>
          <a:solidFill>
            <a:srgbClr val="B850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4</a:t>
            </a:r>
          </a:p>
        </p:txBody>
      </p:sp>
      <p:sp>
        <p:nvSpPr>
          <p:cNvPr id="21" name="Rounded Rectangle 20"/>
          <p:cNvSpPr/>
          <p:nvPr/>
        </p:nvSpPr>
        <p:spPr>
          <a:xfrm>
            <a:off x="9189719" y="2377440"/>
            <a:ext cx="2743200" cy="3108960"/>
          </a:xfrm>
          <a:prstGeom prst="round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189719" y="2514600"/>
            <a:ext cx="2743200" cy="365760"/>
          </a:xfrm>
          <a:prstGeom prst="rect">
            <a:avLst/>
          </a:prstGeom>
          <a:noFill/>
        </p:spPr>
        <p:txBody>
          <a:bodyPr wrap="square" lIns="25400" tIns="25400" rIns="25400" bIns="25400">
            <a:spAutoFit/>
          </a:bodyPr>
          <a:lstStyle/>
          <a:p>
            <a:pPr algn="ctr"/>
            <a:r>
              <a:rPr sz="1500" b="1" i="0">
                <a:solidFill>
                  <a:srgbClr val="1E2761"/>
                </a:solidFill>
                <a:latin typeface="Calibri"/>
              </a:rPr>
              <a:t>Combined</a:t>
            </a:r>
          </a:p>
        </p:txBody>
      </p:sp>
      <p:sp>
        <p:nvSpPr>
          <p:cNvPr id="23" name="TextBox 22"/>
          <p:cNvSpPr txBox="1"/>
          <p:nvPr/>
        </p:nvSpPr>
        <p:spPr>
          <a:xfrm>
            <a:off x="9372599" y="2971800"/>
            <a:ext cx="2377440" cy="1828800"/>
          </a:xfrm>
          <a:prstGeom prst="rect">
            <a:avLst/>
          </a:prstGeom>
          <a:noFill/>
        </p:spPr>
        <p:txBody>
          <a:bodyPr wrap="square">
            <a:spAutoFit/>
          </a:bodyPr>
          <a:lstStyle/>
          <a:p>
            <a:pPr algn="ctr"/>
            <a:r>
              <a:rPr sz="1100">
                <a:solidFill>
                  <a:srgbClr val="4A4A4A"/>
                </a:solidFill>
                <a:latin typeface="Calibri"/>
              </a:rPr>
              <a:t>Logistic Regression
on 775-d fused vector
(768 + 5 + 2)</a:t>
            </a:r>
          </a:p>
        </p:txBody>
      </p:sp>
      <p:sp>
        <p:nvSpPr>
          <p:cNvPr id="24" name="TextBox 23"/>
          <p:cNvSpPr txBox="1"/>
          <p:nvPr/>
        </p:nvSpPr>
        <p:spPr>
          <a:xfrm>
            <a:off x="9189719" y="4983480"/>
            <a:ext cx="2743200" cy="365760"/>
          </a:xfrm>
          <a:prstGeom prst="rect">
            <a:avLst/>
          </a:prstGeom>
          <a:noFill/>
        </p:spPr>
        <p:txBody>
          <a:bodyPr wrap="square" lIns="25400" tIns="25400" rIns="25400" bIns="25400">
            <a:spAutoFit/>
          </a:bodyPr>
          <a:lstStyle/>
          <a:p>
            <a:pPr algn="ctr"/>
            <a:r>
              <a:rPr sz="1200" b="1" i="1">
                <a:solidFill>
                  <a:srgbClr val="B85042"/>
                </a:solidFill>
                <a:latin typeface="Calibri"/>
              </a:rPr>
              <a:t>F1 = 0.979</a:t>
            </a:r>
          </a:p>
        </p:txBody>
      </p:sp>
      <p:sp>
        <p:nvSpPr>
          <p:cNvPr id="25" name="TextBox 24"/>
          <p:cNvSpPr txBox="1"/>
          <p:nvPr/>
        </p:nvSpPr>
        <p:spPr>
          <a:xfrm>
            <a:off x="548640" y="5852160"/>
            <a:ext cx="10972800" cy="365760"/>
          </a:xfrm>
          <a:prstGeom prst="rect">
            <a:avLst/>
          </a:prstGeom>
          <a:noFill/>
        </p:spPr>
        <p:txBody>
          <a:bodyPr wrap="square" lIns="25400" tIns="25400" rIns="25400" bIns="25400">
            <a:spAutoFit/>
          </a:bodyPr>
          <a:lstStyle/>
          <a:p>
            <a:pPr algn="l"/>
            <a:r>
              <a:rPr sz="1200" b="0" i="1">
                <a:solidFill>
                  <a:srgbClr val="4A4A4A"/>
                </a:solidFill>
                <a:latin typeface="Calibri"/>
              </a:rPr>
              <a:t>Each stage's output is concatenated into the next stage's input. Only Stage 4 produces the final TP or FP verdict.</a:t>
            </a:r>
          </a:p>
        </p:txBody>
      </p:sp>
      <p:sp>
        <p:nvSpPr>
          <p:cNvPr id="26" name="TextBox 25"/>
          <p:cNvSpPr txBox="1"/>
          <p:nvPr/>
        </p:nvSpPr>
        <p:spPr>
          <a:xfrm>
            <a:off x="365760" y="6492240"/>
            <a:ext cx="11460175" cy="274320"/>
          </a:xfrm>
          <a:prstGeom prst="rect">
            <a:avLst/>
          </a:prstGeom>
          <a:noFill/>
        </p:spPr>
        <p:txBody>
          <a:bodyPr wrap="none">
            <a:spAutoFit/>
          </a:bodyPr>
          <a:lstStyle/>
          <a:p>
            <a:pPr algn="l"/>
            <a:r>
              <a:rPr sz="900">
                <a:solidFill>
                  <a:srgbClr val="4A4A4A"/>
                </a:solidFill>
                <a:latin typeface="Calibri"/>
              </a:rPr>
              <a:t>Ankit Kumar Honey  |  CSCI E-222  |  Spring 2026</a:t>
            </a:r>
          </a:p>
        </p:txBody>
      </p:sp>
      <p:sp>
        <p:nvSpPr>
          <p:cNvPr id="27" name="TextBox 26"/>
          <p:cNvSpPr txBox="1"/>
          <p:nvPr/>
        </p:nvSpPr>
        <p:spPr>
          <a:xfrm>
            <a:off x="11554845" y="6492240"/>
            <a:ext cx="453970" cy="230832"/>
          </a:xfrm>
          <a:prstGeom prst="rect">
            <a:avLst/>
          </a:prstGeom>
          <a:noFill/>
        </p:spPr>
        <p:txBody>
          <a:bodyPr wrap="none">
            <a:spAutoFit/>
          </a:bodyPr>
          <a:lstStyle/>
          <a:p>
            <a:pPr algn="r"/>
            <a:r>
              <a:rPr lang="en-US" sz="900" dirty="0">
                <a:solidFill>
                  <a:srgbClr val="4A4A4A"/>
                </a:solidFill>
                <a:latin typeface="Calibri"/>
              </a:rPr>
              <a:t>4</a:t>
            </a:r>
            <a:r>
              <a:rPr sz="900" dirty="0">
                <a:solidFill>
                  <a:srgbClr val="4A4A4A"/>
                </a:solidFill>
                <a:latin typeface="Calibri"/>
              </a:rPr>
              <a:t> / 1</a:t>
            </a:r>
            <a:r>
              <a:rPr lang="en-US" sz="900" dirty="0">
                <a:solidFill>
                  <a:srgbClr val="4A4A4A"/>
                </a:solidFill>
                <a:latin typeface="Calibri"/>
              </a:rPr>
              <a:t>7</a:t>
            </a:r>
            <a:endParaRPr sz="900" dirty="0">
              <a:solidFill>
                <a:srgbClr val="4A4A4A"/>
              </a:solidFill>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11480"/>
            <a:ext cx="4837415" cy="584775"/>
          </a:xfrm>
          <a:prstGeom prst="rect">
            <a:avLst/>
          </a:prstGeom>
          <a:noFill/>
        </p:spPr>
        <p:txBody>
          <a:bodyPr wrap="none">
            <a:spAutoFit/>
          </a:bodyPr>
          <a:lstStyle/>
          <a:p>
            <a:pPr algn="l"/>
            <a:r>
              <a:rPr sz="3200" b="1" dirty="0">
                <a:solidFill>
                  <a:srgbClr val="0070C0"/>
                </a:solidFill>
                <a:latin typeface="Garamond" panose="02020404030301010803" pitchFamily="18" charset="0"/>
                <a:ea typeface="+mj-ea"/>
                <a:cs typeface="+mj-cs"/>
              </a:rPr>
              <a:t>Data: 17,790 real advisories</a:t>
            </a:r>
          </a:p>
        </p:txBody>
      </p:sp>
      <p:sp>
        <p:nvSpPr>
          <p:cNvPr id="4" name="TextBox 3"/>
          <p:cNvSpPr txBox="1"/>
          <p:nvPr/>
        </p:nvSpPr>
        <p:spPr>
          <a:xfrm>
            <a:off x="457200" y="960120"/>
            <a:ext cx="11247120" cy="365760"/>
          </a:xfrm>
          <a:prstGeom prst="rect">
            <a:avLst/>
          </a:prstGeom>
          <a:noFill/>
        </p:spPr>
        <p:txBody>
          <a:bodyPr wrap="none">
            <a:spAutoFit/>
          </a:bodyPr>
          <a:lstStyle/>
          <a:p>
            <a:pPr algn="l"/>
            <a:r>
              <a:rPr sz="1400" i="1">
                <a:solidFill>
                  <a:srgbClr val="B85042"/>
                </a:solidFill>
                <a:latin typeface="Calibri"/>
              </a:rPr>
              <a:t>GitHub Advisory Database joined with FIRST EPSS and NVD CWE/CVSS.</a:t>
            </a:r>
          </a:p>
        </p:txBody>
      </p:sp>
      <p:sp>
        <p:nvSpPr>
          <p:cNvPr id="5" name="TextBox 4"/>
          <p:cNvSpPr txBox="1"/>
          <p:nvPr/>
        </p:nvSpPr>
        <p:spPr>
          <a:xfrm>
            <a:off x="548640" y="1554480"/>
            <a:ext cx="5943600" cy="3657600"/>
          </a:xfrm>
          <a:prstGeom prst="rect">
            <a:avLst/>
          </a:prstGeom>
          <a:noFill/>
        </p:spPr>
        <p:txBody>
          <a:bodyPr wrap="square" lIns="25400" rIns="25400">
            <a:spAutoFit/>
          </a:bodyPr>
          <a:lstStyle/>
          <a:p>
            <a:pPr algn="l">
              <a:spcAft>
                <a:spcPts val="600"/>
              </a:spcAft>
            </a:pPr>
            <a:r>
              <a:rPr sz="1400" dirty="0">
                <a:solidFill>
                  <a:srgbClr val="4A4A4A"/>
                </a:solidFill>
                <a:latin typeface="Calibri"/>
              </a:rPr>
              <a:t>•  GitHub Advisory Database, OSV-Schema JSON, around 200K advisories, MIT </a:t>
            </a:r>
            <a:r>
              <a:rPr sz="1400" dirty="0" err="1">
                <a:solidFill>
                  <a:srgbClr val="4A4A4A"/>
                </a:solidFill>
                <a:latin typeface="Calibri"/>
              </a:rPr>
              <a:t>licence</a:t>
            </a:r>
            <a:r>
              <a:rPr sz="1400" dirty="0">
                <a:solidFill>
                  <a:srgbClr val="4A4A4A"/>
                </a:solidFill>
                <a:latin typeface="Calibri"/>
              </a:rPr>
              <a:t>.</a:t>
            </a:r>
          </a:p>
          <a:p>
            <a:pPr algn="l">
              <a:spcAft>
                <a:spcPts val="600"/>
              </a:spcAft>
            </a:pPr>
            <a:r>
              <a:rPr sz="1400" dirty="0">
                <a:solidFill>
                  <a:srgbClr val="4A4A4A"/>
                </a:solidFill>
                <a:latin typeface="Calibri"/>
              </a:rPr>
              <a:t>•  FIRST EPSS, daily CSV, exploitation probability per CVE.</a:t>
            </a:r>
          </a:p>
          <a:p>
            <a:pPr algn="l">
              <a:spcAft>
                <a:spcPts val="600"/>
              </a:spcAft>
            </a:pPr>
            <a:r>
              <a:rPr sz="1400" dirty="0">
                <a:solidFill>
                  <a:srgbClr val="4A4A4A"/>
                </a:solidFill>
                <a:latin typeface="Calibri"/>
              </a:rPr>
              <a:t>•  Joined on </a:t>
            </a:r>
            <a:r>
              <a:rPr sz="1400" dirty="0" err="1">
                <a:solidFill>
                  <a:srgbClr val="4A4A4A"/>
                </a:solidFill>
                <a:latin typeface="Calibri"/>
              </a:rPr>
              <a:t>cve_id</a:t>
            </a:r>
            <a:r>
              <a:rPr sz="1400" dirty="0">
                <a:solidFill>
                  <a:srgbClr val="4A4A4A"/>
                </a:solidFill>
                <a:latin typeface="Calibri"/>
              </a:rPr>
              <a:t> (left-outer). Missing EPSS rows are filled with 0.001 (the tail).</a:t>
            </a:r>
          </a:p>
          <a:p>
            <a:pPr algn="l">
              <a:spcAft>
                <a:spcPts val="600"/>
              </a:spcAft>
            </a:pPr>
            <a:r>
              <a:rPr sz="1400" dirty="0">
                <a:solidFill>
                  <a:srgbClr val="4A4A4A"/>
                </a:solidFill>
                <a:latin typeface="Calibri"/>
              </a:rPr>
              <a:t>•  Majority class capped at 4x the minority via uniform sampling.</a:t>
            </a:r>
          </a:p>
          <a:p>
            <a:pPr algn="l">
              <a:spcAft>
                <a:spcPts val="600"/>
              </a:spcAft>
            </a:pPr>
            <a:r>
              <a:rPr sz="1400" dirty="0">
                <a:solidFill>
                  <a:srgbClr val="4A4A4A"/>
                </a:solidFill>
                <a:latin typeface="Calibri"/>
              </a:rPr>
              <a:t>•  Stratified 80 / 10 / 10 train / </a:t>
            </a:r>
            <a:r>
              <a:rPr sz="1400" dirty="0" err="1">
                <a:solidFill>
                  <a:srgbClr val="4A4A4A"/>
                </a:solidFill>
                <a:latin typeface="Calibri"/>
              </a:rPr>
              <a:t>val</a:t>
            </a:r>
            <a:r>
              <a:rPr sz="1400" dirty="0">
                <a:solidFill>
                  <a:srgbClr val="4A4A4A"/>
                </a:solidFill>
                <a:latin typeface="Calibri"/>
              </a:rPr>
              <a:t> / test split. SEED = 42.</a:t>
            </a:r>
          </a:p>
          <a:p>
            <a:pPr algn="l">
              <a:spcAft>
                <a:spcPts val="600"/>
              </a:spcAft>
            </a:pPr>
            <a:r>
              <a:rPr sz="1400" dirty="0">
                <a:solidFill>
                  <a:srgbClr val="4A4A4A"/>
                </a:solidFill>
                <a:latin typeface="Calibri"/>
              </a:rPr>
              <a:t>•  CISA KEV hybrid label (90 KEV hits + EPSS + severity) reproducible from src/reachability_llm/data/dataset.py.</a:t>
            </a:r>
          </a:p>
        </p:txBody>
      </p:sp>
      <p:sp>
        <p:nvSpPr>
          <p:cNvPr id="6" name="Rounded Rectangle 5"/>
          <p:cNvSpPr/>
          <p:nvPr/>
        </p:nvSpPr>
        <p:spPr>
          <a:xfrm>
            <a:off x="6949440" y="1554480"/>
            <a:ext cx="4937760" cy="3657600"/>
          </a:xfrm>
          <a:prstGeom prst="round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132320" y="1691640"/>
            <a:ext cx="4572000" cy="365760"/>
          </a:xfrm>
          <a:prstGeom prst="rect">
            <a:avLst/>
          </a:prstGeom>
          <a:noFill/>
        </p:spPr>
        <p:txBody>
          <a:bodyPr wrap="square" lIns="25400" tIns="25400" rIns="25400" bIns="25400">
            <a:spAutoFit/>
          </a:bodyPr>
          <a:lstStyle/>
          <a:p>
            <a:pPr algn="l"/>
            <a:r>
              <a:rPr sz="1400" b="1" i="0">
                <a:solidFill>
                  <a:srgbClr val="1E2761"/>
                </a:solidFill>
                <a:latin typeface="Calibri"/>
              </a:rPr>
              <a:t>Final dataset composition</a:t>
            </a:r>
          </a:p>
        </p:txBody>
      </p:sp>
      <p:sp>
        <p:nvSpPr>
          <p:cNvPr id="8" name="TextBox 7"/>
          <p:cNvSpPr txBox="1"/>
          <p:nvPr/>
        </p:nvSpPr>
        <p:spPr>
          <a:xfrm>
            <a:off x="7132320" y="2103120"/>
            <a:ext cx="4572000" cy="2743200"/>
          </a:xfrm>
          <a:prstGeom prst="rect">
            <a:avLst/>
          </a:prstGeom>
          <a:noFill/>
        </p:spPr>
        <p:txBody>
          <a:bodyPr wrap="square" lIns="25400" rIns="25400">
            <a:spAutoFit/>
          </a:bodyPr>
          <a:lstStyle/>
          <a:p>
            <a:pPr algn="l">
              <a:spcAft>
                <a:spcPts val="600"/>
              </a:spcAft>
            </a:pPr>
            <a:r>
              <a:rPr sz="1200">
                <a:solidFill>
                  <a:srgbClr val="4A4A4A"/>
                </a:solidFill>
                <a:latin typeface="Calibri"/>
              </a:rPr>
              <a:t>•  Advisories scanned:   30,602</a:t>
            </a:r>
          </a:p>
          <a:p>
            <a:pPr algn="l">
              <a:spcAft>
                <a:spcPts val="600"/>
              </a:spcAft>
            </a:pPr>
            <a:r>
              <a:rPr sz="1200">
                <a:solidFill>
                  <a:srgbClr val="4A4A4A"/>
                </a:solidFill>
                <a:latin typeface="Calibri"/>
              </a:rPr>
              <a:t>•  After build_dataset:  17,790</a:t>
            </a:r>
          </a:p>
          <a:p>
            <a:pPr algn="l">
              <a:spcAft>
                <a:spcPts val="600"/>
              </a:spcAft>
            </a:pPr>
            <a:r>
              <a:rPr sz="1200">
                <a:solidFill>
                  <a:srgbClr val="4A4A4A"/>
                </a:solidFill>
                <a:latin typeface="Calibri"/>
              </a:rPr>
              <a:t>•  TRUE_POSITIVE share:  22.60%</a:t>
            </a:r>
          </a:p>
          <a:p>
            <a:pPr algn="l">
              <a:spcAft>
                <a:spcPts val="600"/>
              </a:spcAft>
            </a:pPr>
            <a:r>
              <a:rPr sz="1200">
                <a:solidFill>
                  <a:srgbClr val="4A4A4A"/>
                </a:solidFill>
                <a:latin typeface="Calibri"/>
              </a:rPr>
              <a:t>•  FALSE_POSITIVE share: 77.40%</a:t>
            </a:r>
          </a:p>
          <a:p>
            <a:pPr algn="l">
              <a:spcAft>
                <a:spcPts val="600"/>
              </a:spcAft>
            </a:pPr>
            <a:r>
              <a:rPr sz="1200">
                <a:solidFill>
                  <a:srgbClr val="4A4A4A"/>
                </a:solidFill>
                <a:latin typeface="Calibri"/>
              </a:rPr>
              <a:t>•  Train / val / test:   14,231 / 1,778 / 1,781</a:t>
            </a:r>
          </a:p>
        </p:txBody>
      </p:sp>
      <p:sp>
        <p:nvSpPr>
          <p:cNvPr id="9" name="TextBox 8"/>
          <p:cNvSpPr txBox="1"/>
          <p:nvPr/>
        </p:nvSpPr>
        <p:spPr>
          <a:xfrm>
            <a:off x="548640" y="5852160"/>
            <a:ext cx="10972800" cy="365760"/>
          </a:xfrm>
          <a:prstGeom prst="rect">
            <a:avLst/>
          </a:prstGeom>
          <a:noFill/>
        </p:spPr>
        <p:txBody>
          <a:bodyPr wrap="square" lIns="25400" tIns="25400" rIns="25400" bIns="25400">
            <a:spAutoFit/>
          </a:bodyPr>
          <a:lstStyle/>
          <a:p>
            <a:pPr algn="l"/>
            <a:r>
              <a:rPr sz="1100" b="0" i="1">
                <a:solidFill>
                  <a:srgbClr val="B85042"/>
                </a:solidFill>
                <a:latin typeface="Calibri"/>
              </a:rPr>
              <a:t>Quick parser note. OSV-Schema 1.4 lists aliases as plain strings, not {"value": "CVE-..."} dicts. Four regression tests pin the behaviour.</a:t>
            </a:r>
          </a:p>
        </p:txBody>
      </p:sp>
      <p:sp>
        <p:nvSpPr>
          <p:cNvPr id="10" name="TextBox 9"/>
          <p:cNvSpPr txBox="1"/>
          <p:nvPr/>
        </p:nvSpPr>
        <p:spPr>
          <a:xfrm>
            <a:off x="365760" y="6492240"/>
            <a:ext cx="11460175" cy="274320"/>
          </a:xfrm>
          <a:prstGeom prst="rect">
            <a:avLst/>
          </a:prstGeom>
          <a:noFill/>
        </p:spPr>
        <p:txBody>
          <a:bodyPr wrap="none">
            <a:spAutoFit/>
          </a:bodyPr>
          <a:lstStyle/>
          <a:p>
            <a:pPr algn="l"/>
            <a:r>
              <a:rPr sz="900">
                <a:solidFill>
                  <a:srgbClr val="4A4A4A"/>
                </a:solidFill>
                <a:latin typeface="Calibri"/>
              </a:rPr>
              <a:t>Ankit Kumar Honey  |  CSCI E-222  |  Spring 2026</a:t>
            </a:r>
          </a:p>
        </p:txBody>
      </p:sp>
      <p:sp>
        <p:nvSpPr>
          <p:cNvPr id="11" name="TextBox 10"/>
          <p:cNvSpPr txBox="1"/>
          <p:nvPr/>
        </p:nvSpPr>
        <p:spPr>
          <a:xfrm>
            <a:off x="11554845" y="6492240"/>
            <a:ext cx="453970" cy="230832"/>
          </a:xfrm>
          <a:prstGeom prst="rect">
            <a:avLst/>
          </a:prstGeom>
          <a:noFill/>
        </p:spPr>
        <p:txBody>
          <a:bodyPr wrap="none">
            <a:spAutoFit/>
          </a:bodyPr>
          <a:lstStyle/>
          <a:p>
            <a:pPr algn="r"/>
            <a:r>
              <a:rPr lang="en-US" sz="900" dirty="0">
                <a:solidFill>
                  <a:srgbClr val="4A4A4A"/>
                </a:solidFill>
                <a:latin typeface="Calibri"/>
              </a:rPr>
              <a:t>5</a:t>
            </a:r>
            <a:r>
              <a:rPr sz="900" dirty="0">
                <a:solidFill>
                  <a:srgbClr val="4A4A4A"/>
                </a:solidFill>
                <a:latin typeface="Calibri"/>
              </a:rPr>
              <a:t> / 1</a:t>
            </a:r>
            <a:r>
              <a:rPr lang="en-US" sz="900" dirty="0">
                <a:solidFill>
                  <a:srgbClr val="4A4A4A"/>
                </a:solidFill>
                <a:latin typeface="Calibri"/>
              </a:rPr>
              <a:t>7</a:t>
            </a:r>
            <a:endParaRPr sz="900" dirty="0">
              <a:solidFill>
                <a:srgbClr val="4A4A4A"/>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11480"/>
            <a:ext cx="6682279" cy="584775"/>
          </a:xfrm>
          <a:prstGeom prst="rect">
            <a:avLst/>
          </a:prstGeom>
          <a:noFill/>
        </p:spPr>
        <p:txBody>
          <a:bodyPr wrap="none">
            <a:spAutoFit/>
          </a:bodyPr>
          <a:lstStyle/>
          <a:p>
            <a:pPr algn="l"/>
            <a:r>
              <a:rPr sz="3200" b="1" dirty="0">
                <a:solidFill>
                  <a:srgbClr val="0070C0"/>
                </a:solidFill>
                <a:latin typeface="Garamond" panose="02020404030301010803" pitchFamily="18" charset="0"/>
                <a:ea typeface="+mj-ea"/>
                <a:cs typeface="+mj-cs"/>
              </a:rPr>
              <a:t>Stage 1: </a:t>
            </a:r>
            <a:r>
              <a:rPr lang="en-US" sz="3200" b="1" dirty="0">
                <a:solidFill>
                  <a:srgbClr val="0070C0"/>
                </a:solidFill>
                <a:latin typeface="Garamond" panose="02020404030301010803" pitchFamily="18" charset="0"/>
                <a:ea typeface="+mj-ea"/>
                <a:cs typeface="+mj-cs"/>
              </a:rPr>
              <a:t>B</a:t>
            </a:r>
            <a:r>
              <a:rPr sz="3200" b="1" dirty="0">
                <a:solidFill>
                  <a:srgbClr val="0070C0"/>
                </a:solidFill>
                <a:latin typeface="Garamond" panose="02020404030301010803" pitchFamily="18" charset="0"/>
                <a:ea typeface="+mj-ea"/>
                <a:cs typeface="+mj-cs"/>
              </a:rPr>
              <a:t>aselines </a:t>
            </a:r>
            <a:r>
              <a:rPr lang="en-US" sz="3200" b="1" dirty="0">
                <a:solidFill>
                  <a:srgbClr val="0070C0"/>
                </a:solidFill>
                <a:latin typeface="Garamond" panose="02020404030301010803" pitchFamily="18" charset="0"/>
                <a:ea typeface="+mj-ea"/>
                <a:cs typeface="+mj-cs"/>
              </a:rPr>
              <a:t>E</a:t>
            </a:r>
            <a:r>
              <a:rPr sz="3200" b="1" dirty="0">
                <a:solidFill>
                  <a:srgbClr val="0070C0"/>
                </a:solidFill>
                <a:latin typeface="Garamond" panose="02020404030301010803" pitchFamily="18" charset="0"/>
                <a:ea typeface="+mj-ea"/>
                <a:cs typeface="+mj-cs"/>
              </a:rPr>
              <a:t>stablish the </a:t>
            </a:r>
            <a:r>
              <a:rPr lang="en-US" sz="3200" b="1" dirty="0">
                <a:solidFill>
                  <a:srgbClr val="0070C0"/>
                </a:solidFill>
                <a:latin typeface="Garamond" panose="02020404030301010803" pitchFamily="18" charset="0"/>
                <a:ea typeface="+mj-ea"/>
                <a:cs typeface="+mj-cs"/>
              </a:rPr>
              <a:t>F</a:t>
            </a:r>
            <a:r>
              <a:rPr sz="3200" b="1" dirty="0">
                <a:solidFill>
                  <a:srgbClr val="0070C0"/>
                </a:solidFill>
                <a:latin typeface="Garamond" panose="02020404030301010803" pitchFamily="18" charset="0"/>
                <a:ea typeface="+mj-ea"/>
                <a:cs typeface="+mj-cs"/>
              </a:rPr>
              <a:t>loor</a:t>
            </a:r>
          </a:p>
        </p:txBody>
      </p:sp>
      <p:sp>
        <p:nvSpPr>
          <p:cNvPr id="4" name="TextBox 3"/>
          <p:cNvSpPr txBox="1"/>
          <p:nvPr/>
        </p:nvSpPr>
        <p:spPr>
          <a:xfrm>
            <a:off x="457200" y="960120"/>
            <a:ext cx="11247120" cy="365760"/>
          </a:xfrm>
          <a:prstGeom prst="rect">
            <a:avLst/>
          </a:prstGeom>
          <a:noFill/>
        </p:spPr>
        <p:txBody>
          <a:bodyPr wrap="none">
            <a:spAutoFit/>
          </a:bodyPr>
          <a:lstStyle/>
          <a:p>
            <a:pPr algn="l"/>
            <a:r>
              <a:rPr sz="1400" i="1">
                <a:solidFill>
                  <a:srgbClr val="B85042"/>
                </a:solidFill>
                <a:latin typeface="Calibri"/>
              </a:rPr>
              <a:t>What you get with no LLM at all.</a:t>
            </a:r>
          </a:p>
        </p:txBody>
      </p:sp>
      <p:sp>
        <p:nvSpPr>
          <p:cNvPr id="5" name="Rounded Rectangle 4"/>
          <p:cNvSpPr/>
          <p:nvPr/>
        </p:nvSpPr>
        <p:spPr>
          <a:xfrm>
            <a:off x="548640" y="1554480"/>
            <a:ext cx="5486400" cy="4114800"/>
          </a:xfrm>
          <a:prstGeom prst="round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1737360"/>
            <a:ext cx="5029200" cy="365760"/>
          </a:xfrm>
          <a:prstGeom prst="rect">
            <a:avLst/>
          </a:prstGeom>
          <a:noFill/>
        </p:spPr>
        <p:txBody>
          <a:bodyPr wrap="square" lIns="25400" tIns="25400" rIns="25400" bIns="25400">
            <a:spAutoFit/>
          </a:bodyPr>
          <a:lstStyle/>
          <a:p>
            <a:pPr algn="l"/>
            <a:r>
              <a:rPr sz="1600" b="1" i="0">
                <a:solidFill>
                  <a:srgbClr val="1E2761"/>
                </a:solidFill>
                <a:latin typeface="Calibri"/>
              </a:rPr>
              <a:t>EPSS rule baseline</a:t>
            </a:r>
          </a:p>
        </p:txBody>
      </p:sp>
      <p:sp>
        <p:nvSpPr>
          <p:cNvPr id="7" name="TextBox 6"/>
          <p:cNvSpPr txBox="1"/>
          <p:nvPr/>
        </p:nvSpPr>
        <p:spPr>
          <a:xfrm>
            <a:off x="777240" y="2194560"/>
            <a:ext cx="5029200" cy="274320"/>
          </a:xfrm>
          <a:prstGeom prst="rect">
            <a:avLst/>
          </a:prstGeom>
          <a:noFill/>
        </p:spPr>
        <p:txBody>
          <a:bodyPr wrap="square" lIns="25400" tIns="25400" rIns="25400" bIns="25400">
            <a:spAutoFit/>
          </a:bodyPr>
          <a:lstStyle/>
          <a:p>
            <a:pPr algn="l"/>
            <a:r>
              <a:rPr sz="1100" b="0" i="1">
                <a:solidFill>
                  <a:srgbClr val="B85042"/>
                </a:solidFill>
                <a:latin typeface="Calibri"/>
              </a:rPr>
              <a:t>Approximates the heuristic Dependabot uses today.</a:t>
            </a:r>
          </a:p>
        </p:txBody>
      </p:sp>
      <p:sp>
        <p:nvSpPr>
          <p:cNvPr id="8" name="Rectangle 7"/>
          <p:cNvSpPr/>
          <p:nvPr/>
        </p:nvSpPr>
        <p:spPr>
          <a:xfrm>
            <a:off x="777240" y="2560320"/>
            <a:ext cx="5029200" cy="640080"/>
          </a:xfrm>
          <a:prstGeom prst="rect">
            <a:avLst/>
          </a:prstGeom>
          <a:solidFill>
            <a:srgbClr val="2129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2651760"/>
            <a:ext cx="4754880" cy="457199"/>
          </a:xfrm>
          <a:prstGeom prst="rect">
            <a:avLst/>
          </a:prstGeom>
          <a:noFill/>
        </p:spPr>
        <p:txBody>
          <a:bodyPr wrap="square">
            <a:spAutoFit/>
          </a:bodyPr>
          <a:lstStyle/>
          <a:p>
            <a:pPr algn="l">
              <a:spcAft>
                <a:spcPts val="0"/>
              </a:spcAft>
            </a:pPr>
            <a:r>
              <a:rPr sz="1000">
                <a:solidFill>
                  <a:srgbClr val="FFFFFF"/>
                </a:solidFill>
                <a:latin typeface="Consolas"/>
              </a:rPr>
              <a:t>return (df['epss'] &gt;= 0.01).astype(int)</a:t>
            </a:r>
          </a:p>
        </p:txBody>
      </p:sp>
      <p:sp>
        <p:nvSpPr>
          <p:cNvPr id="10" name="TextBox 9"/>
          <p:cNvSpPr txBox="1"/>
          <p:nvPr/>
        </p:nvSpPr>
        <p:spPr>
          <a:xfrm>
            <a:off x="777240" y="3383280"/>
            <a:ext cx="5029200" cy="457200"/>
          </a:xfrm>
          <a:prstGeom prst="rect">
            <a:avLst/>
          </a:prstGeom>
          <a:noFill/>
        </p:spPr>
        <p:txBody>
          <a:bodyPr wrap="square" lIns="25400" tIns="25400" rIns="25400" bIns="25400">
            <a:spAutoFit/>
          </a:bodyPr>
          <a:lstStyle/>
          <a:p>
            <a:pPr algn="l"/>
            <a:r>
              <a:rPr sz="1400" b="0" i="0">
                <a:solidFill>
                  <a:srgbClr val="4A4A4A"/>
                </a:solidFill>
                <a:latin typeface="Calibri"/>
              </a:rPr>
              <a:t>F1        = 0.587</a:t>
            </a:r>
          </a:p>
        </p:txBody>
      </p:sp>
      <p:sp>
        <p:nvSpPr>
          <p:cNvPr id="11" name="TextBox 10"/>
          <p:cNvSpPr txBox="1"/>
          <p:nvPr/>
        </p:nvSpPr>
        <p:spPr>
          <a:xfrm>
            <a:off x="777240" y="3794760"/>
            <a:ext cx="5029200" cy="457200"/>
          </a:xfrm>
          <a:prstGeom prst="rect">
            <a:avLst/>
          </a:prstGeom>
          <a:noFill/>
        </p:spPr>
        <p:txBody>
          <a:bodyPr wrap="square" lIns="25400" tIns="25400" rIns="25400" bIns="25400">
            <a:spAutoFit/>
          </a:bodyPr>
          <a:lstStyle/>
          <a:p>
            <a:pPr algn="l"/>
            <a:r>
              <a:rPr sz="1400" b="0" i="0">
                <a:solidFill>
                  <a:srgbClr val="4A4A4A"/>
                </a:solidFill>
                <a:latin typeface="Calibri"/>
              </a:rPr>
              <a:t>Precision = 0.620</a:t>
            </a:r>
          </a:p>
        </p:txBody>
      </p:sp>
      <p:sp>
        <p:nvSpPr>
          <p:cNvPr id="12" name="TextBox 11"/>
          <p:cNvSpPr txBox="1"/>
          <p:nvPr/>
        </p:nvSpPr>
        <p:spPr>
          <a:xfrm>
            <a:off x="777240" y="4160520"/>
            <a:ext cx="5029200" cy="457200"/>
          </a:xfrm>
          <a:prstGeom prst="rect">
            <a:avLst/>
          </a:prstGeom>
          <a:noFill/>
        </p:spPr>
        <p:txBody>
          <a:bodyPr wrap="square" lIns="25400" tIns="25400" rIns="25400" bIns="25400">
            <a:spAutoFit/>
          </a:bodyPr>
          <a:lstStyle/>
          <a:p>
            <a:pPr algn="l"/>
            <a:r>
              <a:rPr sz="1400" b="0" i="0">
                <a:solidFill>
                  <a:srgbClr val="4A4A4A"/>
                </a:solidFill>
                <a:latin typeface="Calibri"/>
              </a:rPr>
              <a:t>Recall    = 0.558</a:t>
            </a:r>
          </a:p>
        </p:txBody>
      </p:sp>
      <p:sp>
        <p:nvSpPr>
          <p:cNvPr id="13" name="TextBox 12"/>
          <p:cNvSpPr txBox="1"/>
          <p:nvPr/>
        </p:nvSpPr>
        <p:spPr>
          <a:xfrm>
            <a:off x="777240" y="4617720"/>
            <a:ext cx="5029200" cy="457200"/>
          </a:xfrm>
          <a:prstGeom prst="rect">
            <a:avLst/>
          </a:prstGeom>
          <a:noFill/>
        </p:spPr>
        <p:txBody>
          <a:bodyPr wrap="square" lIns="25400" tIns="25400" rIns="25400" bIns="25400">
            <a:spAutoFit/>
          </a:bodyPr>
          <a:lstStyle/>
          <a:p>
            <a:pPr algn="l"/>
            <a:r>
              <a:rPr sz="1400" b="1" i="0">
                <a:solidFill>
                  <a:srgbClr val="1E2761"/>
                </a:solidFill>
                <a:latin typeface="Calibri"/>
              </a:rPr>
              <a:t>ROC-AUC   = 0.758</a:t>
            </a:r>
          </a:p>
        </p:txBody>
      </p:sp>
      <p:sp>
        <p:nvSpPr>
          <p:cNvPr id="14" name="Rounded Rectangle 13"/>
          <p:cNvSpPr/>
          <p:nvPr/>
        </p:nvSpPr>
        <p:spPr>
          <a:xfrm>
            <a:off x="6400800" y="1554480"/>
            <a:ext cx="5486400" cy="4114800"/>
          </a:xfrm>
          <a:prstGeom prst="round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629400" y="1737360"/>
            <a:ext cx="5029200" cy="365760"/>
          </a:xfrm>
          <a:prstGeom prst="rect">
            <a:avLst/>
          </a:prstGeom>
          <a:noFill/>
        </p:spPr>
        <p:txBody>
          <a:bodyPr wrap="square" lIns="25400" tIns="25400" rIns="25400" bIns="25400">
            <a:spAutoFit/>
          </a:bodyPr>
          <a:lstStyle/>
          <a:p>
            <a:pPr algn="l"/>
            <a:r>
              <a:rPr sz="1600" b="1" i="0">
                <a:solidFill>
                  <a:srgbClr val="1E2761"/>
                </a:solidFill>
                <a:latin typeface="Calibri"/>
              </a:rPr>
              <a:t>TF-IDF + Logistic Regression</a:t>
            </a:r>
          </a:p>
        </p:txBody>
      </p:sp>
      <p:sp>
        <p:nvSpPr>
          <p:cNvPr id="16" name="TextBox 15"/>
          <p:cNvSpPr txBox="1"/>
          <p:nvPr/>
        </p:nvSpPr>
        <p:spPr>
          <a:xfrm>
            <a:off x="6629400" y="2194560"/>
            <a:ext cx="5029200" cy="274320"/>
          </a:xfrm>
          <a:prstGeom prst="rect">
            <a:avLst/>
          </a:prstGeom>
          <a:noFill/>
        </p:spPr>
        <p:txBody>
          <a:bodyPr wrap="square" lIns="25400" tIns="25400" rIns="25400" bIns="25400">
            <a:spAutoFit/>
          </a:bodyPr>
          <a:lstStyle/>
          <a:p>
            <a:pPr algn="l"/>
            <a:r>
              <a:rPr sz="1100" b="0" i="1">
                <a:solidFill>
                  <a:srgbClr val="B85042"/>
                </a:solidFill>
                <a:latin typeface="Calibri"/>
              </a:rPr>
              <a:t>Bag-of-words over the CVE description.</a:t>
            </a:r>
          </a:p>
        </p:txBody>
      </p:sp>
      <p:sp>
        <p:nvSpPr>
          <p:cNvPr id="17" name="Rectangle 16"/>
          <p:cNvSpPr/>
          <p:nvPr/>
        </p:nvSpPr>
        <p:spPr>
          <a:xfrm>
            <a:off x="6629400" y="2560320"/>
            <a:ext cx="5029200" cy="640080"/>
          </a:xfrm>
          <a:prstGeom prst="rect">
            <a:avLst/>
          </a:prstGeom>
          <a:solidFill>
            <a:srgbClr val="2129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766560" y="2651760"/>
            <a:ext cx="4754880" cy="457199"/>
          </a:xfrm>
          <a:prstGeom prst="rect">
            <a:avLst/>
          </a:prstGeom>
          <a:noFill/>
        </p:spPr>
        <p:txBody>
          <a:bodyPr wrap="square">
            <a:spAutoFit/>
          </a:bodyPr>
          <a:lstStyle/>
          <a:p>
            <a:pPr algn="l">
              <a:spcAft>
                <a:spcPts val="0"/>
              </a:spcAft>
            </a:pPr>
            <a:r>
              <a:rPr sz="1000">
                <a:solidFill>
                  <a:srgbClr val="FFFFFF"/>
                </a:solidFill>
                <a:latin typeface="Consolas"/>
              </a:rPr>
              <a:t>TfidfVectorizer(max_features=20000, ngram=(1,2))</a:t>
            </a:r>
          </a:p>
        </p:txBody>
      </p:sp>
      <p:sp>
        <p:nvSpPr>
          <p:cNvPr id="19" name="TextBox 18"/>
          <p:cNvSpPr txBox="1"/>
          <p:nvPr/>
        </p:nvSpPr>
        <p:spPr>
          <a:xfrm>
            <a:off x="6629400" y="3383280"/>
            <a:ext cx="5029200" cy="457200"/>
          </a:xfrm>
          <a:prstGeom prst="rect">
            <a:avLst/>
          </a:prstGeom>
          <a:noFill/>
        </p:spPr>
        <p:txBody>
          <a:bodyPr wrap="square" lIns="25400" tIns="25400" rIns="25400" bIns="25400">
            <a:spAutoFit/>
          </a:bodyPr>
          <a:lstStyle/>
          <a:p>
            <a:pPr algn="l"/>
            <a:r>
              <a:rPr sz="1400" b="0" i="0">
                <a:solidFill>
                  <a:srgbClr val="4A4A4A"/>
                </a:solidFill>
                <a:latin typeface="Calibri"/>
              </a:rPr>
              <a:t>F1        = 0.600</a:t>
            </a:r>
          </a:p>
        </p:txBody>
      </p:sp>
      <p:sp>
        <p:nvSpPr>
          <p:cNvPr id="20" name="TextBox 19"/>
          <p:cNvSpPr txBox="1"/>
          <p:nvPr/>
        </p:nvSpPr>
        <p:spPr>
          <a:xfrm>
            <a:off x="6629400" y="3794760"/>
            <a:ext cx="5029200" cy="457200"/>
          </a:xfrm>
          <a:prstGeom prst="rect">
            <a:avLst/>
          </a:prstGeom>
          <a:noFill/>
        </p:spPr>
        <p:txBody>
          <a:bodyPr wrap="square" lIns="25400" tIns="25400" rIns="25400" bIns="25400">
            <a:spAutoFit/>
          </a:bodyPr>
          <a:lstStyle/>
          <a:p>
            <a:pPr algn="l"/>
            <a:r>
              <a:rPr sz="1400" b="0" i="0">
                <a:solidFill>
                  <a:srgbClr val="4A4A4A"/>
                </a:solidFill>
                <a:latin typeface="Calibri"/>
              </a:rPr>
              <a:t>Precision = 0.531</a:t>
            </a:r>
          </a:p>
        </p:txBody>
      </p:sp>
      <p:sp>
        <p:nvSpPr>
          <p:cNvPr id="21" name="TextBox 20"/>
          <p:cNvSpPr txBox="1"/>
          <p:nvPr/>
        </p:nvSpPr>
        <p:spPr>
          <a:xfrm>
            <a:off x="6629400" y="4160520"/>
            <a:ext cx="5029200" cy="457200"/>
          </a:xfrm>
          <a:prstGeom prst="rect">
            <a:avLst/>
          </a:prstGeom>
          <a:noFill/>
        </p:spPr>
        <p:txBody>
          <a:bodyPr wrap="square" lIns="25400" tIns="25400" rIns="25400" bIns="25400">
            <a:spAutoFit/>
          </a:bodyPr>
          <a:lstStyle/>
          <a:p>
            <a:pPr algn="l"/>
            <a:r>
              <a:rPr sz="1400" b="0" i="0">
                <a:solidFill>
                  <a:srgbClr val="4A4A4A"/>
                </a:solidFill>
                <a:latin typeface="Calibri"/>
              </a:rPr>
              <a:t>Recall    = 0.690</a:t>
            </a:r>
          </a:p>
        </p:txBody>
      </p:sp>
      <p:sp>
        <p:nvSpPr>
          <p:cNvPr id="22" name="TextBox 21"/>
          <p:cNvSpPr txBox="1"/>
          <p:nvPr/>
        </p:nvSpPr>
        <p:spPr>
          <a:xfrm>
            <a:off x="6629400" y="4617720"/>
            <a:ext cx="5029200" cy="457200"/>
          </a:xfrm>
          <a:prstGeom prst="rect">
            <a:avLst/>
          </a:prstGeom>
          <a:noFill/>
        </p:spPr>
        <p:txBody>
          <a:bodyPr wrap="square" lIns="25400" tIns="25400" rIns="25400" bIns="25400">
            <a:spAutoFit/>
          </a:bodyPr>
          <a:lstStyle/>
          <a:p>
            <a:pPr algn="l"/>
            <a:r>
              <a:rPr sz="1400" b="1" i="0">
                <a:solidFill>
                  <a:srgbClr val="1E2761"/>
                </a:solidFill>
                <a:latin typeface="Calibri"/>
              </a:rPr>
              <a:t>ROC-AUC   = 0.851</a:t>
            </a:r>
          </a:p>
        </p:txBody>
      </p:sp>
      <p:sp>
        <p:nvSpPr>
          <p:cNvPr id="23" name="TextBox 22"/>
          <p:cNvSpPr txBox="1"/>
          <p:nvPr/>
        </p:nvSpPr>
        <p:spPr>
          <a:xfrm>
            <a:off x="548640" y="5852160"/>
            <a:ext cx="10972800" cy="365760"/>
          </a:xfrm>
          <a:prstGeom prst="rect">
            <a:avLst/>
          </a:prstGeom>
          <a:noFill/>
        </p:spPr>
        <p:txBody>
          <a:bodyPr wrap="square" lIns="25400" tIns="25400" rIns="25400" bIns="25400">
            <a:spAutoFit/>
          </a:bodyPr>
          <a:lstStyle/>
          <a:p>
            <a:pPr algn="l"/>
            <a:r>
              <a:rPr sz="1200" b="0" i="1">
                <a:solidFill>
                  <a:srgbClr val="4A4A4A"/>
                </a:solidFill>
                <a:latin typeface="Calibri"/>
              </a:rPr>
              <a:t>Both baselines hover around 0.6 F1. They capture surface signal but cannot see the call graph.</a:t>
            </a:r>
          </a:p>
        </p:txBody>
      </p:sp>
      <p:sp>
        <p:nvSpPr>
          <p:cNvPr id="24" name="TextBox 23"/>
          <p:cNvSpPr txBox="1"/>
          <p:nvPr/>
        </p:nvSpPr>
        <p:spPr>
          <a:xfrm>
            <a:off x="365760" y="6492240"/>
            <a:ext cx="11460175" cy="274320"/>
          </a:xfrm>
          <a:prstGeom prst="rect">
            <a:avLst/>
          </a:prstGeom>
          <a:noFill/>
        </p:spPr>
        <p:txBody>
          <a:bodyPr wrap="none">
            <a:spAutoFit/>
          </a:bodyPr>
          <a:lstStyle/>
          <a:p>
            <a:pPr algn="l"/>
            <a:r>
              <a:rPr sz="900">
                <a:solidFill>
                  <a:srgbClr val="4A4A4A"/>
                </a:solidFill>
                <a:latin typeface="Calibri"/>
              </a:rPr>
              <a:t>Ankit Kumar Honey  |  CSCI E-222  |  Spring 2026</a:t>
            </a:r>
          </a:p>
        </p:txBody>
      </p:sp>
      <p:sp>
        <p:nvSpPr>
          <p:cNvPr id="25" name="TextBox 24"/>
          <p:cNvSpPr txBox="1"/>
          <p:nvPr/>
        </p:nvSpPr>
        <p:spPr>
          <a:xfrm>
            <a:off x="11554845" y="6492240"/>
            <a:ext cx="453970" cy="230832"/>
          </a:xfrm>
          <a:prstGeom prst="rect">
            <a:avLst/>
          </a:prstGeom>
          <a:noFill/>
        </p:spPr>
        <p:txBody>
          <a:bodyPr wrap="none">
            <a:spAutoFit/>
          </a:bodyPr>
          <a:lstStyle/>
          <a:p>
            <a:pPr algn="r"/>
            <a:r>
              <a:rPr lang="en-US" sz="900" dirty="0">
                <a:solidFill>
                  <a:srgbClr val="4A4A4A"/>
                </a:solidFill>
                <a:latin typeface="Calibri"/>
              </a:rPr>
              <a:t>6</a:t>
            </a:r>
            <a:r>
              <a:rPr sz="900" dirty="0">
                <a:solidFill>
                  <a:srgbClr val="4A4A4A"/>
                </a:solidFill>
                <a:latin typeface="Calibri"/>
              </a:rPr>
              <a:t> / 1</a:t>
            </a:r>
            <a:r>
              <a:rPr lang="en-US" sz="900" dirty="0">
                <a:solidFill>
                  <a:srgbClr val="4A4A4A"/>
                </a:solidFill>
                <a:latin typeface="Calibri"/>
              </a:rPr>
              <a:t>7</a:t>
            </a:r>
            <a:endParaRPr sz="900" dirty="0">
              <a:solidFill>
                <a:srgbClr val="4A4A4A"/>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11480"/>
            <a:ext cx="9018816" cy="584775"/>
          </a:xfrm>
          <a:prstGeom prst="rect">
            <a:avLst/>
          </a:prstGeom>
          <a:noFill/>
        </p:spPr>
        <p:txBody>
          <a:bodyPr wrap="none">
            <a:spAutoFit/>
          </a:bodyPr>
          <a:lstStyle/>
          <a:p>
            <a:pPr algn="l"/>
            <a:r>
              <a:rPr sz="3200" b="1" dirty="0">
                <a:solidFill>
                  <a:srgbClr val="0070C0"/>
                </a:solidFill>
                <a:latin typeface="Garamond" panose="02020404030301010803" pitchFamily="18" charset="0"/>
                <a:ea typeface="+mj-ea"/>
                <a:cs typeface="+mj-cs"/>
              </a:rPr>
              <a:t>Stage</a:t>
            </a:r>
            <a:r>
              <a:rPr sz="3000" b="1" dirty="0">
                <a:solidFill>
                  <a:srgbClr val="1E2761"/>
                </a:solidFill>
                <a:latin typeface="Calibri"/>
              </a:rPr>
              <a:t> </a:t>
            </a:r>
            <a:r>
              <a:rPr sz="3200" b="1" dirty="0">
                <a:solidFill>
                  <a:srgbClr val="0070C0"/>
                </a:solidFill>
                <a:latin typeface="Garamond" panose="02020404030301010803" pitchFamily="18" charset="0"/>
                <a:ea typeface="+mj-ea"/>
                <a:cs typeface="+mj-cs"/>
              </a:rPr>
              <a:t>2: </a:t>
            </a:r>
            <a:r>
              <a:rPr lang="en-US" sz="3200" b="1" dirty="0">
                <a:solidFill>
                  <a:srgbClr val="0070C0"/>
                </a:solidFill>
                <a:latin typeface="Garamond" panose="02020404030301010803" pitchFamily="18" charset="0"/>
                <a:ea typeface="+mj-ea"/>
                <a:cs typeface="+mj-cs"/>
              </a:rPr>
              <a:t>F</a:t>
            </a:r>
            <a:r>
              <a:rPr sz="3200" b="1" dirty="0">
                <a:solidFill>
                  <a:srgbClr val="0070C0"/>
                </a:solidFill>
                <a:latin typeface="Garamond" panose="02020404030301010803" pitchFamily="18" charset="0"/>
                <a:ea typeface="+mj-ea"/>
                <a:cs typeface="+mj-cs"/>
              </a:rPr>
              <a:t>ine-tune </a:t>
            </a:r>
            <a:r>
              <a:rPr sz="3200" b="1" dirty="0" err="1">
                <a:solidFill>
                  <a:srgbClr val="0070C0"/>
                </a:solidFill>
                <a:latin typeface="Garamond" panose="02020404030301010803" pitchFamily="18" charset="0"/>
                <a:ea typeface="+mj-ea"/>
                <a:cs typeface="+mj-cs"/>
              </a:rPr>
              <a:t>RoBERTa</a:t>
            </a:r>
            <a:r>
              <a:rPr sz="3200" b="1" dirty="0">
                <a:solidFill>
                  <a:srgbClr val="0070C0"/>
                </a:solidFill>
                <a:latin typeface="Garamond" panose="02020404030301010803" pitchFamily="18" charset="0"/>
                <a:ea typeface="+mj-ea"/>
                <a:cs typeface="+mj-cs"/>
              </a:rPr>
              <a:t> on CVE </a:t>
            </a:r>
            <a:r>
              <a:rPr lang="en-US" sz="3200" b="1" dirty="0">
                <a:solidFill>
                  <a:srgbClr val="0070C0"/>
                </a:solidFill>
                <a:latin typeface="Garamond" panose="02020404030301010803" pitchFamily="18" charset="0"/>
                <a:ea typeface="+mj-ea"/>
                <a:cs typeface="+mj-cs"/>
              </a:rPr>
              <a:t>D</a:t>
            </a:r>
            <a:r>
              <a:rPr sz="3200" b="1" dirty="0">
                <a:solidFill>
                  <a:srgbClr val="0070C0"/>
                </a:solidFill>
                <a:latin typeface="Garamond" panose="02020404030301010803" pitchFamily="18" charset="0"/>
                <a:ea typeface="+mj-ea"/>
                <a:cs typeface="+mj-cs"/>
              </a:rPr>
              <a:t>escriptions</a:t>
            </a:r>
          </a:p>
        </p:txBody>
      </p:sp>
      <p:sp>
        <p:nvSpPr>
          <p:cNvPr id="4" name="TextBox 3"/>
          <p:cNvSpPr txBox="1"/>
          <p:nvPr/>
        </p:nvSpPr>
        <p:spPr>
          <a:xfrm>
            <a:off x="457200" y="960120"/>
            <a:ext cx="11247120" cy="365760"/>
          </a:xfrm>
          <a:prstGeom prst="rect">
            <a:avLst/>
          </a:prstGeom>
          <a:noFill/>
        </p:spPr>
        <p:txBody>
          <a:bodyPr wrap="none">
            <a:spAutoFit/>
          </a:bodyPr>
          <a:lstStyle/>
          <a:p>
            <a:pPr algn="l"/>
            <a:r>
              <a:rPr sz="1400" i="1">
                <a:solidFill>
                  <a:srgbClr val="B85042"/>
                </a:solidFill>
                <a:latin typeface="Calibri"/>
              </a:rPr>
              <a:t>roberta-base, 5 epochs, 1,500 steps, around 95 seconds on A100.</a:t>
            </a:r>
          </a:p>
        </p:txBody>
      </p:sp>
      <p:sp>
        <p:nvSpPr>
          <p:cNvPr id="5" name="TextBox 4"/>
          <p:cNvSpPr txBox="1"/>
          <p:nvPr/>
        </p:nvSpPr>
        <p:spPr>
          <a:xfrm>
            <a:off x="548640" y="1554480"/>
            <a:ext cx="5943600" cy="3657600"/>
          </a:xfrm>
          <a:prstGeom prst="rect">
            <a:avLst/>
          </a:prstGeom>
          <a:noFill/>
        </p:spPr>
        <p:txBody>
          <a:bodyPr wrap="square" lIns="25400" rIns="25400">
            <a:spAutoFit/>
          </a:bodyPr>
          <a:lstStyle/>
          <a:p>
            <a:pPr algn="l">
              <a:spcAft>
                <a:spcPts val="600"/>
              </a:spcAft>
            </a:pPr>
            <a:r>
              <a:rPr sz="1400" dirty="0">
                <a:solidFill>
                  <a:srgbClr val="4A4A4A"/>
                </a:solidFill>
                <a:latin typeface="Calibri"/>
              </a:rPr>
              <a:t>•  Architecture: </a:t>
            </a:r>
            <a:r>
              <a:rPr sz="1400" dirty="0" err="1">
                <a:solidFill>
                  <a:srgbClr val="4A4A4A"/>
                </a:solidFill>
                <a:latin typeface="Calibri"/>
              </a:rPr>
              <a:t>roberta</a:t>
            </a:r>
            <a:r>
              <a:rPr sz="1400" dirty="0">
                <a:solidFill>
                  <a:srgbClr val="4A4A4A"/>
                </a:solidFill>
                <a:latin typeface="Calibri"/>
              </a:rPr>
              <a:t>-base (110M parameters, 768-d hidden) plus sequence-classification head, 2 labels.</a:t>
            </a:r>
          </a:p>
          <a:p>
            <a:pPr algn="l">
              <a:spcAft>
                <a:spcPts val="600"/>
              </a:spcAft>
            </a:pPr>
            <a:r>
              <a:rPr sz="1400" dirty="0">
                <a:solidFill>
                  <a:srgbClr val="4A4A4A"/>
                </a:solidFill>
                <a:latin typeface="Calibri"/>
              </a:rPr>
              <a:t>•  Hyperparameters: batch=16, lr=2e-5, weight-decay=0.01, warmup-ratio=0.1, fp16=True on CUDA.</a:t>
            </a:r>
          </a:p>
          <a:p>
            <a:pPr algn="l">
              <a:spcAft>
                <a:spcPts val="600"/>
              </a:spcAft>
            </a:pPr>
            <a:r>
              <a:rPr sz="1400" dirty="0">
                <a:solidFill>
                  <a:srgbClr val="4A4A4A"/>
                </a:solidFill>
                <a:latin typeface="Calibri"/>
              </a:rPr>
              <a:t>•  </a:t>
            </a:r>
            <a:r>
              <a:rPr sz="1400" dirty="0" err="1">
                <a:solidFill>
                  <a:srgbClr val="4A4A4A"/>
                </a:solidFill>
                <a:latin typeface="Calibri"/>
              </a:rPr>
              <a:t>load_best_model_at_end</a:t>
            </a:r>
            <a:r>
              <a:rPr sz="1400" dirty="0">
                <a:solidFill>
                  <a:srgbClr val="4A4A4A"/>
                </a:solidFill>
                <a:latin typeface="Calibri"/>
              </a:rPr>
              <a:t>=True, </a:t>
            </a:r>
            <a:r>
              <a:rPr sz="1400" dirty="0" err="1">
                <a:solidFill>
                  <a:srgbClr val="4A4A4A"/>
                </a:solidFill>
                <a:latin typeface="Calibri"/>
              </a:rPr>
              <a:t>metric_for_best_model</a:t>
            </a:r>
            <a:r>
              <a:rPr sz="1400" dirty="0">
                <a:solidFill>
                  <a:srgbClr val="4A4A4A"/>
                </a:solidFill>
                <a:latin typeface="Calibri"/>
              </a:rPr>
              <a:t>='f1'.</a:t>
            </a:r>
          </a:p>
          <a:p>
            <a:pPr algn="l">
              <a:spcAft>
                <a:spcPts val="600"/>
              </a:spcAft>
            </a:pPr>
            <a:r>
              <a:rPr sz="1400" dirty="0">
                <a:solidFill>
                  <a:srgbClr val="4A4A4A"/>
                </a:solidFill>
                <a:latin typeface="Calibri"/>
              </a:rPr>
              <a:t>•  Training loss decays smoothly across 5 epochs. load_best_model_at_end.</a:t>
            </a:r>
          </a:p>
          <a:p>
            <a:pPr algn="l">
              <a:spcAft>
                <a:spcPts val="600"/>
              </a:spcAft>
            </a:pPr>
            <a:r>
              <a:rPr sz="1400" dirty="0">
                <a:solidFill>
                  <a:srgbClr val="4A4A4A"/>
                </a:solidFill>
                <a:latin typeface="Calibri"/>
              </a:rPr>
              <a:t>•  Best checkpoint selected by validation F1.</a:t>
            </a:r>
          </a:p>
          <a:p>
            <a:pPr algn="l">
              <a:spcAft>
                <a:spcPts val="600"/>
              </a:spcAft>
            </a:pPr>
            <a:r>
              <a:rPr sz="1400" dirty="0">
                <a:solidFill>
                  <a:srgbClr val="4A4A4A"/>
                </a:solidFill>
                <a:latin typeface="Calibri"/>
              </a:rPr>
              <a:t>•  Extract 768-d [CLS] embedding post-train for Stage-4 fusion.</a:t>
            </a:r>
          </a:p>
        </p:txBody>
      </p:sp>
      <p:graphicFrame>
        <p:nvGraphicFramePr>
          <p:cNvPr id="6" name="Table 5"/>
          <p:cNvGraphicFramePr>
            <a:graphicFrameLocks noGrp="1"/>
          </p:cNvGraphicFramePr>
          <p:nvPr/>
        </p:nvGraphicFramePr>
        <p:xfrm>
          <a:off x="6675120" y="1554480"/>
          <a:ext cx="5212080" cy="1828800"/>
        </p:xfrm>
        <a:graphic>
          <a:graphicData uri="http://schemas.openxmlformats.org/drawingml/2006/table">
            <a:tbl>
              <a:tblPr firstRow="1" bandRow="1">
                <a:tableStyleId>{5C22544A-7EE6-4342-B048-85BDC9FD1C3A}</a:tableStyleId>
              </a:tblPr>
              <a:tblGrid>
                <a:gridCol w="1303020">
                  <a:extLst>
                    <a:ext uri="{9D8B030D-6E8A-4147-A177-3AD203B41FA5}">
                      <a16:colId xmlns:a16="http://schemas.microsoft.com/office/drawing/2014/main" val="20000"/>
                    </a:ext>
                  </a:extLst>
                </a:gridCol>
                <a:gridCol w="1303020">
                  <a:extLst>
                    <a:ext uri="{9D8B030D-6E8A-4147-A177-3AD203B41FA5}">
                      <a16:colId xmlns:a16="http://schemas.microsoft.com/office/drawing/2014/main" val="20001"/>
                    </a:ext>
                  </a:extLst>
                </a:gridCol>
                <a:gridCol w="1303020">
                  <a:extLst>
                    <a:ext uri="{9D8B030D-6E8A-4147-A177-3AD203B41FA5}">
                      <a16:colId xmlns:a16="http://schemas.microsoft.com/office/drawing/2014/main" val="20002"/>
                    </a:ext>
                  </a:extLst>
                </a:gridCol>
                <a:gridCol w="1303020">
                  <a:extLst>
                    <a:ext uri="{9D8B030D-6E8A-4147-A177-3AD203B41FA5}">
                      <a16:colId xmlns:a16="http://schemas.microsoft.com/office/drawing/2014/main" val="20003"/>
                    </a:ext>
                  </a:extLst>
                </a:gridCol>
              </a:tblGrid>
              <a:tr h="457200">
                <a:tc>
                  <a:txBody>
                    <a:bodyPr/>
                    <a:lstStyle/>
                    <a:p>
                      <a:pPr algn="l"/>
                      <a:r>
                        <a:rPr sz="1300" b="1">
                          <a:solidFill>
                            <a:srgbClr val="FFFFFF"/>
                          </a:solidFill>
                          <a:latin typeface="Calibri"/>
                        </a:rPr>
                        <a:t>Epoch</a:t>
                      </a:r>
                    </a:p>
                  </a:txBody>
                  <a:tcPr marL="101600" marR="101600" marT="50800" marB="50800">
                    <a:solidFill>
                      <a:srgbClr val="1E2761"/>
                    </a:solidFill>
                  </a:tcPr>
                </a:tc>
                <a:tc>
                  <a:txBody>
                    <a:bodyPr/>
                    <a:lstStyle/>
                    <a:p>
                      <a:pPr algn="ctr"/>
                      <a:r>
                        <a:rPr sz="1300" b="1">
                          <a:solidFill>
                            <a:srgbClr val="FFFFFF"/>
                          </a:solidFill>
                          <a:latin typeface="Calibri"/>
                        </a:rPr>
                        <a:t>Train loss</a:t>
                      </a:r>
                    </a:p>
                  </a:txBody>
                  <a:tcPr marL="101600" marR="101600" marT="50800" marB="50800">
                    <a:solidFill>
                      <a:srgbClr val="1E2761"/>
                    </a:solidFill>
                  </a:tcPr>
                </a:tc>
                <a:tc>
                  <a:txBody>
                    <a:bodyPr/>
                    <a:lstStyle/>
                    <a:p>
                      <a:pPr algn="ctr"/>
                      <a:r>
                        <a:rPr sz="1300" b="1">
                          <a:solidFill>
                            <a:srgbClr val="FFFFFF"/>
                          </a:solidFill>
                          <a:latin typeface="Calibri"/>
                        </a:rPr>
                        <a:t>Val F1</a:t>
                      </a:r>
                    </a:p>
                  </a:txBody>
                  <a:tcPr marL="101600" marR="101600" marT="50800" marB="50800">
                    <a:solidFill>
                      <a:srgbClr val="1E2761"/>
                    </a:solidFill>
                  </a:tcPr>
                </a:tc>
                <a:tc>
                  <a:txBody>
                    <a:bodyPr/>
                    <a:lstStyle/>
                    <a:p>
                      <a:pPr algn="ctr"/>
                      <a:r>
                        <a:rPr sz="1300" b="1">
                          <a:solidFill>
                            <a:srgbClr val="FFFFFF"/>
                          </a:solidFill>
                          <a:latin typeface="Calibri"/>
                        </a:rPr>
                        <a:t>Val AUC</a:t>
                      </a:r>
                    </a:p>
                  </a:txBody>
                  <a:tcPr marL="101600" marR="101600" marT="50800" marB="50800">
                    <a:solidFill>
                      <a:srgbClr val="1E2761"/>
                    </a:solidFill>
                  </a:tcPr>
                </a:tc>
                <a:extLst>
                  <a:ext uri="{0D108BD9-81ED-4DB2-BD59-A6C34878D82A}">
                    <a16:rowId xmlns:a16="http://schemas.microsoft.com/office/drawing/2014/main" val="10000"/>
                  </a:ext>
                </a:extLst>
              </a:tr>
              <a:tr h="457200">
                <a:tc>
                  <a:txBody>
                    <a:bodyPr/>
                    <a:lstStyle/>
                    <a:p>
                      <a:pPr algn="l"/>
                      <a:r>
                        <a:rPr sz="1300">
                          <a:solidFill>
                            <a:srgbClr val="4A4A4A"/>
                          </a:solidFill>
                          <a:latin typeface="Calibri"/>
                        </a:rPr>
                        <a:t>1</a:t>
                      </a:r>
                    </a:p>
                  </a:txBody>
                  <a:tcPr marL="101600" marR="101600" marT="50800" marB="50800">
                    <a:solidFill>
                      <a:srgbClr val="FFFFFF"/>
                    </a:solidFill>
                  </a:tcPr>
                </a:tc>
                <a:tc>
                  <a:txBody>
                    <a:bodyPr/>
                    <a:lstStyle/>
                    <a:p>
                      <a:pPr algn="ctr"/>
                      <a:r>
                        <a:rPr sz="1300">
                          <a:solidFill>
                            <a:srgbClr val="4A4A4A"/>
                          </a:solidFill>
                          <a:latin typeface="Calibri"/>
                        </a:rPr>
                        <a:t>0.435</a:t>
                      </a:r>
                    </a:p>
                  </a:txBody>
                  <a:tcPr marL="101600" marR="101600" marT="50800" marB="50800">
                    <a:solidFill>
                      <a:srgbClr val="FFFFFF"/>
                    </a:solidFill>
                  </a:tcPr>
                </a:tc>
                <a:tc>
                  <a:txBody>
                    <a:bodyPr/>
                    <a:lstStyle/>
                    <a:p>
                      <a:pPr algn="ctr"/>
                      <a:r>
                        <a:rPr sz="1300">
                          <a:solidFill>
                            <a:srgbClr val="4A4A4A"/>
                          </a:solidFill>
                          <a:latin typeface="Calibri"/>
                        </a:rPr>
                        <a:t>0.497</a:t>
                      </a:r>
                    </a:p>
                  </a:txBody>
                  <a:tcPr marL="101600" marR="101600" marT="50800" marB="50800">
                    <a:solidFill>
                      <a:srgbClr val="FFFFFF"/>
                    </a:solidFill>
                  </a:tcPr>
                </a:tc>
                <a:tc>
                  <a:txBody>
                    <a:bodyPr/>
                    <a:lstStyle/>
                    <a:p>
                      <a:pPr algn="ctr"/>
                      <a:r>
                        <a:rPr sz="1300">
                          <a:solidFill>
                            <a:srgbClr val="4A4A4A"/>
                          </a:solidFill>
                          <a:latin typeface="Calibri"/>
                        </a:rPr>
                        <a:t>0.794</a:t>
                      </a:r>
                    </a:p>
                  </a:txBody>
                  <a:tcPr marL="101600" marR="101600" marT="50800" marB="50800">
                    <a:solidFill>
                      <a:srgbClr val="FFFFFF"/>
                    </a:solidFill>
                  </a:tcPr>
                </a:tc>
                <a:extLst>
                  <a:ext uri="{0D108BD9-81ED-4DB2-BD59-A6C34878D82A}">
                    <a16:rowId xmlns:a16="http://schemas.microsoft.com/office/drawing/2014/main" val="10001"/>
                  </a:ext>
                </a:extLst>
              </a:tr>
              <a:tr h="457200">
                <a:tc>
                  <a:txBody>
                    <a:bodyPr/>
                    <a:lstStyle/>
                    <a:p>
                      <a:pPr algn="l"/>
                      <a:r>
                        <a:rPr sz="1300">
                          <a:solidFill>
                            <a:srgbClr val="4A4A4A"/>
                          </a:solidFill>
                          <a:latin typeface="Calibri"/>
                        </a:rPr>
                        <a:t>2</a:t>
                      </a:r>
                    </a:p>
                  </a:txBody>
                  <a:tcPr marL="101600" marR="101600" marT="50800" marB="50800">
                    <a:solidFill>
                      <a:srgbClr val="EAEAEA"/>
                    </a:solidFill>
                  </a:tcPr>
                </a:tc>
                <a:tc>
                  <a:txBody>
                    <a:bodyPr/>
                    <a:lstStyle/>
                    <a:p>
                      <a:pPr algn="ctr"/>
                      <a:r>
                        <a:rPr sz="1300">
                          <a:solidFill>
                            <a:srgbClr val="4A4A4A"/>
                          </a:solidFill>
                          <a:latin typeface="Calibri"/>
                        </a:rPr>
                        <a:t>0.331</a:t>
                      </a:r>
                    </a:p>
                  </a:txBody>
                  <a:tcPr marL="101600" marR="101600" marT="50800" marB="50800">
                    <a:solidFill>
                      <a:srgbClr val="EAEAEA"/>
                    </a:solidFill>
                  </a:tcPr>
                </a:tc>
                <a:tc>
                  <a:txBody>
                    <a:bodyPr/>
                    <a:lstStyle/>
                    <a:p>
                      <a:pPr algn="ctr"/>
                      <a:r>
                        <a:rPr sz="1300">
                          <a:solidFill>
                            <a:srgbClr val="4A4A4A"/>
                          </a:solidFill>
                          <a:latin typeface="Calibri"/>
                        </a:rPr>
                        <a:t>0.515</a:t>
                      </a:r>
                    </a:p>
                  </a:txBody>
                  <a:tcPr marL="101600" marR="101600" marT="50800" marB="50800">
                    <a:solidFill>
                      <a:srgbClr val="EAEAEA"/>
                    </a:solidFill>
                  </a:tcPr>
                </a:tc>
                <a:tc>
                  <a:txBody>
                    <a:bodyPr/>
                    <a:lstStyle/>
                    <a:p>
                      <a:pPr algn="ctr"/>
                      <a:r>
                        <a:rPr sz="1300">
                          <a:solidFill>
                            <a:srgbClr val="4A4A4A"/>
                          </a:solidFill>
                          <a:latin typeface="Calibri"/>
                        </a:rPr>
                        <a:t>0.830</a:t>
                      </a:r>
                    </a:p>
                  </a:txBody>
                  <a:tcPr marL="101600" marR="101600" marT="50800" marB="50800">
                    <a:solidFill>
                      <a:srgbClr val="EAEAEA"/>
                    </a:solidFill>
                  </a:tcPr>
                </a:tc>
                <a:extLst>
                  <a:ext uri="{0D108BD9-81ED-4DB2-BD59-A6C34878D82A}">
                    <a16:rowId xmlns:a16="http://schemas.microsoft.com/office/drawing/2014/main" val="10002"/>
                  </a:ext>
                </a:extLst>
              </a:tr>
              <a:tr h="457200">
                <a:tc>
                  <a:txBody>
                    <a:bodyPr/>
                    <a:lstStyle/>
                    <a:p>
                      <a:pPr algn="l"/>
                      <a:r>
                        <a:rPr sz="1300">
                          <a:solidFill>
                            <a:srgbClr val="4A4A4A"/>
                          </a:solidFill>
                          <a:latin typeface="Calibri"/>
                        </a:rPr>
                        <a:t>3</a:t>
                      </a:r>
                    </a:p>
                  </a:txBody>
                  <a:tcPr marL="101600" marR="101600" marT="50800" marB="50800">
                    <a:solidFill>
                      <a:srgbClr val="FFFFFF"/>
                    </a:solidFill>
                  </a:tcPr>
                </a:tc>
                <a:tc>
                  <a:txBody>
                    <a:bodyPr/>
                    <a:lstStyle/>
                    <a:p>
                      <a:pPr algn="ctr"/>
                      <a:r>
                        <a:rPr sz="1300">
                          <a:solidFill>
                            <a:srgbClr val="4A4A4A"/>
                          </a:solidFill>
                          <a:latin typeface="Calibri"/>
                        </a:rPr>
                        <a:t>0.300</a:t>
                      </a:r>
                    </a:p>
                  </a:txBody>
                  <a:tcPr marL="101600" marR="101600" marT="50800" marB="50800">
                    <a:solidFill>
                      <a:srgbClr val="FFFFFF"/>
                    </a:solidFill>
                  </a:tcPr>
                </a:tc>
                <a:tc>
                  <a:txBody>
                    <a:bodyPr/>
                    <a:lstStyle/>
                    <a:p>
                      <a:pPr algn="ctr"/>
                      <a:r>
                        <a:rPr sz="1300">
                          <a:solidFill>
                            <a:srgbClr val="4A4A4A"/>
                          </a:solidFill>
                          <a:latin typeface="Calibri"/>
                        </a:rPr>
                        <a:t>0.583</a:t>
                      </a:r>
                    </a:p>
                  </a:txBody>
                  <a:tcPr marL="101600" marR="101600" marT="50800" marB="50800">
                    <a:solidFill>
                      <a:srgbClr val="FFFFFF"/>
                    </a:solidFill>
                  </a:tcPr>
                </a:tc>
                <a:tc>
                  <a:txBody>
                    <a:bodyPr/>
                    <a:lstStyle/>
                    <a:p>
                      <a:pPr algn="ctr"/>
                      <a:r>
                        <a:rPr sz="1300">
                          <a:solidFill>
                            <a:srgbClr val="4A4A4A"/>
                          </a:solidFill>
                          <a:latin typeface="Calibri"/>
                        </a:rPr>
                        <a:t>0.839</a:t>
                      </a:r>
                    </a:p>
                  </a:txBody>
                  <a:tcPr marL="101600" marR="101600" marT="50800" marB="50800">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6675120" y="3657600"/>
            <a:ext cx="5212080" cy="1828800"/>
          </a:xfrm>
          <a:prstGeom prst="round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903720" y="3840480"/>
            <a:ext cx="4846320" cy="365760"/>
          </a:xfrm>
          <a:prstGeom prst="rect">
            <a:avLst/>
          </a:prstGeom>
          <a:noFill/>
        </p:spPr>
        <p:txBody>
          <a:bodyPr wrap="square" lIns="25400" tIns="25400" rIns="25400" bIns="25400">
            <a:spAutoFit/>
          </a:bodyPr>
          <a:lstStyle/>
          <a:p>
            <a:pPr algn="l"/>
            <a:r>
              <a:rPr sz="1500" b="1" i="0">
                <a:solidFill>
                  <a:srgbClr val="1E2761"/>
                </a:solidFill>
                <a:latin typeface="Calibri"/>
              </a:rPr>
              <a:t>Test-set verdict</a:t>
            </a:r>
          </a:p>
        </p:txBody>
      </p:sp>
      <p:sp>
        <p:nvSpPr>
          <p:cNvPr id="9" name="TextBox 8"/>
          <p:cNvSpPr txBox="1"/>
          <p:nvPr/>
        </p:nvSpPr>
        <p:spPr>
          <a:xfrm>
            <a:off x="6903720" y="4206240"/>
            <a:ext cx="4846320" cy="365760"/>
          </a:xfrm>
          <a:prstGeom prst="rect">
            <a:avLst/>
          </a:prstGeom>
          <a:noFill/>
        </p:spPr>
        <p:txBody>
          <a:bodyPr wrap="square" lIns="25400" tIns="25400" rIns="25400" bIns="25400">
            <a:spAutoFit/>
          </a:bodyPr>
          <a:lstStyle/>
          <a:p>
            <a:pPr algn="l"/>
            <a:r>
              <a:rPr sz="1300" b="0" i="0">
                <a:solidFill>
                  <a:srgbClr val="4A4A4A"/>
                </a:solidFill>
                <a:latin typeface="Calibri"/>
              </a:rPr>
              <a:t>F1 = 0.607, Precision = 0.658</a:t>
            </a:r>
          </a:p>
        </p:txBody>
      </p:sp>
      <p:sp>
        <p:nvSpPr>
          <p:cNvPr id="10" name="TextBox 9"/>
          <p:cNvSpPr txBox="1"/>
          <p:nvPr/>
        </p:nvSpPr>
        <p:spPr>
          <a:xfrm>
            <a:off x="6903720" y="4526280"/>
            <a:ext cx="4846320" cy="365760"/>
          </a:xfrm>
          <a:prstGeom prst="rect">
            <a:avLst/>
          </a:prstGeom>
          <a:noFill/>
        </p:spPr>
        <p:txBody>
          <a:bodyPr wrap="square" lIns="25400" tIns="25400" rIns="25400" bIns="25400">
            <a:spAutoFit/>
          </a:bodyPr>
          <a:lstStyle/>
          <a:p>
            <a:pPr algn="l"/>
            <a:r>
              <a:rPr sz="1300" b="0" i="0">
                <a:solidFill>
                  <a:srgbClr val="4A4A4A"/>
                </a:solidFill>
                <a:latin typeface="Calibri"/>
              </a:rPr>
              <a:t>Recall = 0.563, AUC = 0.835</a:t>
            </a:r>
          </a:p>
        </p:txBody>
      </p:sp>
      <p:sp>
        <p:nvSpPr>
          <p:cNvPr id="11" name="TextBox 10"/>
          <p:cNvSpPr txBox="1"/>
          <p:nvPr/>
        </p:nvSpPr>
        <p:spPr>
          <a:xfrm>
            <a:off x="6903720" y="4937760"/>
            <a:ext cx="4846320" cy="457200"/>
          </a:xfrm>
          <a:prstGeom prst="rect">
            <a:avLst/>
          </a:prstGeom>
          <a:noFill/>
        </p:spPr>
        <p:txBody>
          <a:bodyPr wrap="square" lIns="25400" tIns="25400" rIns="25400" bIns="25400">
            <a:spAutoFit/>
          </a:bodyPr>
          <a:lstStyle/>
          <a:p>
            <a:pPr algn="l"/>
            <a:r>
              <a:rPr sz="1100" b="0" i="1">
                <a:solidFill>
                  <a:srgbClr val="B85042"/>
                </a:solidFill>
                <a:latin typeface="Calibri"/>
              </a:rPr>
              <a:t>F1 nudges above the baselines.
Reachability does the heavy lifting
in Stage 4.</a:t>
            </a:r>
          </a:p>
        </p:txBody>
      </p:sp>
      <p:sp>
        <p:nvSpPr>
          <p:cNvPr id="12" name="TextBox 11"/>
          <p:cNvSpPr txBox="1"/>
          <p:nvPr/>
        </p:nvSpPr>
        <p:spPr>
          <a:xfrm>
            <a:off x="365760" y="6492240"/>
            <a:ext cx="11460175" cy="274320"/>
          </a:xfrm>
          <a:prstGeom prst="rect">
            <a:avLst/>
          </a:prstGeom>
          <a:noFill/>
        </p:spPr>
        <p:txBody>
          <a:bodyPr wrap="none">
            <a:spAutoFit/>
          </a:bodyPr>
          <a:lstStyle/>
          <a:p>
            <a:pPr algn="l"/>
            <a:r>
              <a:rPr sz="900">
                <a:solidFill>
                  <a:srgbClr val="4A4A4A"/>
                </a:solidFill>
                <a:latin typeface="Calibri"/>
              </a:rPr>
              <a:t>Ankit Kumar Honey  |  CSCI E-222  |  Spring 2026</a:t>
            </a:r>
          </a:p>
        </p:txBody>
      </p:sp>
      <p:sp>
        <p:nvSpPr>
          <p:cNvPr id="13" name="TextBox 12"/>
          <p:cNvSpPr txBox="1"/>
          <p:nvPr/>
        </p:nvSpPr>
        <p:spPr>
          <a:xfrm>
            <a:off x="11554845" y="6492240"/>
            <a:ext cx="453970" cy="230832"/>
          </a:xfrm>
          <a:prstGeom prst="rect">
            <a:avLst/>
          </a:prstGeom>
          <a:noFill/>
        </p:spPr>
        <p:txBody>
          <a:bodyPr wrap="none">
            <a:spAutoFit/>
          </a:bodyPr>
          <a:lstStyle/>
          <a:p>
            <a:pPr algn="r"/>
            <a:r>
              <a:rPr lang="en-US" sz="900" dirty="0">
                <a:solidFill>
                  <a:srgbClr val="4A4A4A"/>
                </a:solidFill>
                <a:latin typeface="Calibri"/>
              </a:rPr>
              <a:t>7</a:t>
            </a:r>
            <a:r>
              <a:rPr sz="900" dirty="0">
                <a:solidFill>
                  <a:srgbClr val="4A4A4A"/>
                </a:solidFill>
                <a:latin typeface="Calibri"/>
              </a:rPr>
              <a:t> / 1</a:t>
            </a:r>
            <a:r>
              <a:rPr lang="en-US" sz="900" dirty="0">
                <a:solidFill>
                  <a:srgbClr val="4A4A4A"/>
                </a:solidFill>
                <a:latin typeface="Calibri"/>
              </a:rPr>
              <a:t>7</a:t>
            </a:r>
            <a:endParaRPr sz="900" dirty="0">
              <a:solidFill>
                <a:srgbClr val="4A4A4A"/>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11480"/>
            <a:ext cx="7621445" cy="584775"/>
          </a:xfrm>
          <a:prstGeom prst="rect">
            <a:avLst/>
          </a:prstGeom>
          <a:noFill/>
        </p:spPr>
        <p:txBody>
          <a:bodyPr wrap="none">
            <a:spAutoFit/>
          </a:bodyPr>
          <a:lstStyle/>
          <a:p>
            <a:pPr algn="l"/>
            <a:r>
              <a:rPr sz="3200" b="1" dirty="0">
                <a:solidFill>
                  <a:srgbClr val="0070C0"/>
                </a:solidFill>
                <a:latin typeface="Garamond" panose="02020404030301010803" pitchFamily="18" charset="0"/>
                <a:ea typeface="+mj-ea"/>
                <a:cs typeface="+mj-cs"/>
              </a:rPr>
              <a:t>Stage</a:t>
            </a:r>
            <a:r>
              <a:rPr sz="3000" b="1" dirty="0">
                <a:solidFill>
                  <a:srgbClr val="1E2761"/>
                </a:solidFill>
                <a:latin typeface="Calibri"/>
              </a:rPr>
              <a:t> </a:t>
            </a:r>
            <a:r>
              <a:rPr sz="3200" b="1" dirty="0">
                <a:solidFill>
                  <a:srgbClr val="0070C0"/>
                </a:solidFill>
                <a:latin typeface="Garamond" panose="02020404030301010803" pitchFamily="18" charset="0"/>
                <a:ea typeface="+mj-ea"/>
                <a:cs typeface="+mj-cs"/>
              </a:rPr>
              <a:t>3: </a:t>
            </a:r>
            <a:r>
              <a:rPr lang="en-US" sz="3200" b="1" dirty="0">
                <a:solidFill>
                  <a:srgbClr val="0070C0"/>
                </a:solidFill>
                <a:latin typeface="Garamond" panose="02020404030301010803" pitchFamily="18" charset="0"/>
                <a:ea typeface="+mj-ea"/>
                <a:cs typeface="+mj-cs"/>
              </a:rPr>
              <a:t>T</a:t>
            </a:r>
            <a:r>
              <a:rPr sz="3200" b="1" dirty="0">
                <a:solidFill>
                  <a:srgbClr val="0070C0"/>
                </a:solidFill>
                <a:latin typeface="Garamond" panose="02020404030301010803" pitchFamily="18" charset="0"/>
                <a:ea typeface="+mj-ea"/>
                <a:cs typeface="+mj-cs"/>
              </a:rPr>
              <a:t>he </a:t>
            </a:r>
            <a:r>
              <a:rPr lang="en-US" sz="3200" b="1" dirty="0">
                <a:solidFill>
                  <a:srgbClr val="0070C0"/>
                </a:solidFill>
                <a:latin typeface="Garamond" panose="02020404030301010803" pitchFamily="18" charset="0"/>
                <a:ea typeface="+mj-ea"/>
                <a:cs typeface="+mj-cs"/>
              </a:rPr>
              <a:t>C</a:t>
            </a:r>
            <a:r>
              <a:rPr sz="3200" b="1" dirty="0">
                <a:solidFill>
                  <a:srgbClr val="0070C0"/>
                </a:solidFill>
                <a:latin typeface="Garamond" panose="02020404030301010803" pitchFamily="18" charset="0"/>
                <a:ea typeface="+mj-ea"/>
                <a:cs typeface="+mj-cs"/>
              </a:rPr>
              <a:t>ore </a:t>
            </a:r>
            <a:r>
              <a:rPr lang="en-US" sz="3200" b="1" dirty="0">
                <a:solidFill>
                  <a:srgbClr val="0070C0"/>
                </a:solidFill>
                <a:latin typeface="Garamond" panose="02020404030301010803" pitchFamily="18" charset="0"/>
                <a:ea typeface="+mj-ea"/>
                <a:cs typeface="+mj-cs"/>
              </a:rPr>
              <a:t>I</a:t>
            </a:r>
            <a:r>
              <a:rPr sz="3200" b="1" dirty="0">
                <a:solidFill>
                  <a:srgbClr val="0070C0"/>
                </a:solidFill>
                <a:latin typeface="Garamond" panose="02020404030301010803" pitchFamily="18" charset="0"/>
                <a:ea typeface="+mj-ea"/>
                <a:cs typeface="+mj-cs"/>
              </a:rPr>
              <a:t>nnovation, </a:t>
            </a:r>
            <a:r>
              <a:rPr lang="en-US" sz="3200" b="1" dirty="0">
                <a:solidFill>
                  <a:srgbClr val="0070C0"/>
                </a:solidFill>
                <a:latin typeface="Garamond" panose="02020404030301010803" pitchFamily="18" charset="0"/>
                <a:ea typeface="+mj-ea"/>
                <a:cs typeface="+mj-cs"/>
              </a:rPr>
              <a:t>R</a:t>
            </a:r>
            <a:r>
              <a:rPr sz="3200" b="1" dirty="0">
                <a:solidFill>
                  <a:srgbClr val="0070C0"/>
                </a:solidFill>
                <a:latin typeface="Garamond" panose="02020404030301010803" pitchFamily="18" charset="0"/>
                <a:ea typeface="+mj-ea"/>
                <a:cs typeface="+mj-cs"/>
              </a:rPr>
              <a:t>eachability</a:t>
            </a:r>
          </a:p>
        </p:txBody>
      </p:sp>
      <p:sp>
        <p:nvSpPr>
          <p:cNvPr id="4" name="TextBox 3"/>
          <p:cNvSpPr txBox="1"/>
          <p:nvPr/>
        </p:nvSpPr>
        <p:spPr>
          <a:xfrm>
            <a:off x="457200" y="960120"/>
            <a:ext cx="11247120" cy="365760"/>
          </a:xfrm>
          <a:prstGeom prst="rect">
            <a:avLst/>
          </a:prstGeom>
          <a:noFill/>
        </p:spPr>
        <p:txBody>
          <a:bodyPr wrap="none">
            <a:spAutoFit/>
          </a:bodyPr>
          <a:lstStyle/>
          <a:p>
            <a:pPr algn="l"/>
            <a:r>
              <a:rPr sz="1400" i="1">
                <a:solidFill>
                  <a:srgbClr val="B85042"/>
                </a:solidFill>
                <a:latin typeface="Calibri"/>
              </a:rPr>
              <a:t>Static call graph, Flan-T5 reasoner, and a CodeBERT/FAISS fallback.</a:t>
            </a:r>
          </a:p>
        </p:txBody>
      </p:sp>
      <p:sp>
        <p:nvSpPr>
          <p:cNvPr id="5" name="Rounded Rectangle 4"/>
          <p:cNvSpPr/>
          <p:nvPr/>
        </p:nvSpPr>
        <p:spPr>
          <a:xfrm>
            <a:off x="457200" y="1508760"/>
            <a:ext cx="3749039" cy="3931920"/>
          </a:xfrm>
          <a:prstGeom prst="round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 y="1645920"/>
            <a:ext cx="3474720" cy="365760"/>
          </a:xfrm>
          <a:prstGeom prst="rect">
            <a:avLst/>
          </a:prstGeom>
          <a:noFill/>
        </p:spPr>
        <p:txBody>
          <a:bodyPr wrap="square" lIns="25400" tIns="25400" rIns="25400" bIns="25400">
            <a:spAutoFit/>
          </a:bodyPr>
          <a:lstStyle/>
          <a:p>
            <a:pPr algn="l"/>
            <a:r>
              <a:rPr sz="1500" b="1" i="0">
                <a:solidFill>
                  <a:srgbClr val="1E2761"/>
                </a:solidFill>
                <a:latin typeface="Calibri"/>
              </a:rPr>
              <a:t>Static layer</a:t>
            </a:r>
          </a:p>
        </p:txBody>
      </p:sp>
      <p:sp>
        <p:nvSpPr>
          <p:cNvPr id="7" name="TextBox 6"/>
          <p:cNvSpPr txBox="1"/>
          <p:nvPr/>
        </p:nvSpPr>
        <p:spPr>
          <a:xfrm>
            <a:off x="594360" y="2011680"/>
            <a:ext cx="3474720" cy="320040"/>
          </a:xfrm>
          <a:prstGeom prst="rect">
            <a:avLst/>
          </a:prstGeom>
          <a:noFill/>
        </p:spPr>
        <p:txBody>
          <a:bodyPr wrap="square" lIns="25400" tIns="25400" rIns="25400" bIns="25400">
            <a:spAutoFit/>
          </a:bodyPr>
          <a:lstStyle/>
          <a:p>
            <a:pPr algn="l"/>
            <a:r>
              <a:rPr sz="1000" b="0" i="1">
                <a:solidFill>
                  <a:srgbClr val="B85042"/>
                </a:solidFill>
                <a:latin typeface="Consolas"/>
              </a:rPr>
              <a:t>NetworkX + AST</a:t>
            </a:r>
          </a:p>
        </p:txBody>
      </p:sp>
      <p:sp>
        <p:nvSpPr>
          <p:cNvPr id="8" name="TextBox 7"/>
          <p:cNvSpPr txBox="1"/>
          <p:nvPr/>
        </p:nvSpPr>
        <p:spPr>
          <a:xfrm>
            <a:off x="594360" y="2423160"/>
            <a:ext cx="3474720" cy="2926080"/>
          </a:xfrm>
          <a:prstGeom prst="rect">
            <a:avLst/>
          </a:prstGeom>
          <a:noFill/>
        </p:spPr>
        <p:txBody>
          <a:bodyPr wrap="square" lIns="25400" rIns="25400">
            <a:spAutoFit/>
          </a:bodyPr>
          <a:lstStyle/>
          <a:p>
            <a:pPr algn="l">
              <a:spcAft>
                <a:spcPts val="600"/>
              </a:spcAft>
            </a:pPr>
            <a:r>
              <a:rPr sz="1100">
                <a:solidFill>
                  <a:srgbClr val="4A4A4A"/>
                </a:solidFill>
                <a:latin typeface="Calibri"/>
              </a:rPr>
              <a:t>•  Python: ast.NodeVisitor resolves import aliases.</a:t>
            </a:r>
          </a:p>
          <a:p>
            <a:pPr algn="l">
              <a:spcAft>
                <a:spcPts val="600"/>
              </a:spcAft>
            </a:pPr>
            <a:r>
              <a:rPr sz="1100">
                <a:solidFill>
                  <a:srgbClr val="4A4A4A"/>
                </a:solidFill>
                <a:latin typeface="Calibri"/>
              </a:rPr>
              <a:t>•  JavaScript: regex over require/import, comments stripped first.</a:t>
            </a:r>
          </a:p>
          <a:p>
            <a:pPr algn="l">
              <a:spcAft>
                <a:spcPts val="600"/>
              </a:spcAft>
            </a:pPr>
            <a:r>
              <a:rPr sz="1100">
                <a:solidFill>
                  <a:srgbClr val="4A4A4A"/>
                </a:solidFill>
                <a:latin typeface="Calibri"/>
              </a:rPr>
              <a:t>•  Forward search from entry-points to vulnerable symbol.</a:t>
            </a:r>
          </a:p>
          <a:p>
            <a:pPr algn="l">
              <a:spcAft>
                <a:spcPts val="600"/>
              </a:spcAft>
            </a:pPr>
            <a:r>
              <a:rPr sz="1100">
                <a:solidFill>
                  <a:srgbClr val="4A4A4A"/>
                </a:solidFill>
                <a:latin typeface="Calibri"/>
              </a:rPr>
              <a:t>•  Up to 5 paths, max length 12.</a:t>
            </a:r>
          </a:p>
        </p:txBody>
      </p:sp>
      <p:sp>
        <p:nvSpPr>
          <p:cNvPr id="9" name="Rounded Rectangle 8"/>
          <p:cNvSpPr/>
          <p:nvPr/>
        </p:nvSpPr>
        <p:spPr>
          <a:xfrm>
            <a:off x="4389120" y="1508760"/>
            <a:ext cx="3749039" cy="3931920"/>
          </a:xfrm>
          <a:prstGeom prst="round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26280" y="1645920"/>
            <a:ext cx="3474720" cy="365760"/>
          </a:xfrm>
          <a:prstGeom prst="rect">
            <a:avLst/>
          </a:prstGeom>
          <a:noFill/>
        </p:spPr>
        <p:txBody>
          <a:bodyPr wrap="square" lIns="25400" tIns="25400" rIns="25400" bIns="25400">
            <a:spAutoFit/>
          </a:bodyPr>
          <a:lstStyle/>
          <a:p>
            <a:pPr algn="l"/>
            <a:r>
              <a:rPr sz="1500" b="1" i="0">
                <a:solidFill>
                  <a:srgbClr val="1E2761"/>
                </a:solidFill>
                <a:latin typeface="Calibri"/>
              </a:rPr>
              <a:t>Semantic layer</a:t>
            </a:r>
          </a:p>
        </p:txBody>
      </p:sp>
      <p:sp>
        <p:nvSpPr>
          <p:cNvPr id="11" name="TextBox 10"/>
          <p:cNvSpPr txBox="1"/>
          <p:nvPr/>
        </p:nvSpPr>
        <p:spPr>
          <a:xfrm>
            <a:off x="4526280" y="2011680"/>
            <a:ext cx="3474720" cy="320040"/>
          </a:xfrm>
          <a:prstGeom prst="rect">
            <a:avLst/>
          </a:prstGeom>
          <a:noFill/>
        </p:spPr>
        <p:txBody>
          <a:bodyPr wrap="square" lIns="25400" tIns="25400" rIns="25400" bIns="25400">
            <a:spAutoFit/>
          </a:bodyPr>
          <a:lstStyle/>
          <a:p>
            <a:pPr algn="l"/>
            <a:r>
              <a:rPr sz="1000" b="0" i="1">
                <a:solidFill>
                  <a:srgbClr val="B85042"/>
                </a:solidFill>
                <a:latin typeface="Consolas"/>
              </a:rPr>
              <a:t>google/flan-t5-large</a:t>
            </a:r>
          </a:p>
        </p:txBody>
      </p:sp>
      <p:sp>
        <p:nvSpPr>
          <p:cNvPr id="12" name="TextBox 11"/>
          <p:cNvSpPr txBox="1"/>
          <p:nvPr/>
        </p:nvSpPr>
        <p:spPr>
          <a:xfrm>
            <a:off x="4526280" y="2423160"/>
            <a:ext cx="3474720" cy="2926080"/>
          </a:xfrm>
          <a:prstGeom prst="rect">
            <a:avLst/>
          </a:prstGeom>
          <a:noFill/>
        </p:spPr>
        <p:txBody>
          <a:bodyPr wrap="square" lIns="25400" rIns="25400">
            <a:spAutoFit/>
          </a:bodyPr>
          <a:lstStyle/>
          <a:p>
            <a:pPr algn="l">
              <a:spcAft>
                <a:spcPts val="600"/>
              </a:spcAft>
            </a:pPr>
            <a:r>
              <a:rPr sz="1100">
                <a:solidFill>
                  <a:srgbClr val="4A4A4A"/>
                </a:solidFill>
                <a:latin typeface="Calibri"/>
              </a:rPr>
              <a:t>•  Prompt: CVE + symbol + static verdict + path code.</a:t>
            </a:r>
          </a:p>
          <a:p>
            <a:pPr algn="l">
              <a:spcAft>
                <a:spcPts val="600"/>
              </a:spcAft>
            </a:pPr>
            <a:r>
              <a:rPr sz="1100">
                <a:solidFill>
                  <a:srgbClr val="4A4A4A"/>
                </a:solidFill>
                <a:latin typeface="Calibri"/>
              </a:rPr>
              <a:t>•  Outputs YES or NO plus a one-sentence rationale.</a:t>
            </a:r>
          </a:p>
          <a:p>
            <a:pPr algn="l">
              <a:spcAft>
                <a:spcPts val="600"/>
              </a:spcAft>
            </a:pPr>
            <a:r>
              <a:rPr sz="1100">
                <a:solidFill>
                  <a:srgbClr val="4A4A4A"/>
                </a:solidFill>
                <a:latin typeface="Calibri"/>
              </a:rPr>
              <a:t>•  Calibrates confidence by static / LLM agreement.</a:t>
            </a:r>
          </a:p>
          <a:p>
            <a:pPr algn="l">
              <a:spcAft>
                <a:spcPts val="600"/>
              </a:spcAft>
            </a:pPr>
            <a:r>
              <a:rPr sz="1100">
                <a:solidFill>
                  <a:srgbClr val="4A4A4A"/>
                </a:solidFill>
                <a:latin typeface="Calibri"/>
              </a:rPr>
              <a:t>•  Rule-based fallback if transformers is unavailable.</a:t>
            </a:r>
          </a:p>
        </p:txBody>
      </p:sp>
      <p:sp>
        <p:nvSpPr>
          <p:cNvPr id="13" name="Rounded Rectangle 12"/>
          <p:cNvSpPr/>
          <p:nvPr/>
        </p:nvSpPr>
        <p:spPr>
          <a:xfrm>
            <a:off x="8321040" y="1508760"/>
            <a:ext cx="3749039" cy="3931920"/>
          </a:xfrm>
          <a:prstGeom prst="round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458200" y="1645920"/>
            <a:ext cx="3474720" cy="365760"/>
          </a:xfrm>
          <a:prstGeom prst="rect">
            <a:avLst/>
          </a:prstGeom>
          <a:noFill/>
        </p:spPr>
        <p:txBody>
          <a:bodyPr wrap="square" lIns="25400" tIns="25400" rIns="25400" bIns="25400">
            <a:spAutoFit/>
          </a:bodyPr>
          <a:lstStyle/>
          <a:p>
            <a:pPr algn="l"/>
            <a:r>
              <a:rPr sz="1500" b="1" i="0">
                <a:solidFill>
                  <a:srgbClr val="1E2761"/>
                </a:solidFill>
                <a:latin typeface="Calibri"/>
              </a:rPr>
              <a:t>Scale layer</a:t>
            </a:r>
          </a:p>
        </p:txBody>
      </p:sp>
      <p:sp>
        <p:nvSpPr>
          <p:cNvPr id="15" name="TextBox 14"/>
          <p:cNvSpPr txBox="1"/>
          <p:nvPr/>
        </p:nvSpPr>
        <p:spPr>
          <a:xfrm>
            <a:off x="8458200" y="2011680"/>
            <a:ext cx="3474720" cy="320040"/>
          </a:xfrm>
          <a:prstGeom prst="rect">
            <a:avLst/>
          </a:prstGeom>
          <a:noFill/>
        </p:spPr>
        <p:txBody>
          <a:bodyPr wrap="square" lIns="25400" tIns="25400" rIns="25400" bIns="25400">
            <a:spAutoFit/>
          </a:bodyPr>
          <a:lstStyle/>
          <a:p>
            <a:pPr algn="l"/>
            <a:r>
              <a:rPr sz="1000" b="0" i="1">
                <a:solidFill>
                  <a:srgbClr val="B85042"/>
                </a:solidFill>
                <a:latin typeface="Consolas"/>
              </a:rPr>
              <a:t>CodeBERT + FAISS</a:t>
            </a:r>
          </a:p>
        </p:txBody>
      </p:sp>
      <p:sp>
        <p:nvSpPr>
          <p:cNvPr id="16" name="TextBox 15"/>
          <p:cNvSpPr txBox="1"/>
          <p:nvPr/>
        </p:nvSpPr>
        <p:spPr>
          <a:xfrm>
            <a:off x="8458200" y="2423160"/>
            <a:ext cx="3474720" cy="2926080"/>
          </a:xfrm>
          <a:prstGeom prst="rect">
            <a:avLst/>
          </a:prstGeom>
          <a:noFill/>
        </p:spPr>
        <p:txBody>
          <a:bodyPr wrap="square" lIns="25400" rIns="25400">
            <a:spAutoFit/>
          </a:bodyPr>
          <a:lstStyle/>
          <a:p>
            <a:pPr algn="l">
              <a:spcAft>
                <a:spcPts val="600"/>
              </a:spcAft>
            </a:pPr>
            <a:r>
              <a:rPr sz="1100">
                <a:solidFill>
                  <a:srgbClr val="4A4A4A"/>
                </a:solidFill>
                <a:latin typeface="Calibri"/>
              </a:rPr>
              <a:t>•  For 1M-LOC monorepos where the static graph is impractical.</a:t>
            </a:r>
          </a:p>
          <a:p>
            <a:pPr algn="l">
              <a:spcAft>
                <a:spcPts val="600"/>
              </a:spcAft>
            </a:pPr>
            <a:r>
              <a:rPr sz="1100">
                <a:solidFill>
                  <a:srgbClr val="4A4A4A"/>
                </a:solidFill>
                <a:latin typeface="Calibri"/>
              </a:rPr>
              <a:t>•  Chunk to 25-line windows, MiniLM-L6 embeddings.</a:t>
            </a:r>
          </a:p>
          <a:p>
            <a:pPr algn="l">
              <a:spcAft>
                <a:spcPts val="600"/>
              </a:spcAft>
            </a:pPr>
            <a:r>
              <a:rPr sz="1100">
                <a:solidFill>
                  <a:srgbClr val="4A4A4A"/>
                </a:solidFill>
                <a:latin typeface="Calibri"/>
              </a:rPr>
              <a:t>•  FAISS-IP index, top-k chunks fed to the reasoner.</a:t>
            </a:r>
          </a:p>
          <a:p>
            <a:pPr algn="l">
              <a:spcAft>
                <a:spcPts val="600"/>
              </a:spcAft>
            </a:pPr>
            <a:r>
              <a:rPr sz="1100">
                <a:solidFill>
                  <a:srgbClr val="4A4A4A"/>
                </a:solidFill>
                <a:latin typeface="Calibri"/>
              </a:rPr>
              <a:t>•  Retrieval validated: VULN sim 0.46, SAFE sim 0.13.</a:t>
            </a:r>
          </a:p>
        </p:txBody>
      </p:sp>
      <p:sp>
        <p:nvSpPr>
          <p:cNvPr id="17" name="TextBox 16"/>
          <p:cNvSpPr txBox="1"/>
          <p:nvPr/>
        </p:nvSpPr>
        <p:spPr>
          <a:xfrm>
            <a:off x="548640" y="5852160"/>
            <a:ext cx="10972800" cy="365760"/>
          </a:xfrm>
          <a:prstGeom prst="rect">
            <a:avLst/>
          </a:prstGeom>
          <a:noFill/>
        </p:spPr>
        <p:txBody>
          <a:bodyPr wrap="square" lIns="25400" tIns="25400" rIns="25400" bIns="25400">
            <a:spAutoFit/>
          </a:bodyPr>
          <a:lstStyle/>
          <a:p>
            <a:pPr algn="l"/>
            <a:r>
              <a:rPr sz="1200" b="0" i="1">
                <a:solidFill>
                  <a:srgbClr val="4A4A4A"/>
                </a:solidFill>
                <a:latin typeface="Calibri"/>
              </a:rPr>
              <a:t>The static layer is deterministic and reliable. The LLM is the contextualiser and the weak link (see the lodash slide).</a:t>
            </a:r>
          </a:p>
        </p:txBody>
      </p:sp>
      <p:sp>
        <p:nvSpPr>
          <p:cNvPr id="18" name="TextBox 17"/>
          <p:cNvSpPr txBox="1"/>
          <p:nvPr/>
        </p:nvSpPr>
        <p:spPr>
          <a:xfrm>
            <a:off x="365760" y="6492240"/>
            <a:ext cx="11460175" cy="274320"/>
          </a:xfrm>
          <a:prstGeom prst="rect">
            <a:avLst/>
          </a:prstGeom>
          <a:noFill/>
        </p:spPr>
        <p:txBody>
          <a:bodyPr wrap="none">
            <a:spAutoFit/>
          </a:bodyPr>
          <a:lstStyle/>
          <a:p>
            <a:pPr algn="l"/>
            <a:r>
              <a:rPr sz="900">
                <a:solidFill>
                  <a:srgbClr val="4A4A4A"/>
                </a:solidFill>
                <a:latin typeface="Calibri"/>
              </a:rPr>
              <a:t>Ankit Kumar Honey  |  CSCI E-222  |  Spring 2026</a:t>
            </a:r>
          </a:p>
        </p:txBody>
      </p:sp>
      <p:sp>
        <p:nvSpPr>
          <p:cNvPr id="19" name="TextBox 18"/>
          <p:cNvSpPr txBox="1"/>
          <p:nvPr/>
        </p:nvSpPr>
        <p:spPr>
          <a:xfrm>
            <a:off x="11554845" y="6492240"/>
            <a:ext cx="453970" cy="230832"/>
          </a:xfrm>
          <a:prstGeom prst="rect">
            <a:avLst/>
          </a:prstGeom>
          <a:noFill/>
        </p:spPr>
        <p:txBody>
          <a:bodyPr wrap="none">
            <a:spAutoFit/>
          </a:bodyPr>
          <a:lstStyle/>
          <a:p>
            <a:pPr algn="r"/>
            <a:r>
              <a:rPr lang="en-US" sz="900" dirty="0">
                <a:solidFill>
                  <a:srgbClr val="4A4A4A"/>
                </a:solidFill>
                <a:latin typeface="Calibri"/>
              </a:rPr>
              <a:t>8</a:t>
            </a:r>
            <a:r>
              <a:rPr sz="900" dirty="0">
                <a:solidFill>
                  <a:srgbClr val="4A4A4A"/>
                </a:solidFill>
                <a:latin typeface="Calibri"/>
              </a:rPr>
              <a:t> / 1</a:t>
            </a:r>
            <a:r>
              <a:rPr lang="en-US" sz="900" dirty="0">
                <a:solidFill>
                  <a:srgbClr val="4A4A4A"/>
                </a:solidFill>
                <a:latin typeface="Calibri"/>
              </a:rPr>
              <a:t>7</a:t>
            </a:r>
            <a:endParaRPr sz="900" dirty="0">
              <a:solidFill>
                <a:srgbClr val="4A4A4A"/>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11480"/>
            <a:ext cx="7630294" cy="584775"/>
          </a:xfrm>
          <a:prstGeom prst="rect">
            <a:avLst/>
          </a:prstGeom>
          <a:noFill/>
        </p:spPr>
        <p:txBody>
          <a:bodyPr wrap="none">
            <a:spAutoFit/>
          </a:bodyPr>
          <a:lstStyle/>
          <a:p>
            <a:pPr algn="l"/>
            <a:r>
              <a:rPr sz="3200" b="1" dirty="0">
                <a:solidFill>
                  <a:srgbClr val="0070C0"/>
                </a:solidFill>
                <a:latin typeface="Garamond" panose="02020404030301010803" pitchFamily="18" charset="0"/>
                <a:ea typeface="+mj-ea"/>
                <a:cs typeface="+mj-cs"/>
              </a:rPr>
              <a:t>Worked</a:t>
            </a:r>
            <a:r>
              <a:rPr sz="3000" b="1" dirty="0">
                <a:solidFill>
                  <a:srgbClr val="1E2761"/>
                </a:solidFill>
                <a:latin typeface="Calibri"/>
              </a:rPr>
              <a:t> </a:t>
            </a:r>
            <a:r>
              <a:rPr sz="3200" b="1" dirty="0">
                <a:solidFill>
                  <a:srgbClr val="0070C0"/>
                </a:solidFill>
                <a:latin typeface="Garamond" panose="02020404030301010803" pitchFamily="18" charset="0"/>
                <a:ea typeface="+mj-ea"/>
                <a:cs typeface="+mj-cs"/>
              </a:rPr>
              <a:t>example: CVE-2021-23337 (</a:t>
            </a:r>
            <a:r>
              <a:rPr sz="3200" b="1" dirty="0" err="1">
                <a:solidFill>
                  <a:srgbClr val="0070C0"/>
                </a:solidFill>
                <a:latin typeface="Garamond" panose="02020404030301010803" pitchFamily="18" charset="0"/>
                <a:ea typeface="+mj-ea"/>
                <a:cs typeface="+mj-cs"/>
              </a:rPr>
              <a:t>lodash</a:t>
            </a:r>
            <a:r>
              <a:rPr sz="3200" b="1" dirty="0">
                <a:solidFill>
                  <a:srgbClr val="0070C0"/>
                </a:solidFill>
                <a:latin typeface="Garamond" panose="02020404030301010803" pitchFamily="18" charset="0"/>
                <a:ea typeface="+mj-ea"/>
                <a:cs typeface="+mj-cs"/>
              </a:rPr>
              <a:t>)</a:t>
            </a:r>
          </a:p>
        </p:txBody>
      </p:sp>
      <p:sp>
        <p:nvSpPr>
          <p:cNvPr id="4" name="TextBox 3"/>
          <p:cNvSpPr txBox="1"/>
          <p:nvPr/>
        </p:nvSpPr>
        <p:spPr>
          <a:xfrm>
            <a:off x="457200" y="960120"/>
            <a:ext cx="11247120" cy="365760"/>
          </a:xfrm>
          <a:prstGeom prst="rect">
            <a:avLst/>
          </a:prstGeom>
          <a:noFill/>
        </p:spPr>
        <p:txBody>
          <a:bodyPr wrap="none">
            <a:spAutoFit/>
          </a:bodyPr>
          <a:lstStyle/>
          <a:p>
            <a:pPr algn="l"/>
            <a:r>
              <a:rPr sz="1400" i="1">
                <a:solidFill>
                  <a:srgbClr val="B85042"/>
                </a:solidFill>
                <a:latin typeface="Calibri"/>
              </a:rPr>
              <a:t>Two synthetic apps, both pin lodash@4.17.20.</a:t>
            </a:r>
          </a:p>
        </p:txBody>
      </p:sp>
      <p:sp>
        <p:nvSpPr>
          <p:cNvPr id="5" name="Rounded Rectangle 4"/>
          <p:cNvSpPr/>
          <p:nvPr/>
        </p:nvSpPr>
        <p:spPr>
          <a:xfrm>
            <a:off x="548640" y="1554480"/>
            <a:ext cx="5486400" cy="4114800"/>
          </a:xfrm>
          <a:prstGeom prst="roundRect">
            <a:avLst/>
          </a:prstGeom>
          <a:solidFill>
            <a:srgbClr val="ECF8EE"/>
          </a:solidFill>
          <a:ln w="9525">
            <a:solidFill>
              <a:srgbClr val="4CAF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1691640"/>
            <a:ext cx="5029200" cy="365760"/>
          </a:xfrm>
          <a:prstGeom prst="rect">
            <a:avLst/>
          </a:prstGeom>
          <a:noFill/>
        </p:spPr>
        <p:txBody>
          <a:bodyPr wrap="square" lIns="25400" tIns="25400" rIns="25400" bIns="25400">
            <a:spAutoFit/>
          </a:bodyPr>
          <a:lstStyle/>
          <a:p>
            <a:pPr algn="l"/>
            <a:r>
              <a:rPr sz="1600" b="1" i="0">
                <a:solidFill>
                  <a:srgbClr val="2E7D32"/>
                </a:solidFill>
                <a:latin typeface="Calibri"/>
              </a:rPr>
              <a:t>SAFE app</a:t>
            </a:r>
          </a:p>
        </p:txBody>
      </p:sp>
      <p:sp>
        <p:nvSpPr>
          <p:cNvPr id="7" name="Rectangle 6"/>
          <p:cNvSpPr/>
          <p:nvPr/>
        </p:nvSpPr>
        <p:spPr>
          <a:xfrm>
            <a:off x="777240" y="2103120"/>
            <a:ext cx="5029200" cy="914400"/>
          </a:xfrm>
          <a:prstGeom prst="rect">
            <a:avLst/>
          </a:prstGeom>
          <a:solidFill>
            <a:srgbClr val="2129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2194560"/>
            <a:ext cx="4754880" cy="731520"/>
          </a:xfrm>
          <a:prstGeom prst="rect">
            <a:avLst/>
          </a:prstGeom>
          <a:noFill/>
        </p:spPr>
        <p:txBody>
          <a:bodyPr wrap="square">
            <a:spAutoFit/>
          </a:bodyPr>
          <a:lstStyle/>
          <a:p>
            <a:pPr algn="l">
              <a:spcAft>
                <a:spcPts val="0"/>
              </a:spcAft>
            </a:pPr>
            <a:r>
              <a:rPr sz="1000">
                <a:solidFill>
                  <a:srgbClr val="FFFFFF"/>
                </a:solidFill>
                <a:latin typeface="Consolas"/>
              </a:rPr>
              <a:t>users.map(u =&gt;</a:t>
            </a:r>
          </a:p>
          <a:p>
            <a:pPr algn="l">
              <a:spcAft>
                <a:spcPts val="0"/>
              </a:spcAft>
            </a:pPr>
            <a:r>
              <a:rPr sz="1000">
                <a:solidFill>
                  <a:srgbClr val="FFFFFF"/>
                </a:solidFill>
                <a:latin typeface="Consolas"/>
              </a:rPr>
              <a:t>    _.capitalize(u.name));</a:t>
            </a:r>
          </a:p>
          <a:p>
            <a:pPr algn="l">
              <a:spcAft>
                <a:spcPts val="0"/>
              </a:spcAft>
            </a:pPr>
            <a:r>
              <a:rPr sz="1000">
                <a:solidFill>
                  <a:srgbClr val="FFFFFF"/>
                </a:solidFill>
                <a:latin typeface="Consolas"/>
              </a:rPr>
              <a:t>_.groupBy(result, 'dept');</a:t>
            </a:r>
          </a:p>
        </p:txBody>
      </p:sp>
      <p:sp>
        <p:nvSpPr>
          <p:cNvPr id="9" name="TextBox 8"/>
          <p:cNvSpPr txBox="1"/>
          <p:nvPr/>
        </p:nvSpPr>
        <p:spPr>
          <a:xfrm>
            <a:off x="777240" y="3154680"/>
            <a:ext cx="5029200" cy="274320"/>
          </a:xfrm>
          <a:prstGeom prst="rect">
            <a:avLst/>
          </a:prstGeom>
          <a:noFill/>
        </p:spPr>
        <p:txBody>
          <a:bodyPr wrap="square" lIns="25400" tIns="25400" rIns="25400" bIns="25400">
            <a:spAutoFit/>
          </a:bodyPr>
          <a:lstStyle/>
          <a:p>
            <a:pPr algn="l"/>
            <a:r>
              <a:rPr sz="1200" b="1" i="0">
                <a:solidFill>
                  <a:srgbClr val="1E2761"/>
                </a:solidFill>
                <a:latin typeface="Calibri"/>
              </a:rPr>
              <a:t>Static call graph</a:t>
            </a:r>
          </a:p>
        </p:txBody>
      </p:sp>
      <p:sp>
        <p:nvSpPr>
          <p:cNvPr id="10" name="TextBox 9"/>
          <p:cNvSpPr txBox="1"/>
          <p:nvPr/>
        </p:nvSpPr>
        <p:spPr>
          <a:xfrm>
            <a:off x="777240" y="3429000"/>
            <a:ext cx="5029200" cy="365760"/>
          </a:xfrm>
          <a:prstGeom prst="rect">
            <a:avLst/>
          </a:prstGeom>
          <a:noFill/>
        </p:spPr>
        <p:txBody>
          <a:bodyPr wrap="square" lIns="25400" tIns="25400" rIns="25400" bIns="25400">
            <a:spAutoFit/>
          </a:bodyPr>
          <a:lstStyle/>
          <a:p>
            <a:pPr algn="l"/>
            <a:r>
              <a:rPr sz="1200" b="0" i="0">
                <a:solidFill>
                  <a:srgbClr val="4A4A4A"/>
                </a:solidFill>
                <a:latin typeface="Calibri"/>
              </a:rPr>
              <a:t>17 nodes, 16 edges</a:t>
            </a:r>
          </a:p>
        </p:txBody>
      </p:sp>
      <p:sp>
        <p:nvSpPr>
          <p:cNvPr id="11" name="TextBox 10"/>
          <p:cNvSpPr txBox="1"/>
          <p:nvPr/>
        </p:nvSpPr>
        <p:spPr>
          <a:xfrm>
            <a:off x="777240" y="3749039"/>
            <a:ext cx="5029200" cy="365760"/>
          </a:xfrm>
          <a:prstGeom prst="rect">
            <a:avLst/>
          </a:prstGeom>
          <a:noFill/>
        </p:spPr>
        <p:txBody>
          <a:bodyPr wrap="square" lIns="25400" tIns="25400" rIns="25400" bIns="25400">
            <a:spAutoFit/>
          </a:bodyPr>
          <a:lstStyle/>
          <a:p>
            <a:pPr algn="l"/>
            <a:r>
              <a:rPr sz="1200" b="0" i="0">
                <a:solidFill>
                  <a:srgbClr val="4A4A4A"/>
                </a:solidFill>
                <a:latin typeface="Consolas"/>
              </a:rPr>
              <a:t>_.template NOT in graph</a:t>
            </a:r>
          </a:p>
        </p:txBody>
      </p:sp>
      <p:sp>
        <p:nvSpPr>
          <p:cNvPr id="12" name="TextBox 11"/>
          <p:cNvSpPr txBox="1"/>
          <p:nvPr/>
        </p:nvSpPr>
        <p:spPr>
          <a:xfrm>
            <a:off x="777240" y="4251960"/>
            <a:ext cx="5029200" cy="274320"/>
          </a:xfrm>
          <a:prstGeom prst="rect">
            <a:avLst/>
          </a:prstGeom>
          <a:noFill/>
        </p:spPr>
        <p:txBody>
          <a:bodyPr wrap="square" lIns="25400" tIns="25400" rIns="25400" bIns="25400">
            <a:spAutoFit/>
          </a:bodyPr>
          <a:lstStyle/>
          <a:p>
            <a:pPr algn="l"/>
            <a:r>
              <a:rPr sz="1200" b="1" i="0">
                <a:solidFill>
                  <a:srgbClr val="1E2761"/>
                </a:solidFill>
                <a:latin typeface="Calibri"/>
              </a:rPr>
              <a:t>Flan-T5 verdict</a:t>
            </a:r>
          </a:p>
        </p:txBody>
      </p:sp>
      <p:sp>
        <p:nvSpPr>
          <p:cNvPr id="13" name="TextBox 12"/>
          <p:cNvSpPr txBox="1"/>
          <p:nvPr/>
        </p:nvSpPr>
        <p:spPr>
          <a:xfrm>
            <a:off x="777240" y="4526280"/>
            <a:ext cx="5029200" cy="365760"/>
          </a:xfrm>
          <a:prstGeom prst="rect">
            <a:avLst/>
          </a:prstGeom>
          <a:noFill/>
        </p:spPr>
        <p:txBody>
          <a:bodyPr wrap="square" lIns="25400" tIns="25400" rIns="25400" bIns="25400">
            <a:spAutoFit/>
          </a:bodyPr>
          <a:lstStyle/>
          <a:p>
            <a:pPr algn="l"/>
            <a:r>
              <a:rPr sz="1400" b="1" i="0">
                <a:solidFill>
                  <a:srgbClr val="2E7D32"/>
                </a:solidFill>
                <a:latin typeface="Calibri"/>
              </a:rPr>
              <a:t>FALSE_POSITIVE  (conf 0.90)</a:t>
            </a:r>
          </a:p>
        </p:txBody>
      </p:sp>
      <p:sp>
        <p:nvSpPr>
          <p:cNvPr id="14" name="TextBox 13"/>
          <p:cNvSpPr txBox="1"/>
          <p:nvPr/>
        </p:nvSpPr>
        <p:spPr>
          <a:xfrm>
            <a:off x="777240" y="5029200"/>
            <a:ext cx="5029200" cy="365760"/>
          </a:xfrm>
          <a:prstGeom prst="rect">
            <a:avLst/>
          </a:prstGeom>
          <a:noFill/>
        </p:spPr>
        <p:txBody>
          <a:bodyPr wrap="square" lIns="25400" tIns="25400" rIns="25400" bIns="25400">
            <a:spAutoFit/>
          </a:bodyPr>
          <a:lstStyle/>
          <a:p>
            <a:pPr algn="l"/>
            <a:r>
              <a:rPr sz="1100" b="0" i="1">
                <a:solidFill>
                  <a:srgbClr val="4A4A4A"/>
                </a:solidFill>
                <a:latin typeface="Calibri"/>
              </a:rPr>
              <a:t>Correct.</a:t>
            </a:r>
          </a:p>
        </p:txBody>
      </p:sp>
      <p:sp>
        <p:nvSpPr>
          <p:cNvPr id="15" name="Rounded Rectangle 14"/>
          <p:cNvSpPr/>
          <p:nvPr/>
        </p:nvSpPr>
        <p:spPr>
          <a:xfrm>
            <a:off x="6400800" y="1554480"/>
            <a:ext cx="5486400" cy="4114800"/>
          </a:xfrm>
          <a:prstGeom prst="roundRect">
            <a:avLst/>
          </a:prstGeom>
          <a:solidFill>
            <a:srgbClr val="FDE7E7"/>
          </a:solidFill>
          <a:ln w="9525">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629400" y="1691640"/>
            <a:ext cx="5029200" cy="365760"/>
          </a:xfrm>
          <a:prstGeom prst="rect">
            <a:avLst/>
          </a:prstGeom>
          <a:noFill/>
        </p:spPr>
        <p:txBody>
          <a:bodyPr wrap="square" lIns="25400" tIns="25400" rIns="25400" bIns="25400">
            <a:spAutoFit/>
          </a:bodyPr>
          <a:lstStyle/>
          <a:p>
            <a:pPr algn="l"/>
            <a:r>
              <a:rPr sz="1600" b="1" i="0">
                <a:solidFill>
                  <a:srgbClr val="B71C1C"/>
                </a:solidFill>
                <a:latin typeface="Calibri"/>
              </a:rPr>
              <a:t>VULN app</a:t>
            </a:r>
          </a:p>
        </p:txBody>
      </p:sp>
      <p:sp>
        <p:nvSpPr>
          <p:cNvPr id="17" name="Rectangle 16"/>
          <p:cNvSpPr/>
          <p:nvPr/>
        </p:nvSpPr>
        <p:spPr>
          <a:xfrm>
            <a:off x="6629400" y="2103120"/>
            <a:ext cx="5029200" cy="914400"/>
          </a:xfrm>
          <a:prstGeom prst="rect">
            <a:avLst/>
          </a:prstGeom>
          <a:solidFill>
            <a:srgbClr val="2129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766560" y="2194560"/>
            <a:ext cx="4754880" cy="731520"/>
          </a:xfrm>
          <a:prstGeom prst="rect">
            <a:avLst/>
          </a:prstGeom>
          <a:noFill/>
        </p:spPr>
        <p:txBody>
          <a:bodyPr wrap="square">
            <a:spAutoFit/>
          </a:bodyPr>
          <a:lstStyle/>
          <a:p>
            <a:pPr algn="l">
              <a:spcAft>
                <a:spcPts val="0"/>
              </a:spcAft>
            </a:pPr>
            <a:r>
              <a:rPr sz="1000">
                <a:solidFill>
                  <a:srgbClr val="FFFFFF"/>
                </a:solidFill>
                <a:latin typeface="Consolas"/>
              </a:rPr>
              <a:t>_.template(tpl, {</a:t>
            </a:r>
          </a:p>
          <a:p>
            <a:pPr algn="l">
              <a:spcAft>
                <a:spcPts val="0"/>
              </a:spcAft>
            </a:pPr>
            <a:r>
              <a:rPr sz="1000">
                <a:solidFill>
                  <a:srgbClr val="FFFFFF"/>
                </a:solidFill>
                <a:latin typeface="Consolas"/>
              </a:rPr>
              <a:t>  sourceURL: req.query.src</a:t>
            </a:r>
          </a:p>
          <a:p>
            <a:pPr algn="l">
              <a:spcAft>
                <a:spcPts val="0"/>
              </a:spcAft>
            </a:pPr>
            <a:r>
              <a:rPr sz="1000">
                <a:solidFill>
                  <a:srgbClr val="FFFFFF"/>
                </a:solidFill>
                <a:latin typeface="Consolas"/>
              </a:rPr>
              <a:t>})(data);</a:t>
            </a:r>
          </a:p>
        </p:txBody>
      </p:sp>
      <p:sp>
        <p:nvSpPr>
          <p:cNvPr id="19" name="TextBox 18"/>
          <p:cNvSpPr txBox="1"/>
          <p:nvPr/>
        </p:nvSpPr>
        <p:spPr>
          <a:xfrm>
            <a:off x="6629400" y="3154680"/>
            <a:ext cx="5029200" cy="274320"/>
          </a:xfrm>
          <a:prstGeom prst="rect">
            <a:avLst/>
          </a:prstGeom>
          <a:noFill/>
        </p:spPr>
        <p:txBody>
          <a:bodyPr wrap="square" lIns="25400" tIns="25400" rIns="25400" bIns="25400">
            <a:spAutoFit/>
          </a:bodyPr>
          <a:lstStyle/>
          <a:p>
            <a:pPr algn="l"/>
            <a:r>
              <a:rPr sz="1200" b="1" i="0">
                <a:solidFill>
                  <a:srgbClr val="1E2761"/>
                </a:solidFill>
                <a:latin typeface="Calibri"/>
              </a:rPr>
              <a:t>Static call graph</a:t>
            </a:r>
          </a:p>
        </p:txBody>
      </p:sp>
      <p:sp>
        <p:nvSpPr>
          <p:cNvPr id="20" name="TextBox 19"/>
          <p:cNvSpPr txBox="1"/>
          <p:nvPr/>
        </p:nvSpPr>
        <p:spPr>
          <a:xfrm>
            <a:off x="6629400" y="3429000"/>
            <a:ext cx="5029200" cy="365760"/>
          </a:xfrm>
          <a:prstGeom prst="rect">
            <a:avLst/>
          </a:prstGeom>
          <a:noFill/>
        </p:spPr>
        <p:txBody>
          <a:bodyPr wrap="square" lIns="25400" tIns="25400" rIns="25400" bIns="25400">
            <a:spAutoFit/>
          </a:bodyPr>
          <a:lstStyle/>
          <a:p>
            <a:pPr algn="l"/>
            <a:r>
              <a:rPr sz="1200" b="0" i="0">
                <a:solidFill>
                  <a:srgbClr val="4A4A4A"/>
                </a:solidFill>
                <a:latin typeface="Calibri"/>
              </a:rPr>
              <a:t>9 nodes, 8 edges. reachable=True</a:t>
            </a:r>
          </a:p>
        </p:txBody>
      </p:sp>
      <p:sp>
        <p:nvSpPr>
          <p:cNvPr id="21" name="TextBox 20"/>
          <p:cNvSpPr txBox="1"/>
          <p:nvPr/>
        </p:nvSpPr>
        <p:spPr>
          <a:xfrm>
            <a:off x="6629400" y="3749039"/>
            <a:ext cx="5029200" cy="365760"/>
          </a:xfrm>
          <a:prstGeom prst="rect">
            <a:avLst/>
          </a:prstGeom>
          <a:noFill/>
        </p:spPr>
        <p:txBody>
          <a:bodyPr wrap="square" lIns="25400" tIns="25400" rIns="25400" bIns="25400">
            <a:spAutoFit/>
          </a:bodyPr>
          <a:lstStyle/>
          <a:p>
            <a:pPr algn="l"/>
            <a:r>
              <a:rPr sz="1200" b="0" i="0">
                <a:solidFill>
                  <a:srgbClr val="4A4A4A"/>
                </a:solidFill>
                <a:latin typeface="Consolas"/>
              </a:rPr>
              <a:t>module -&gt; _.template</a:t>
            </a:r>
          </a:p>
        </p:txBody>
      </p:sp>
      <p:sp>
        <p:nvSpPr>
          <p:cNvPr id="22" name="TextBox 21"/>
          <p:cNvSpPr txBox="1"/>
          <p:nvPr/>
        </p:nvSpPr>
        <p:spPr>
          <a:xfrm>
            <a:off x="6629400" y="4251960"/>
            <a:ext cx="5029200" cy="274320"/>
          </a:xfrm>
          <a:prstGeom prst="rect">
            <a:avLst/>
          </a:prstGeom>
          <a:noFill/>
        </p:spPr>
        <p:txBody>
          <a:bodyPr wrap="square" lIns="25400" tIns="25400" rIns="25400" bIns="25400">
            <a:spAutoFit/>
          </a:bodyPr>
          <a:lstStyle/>
          <a:p>
            <a:pPr algn="l"/>
            <a:r>
              <a:rPr sz="1200" b="1" i="0">
                <a:solidFill>
                  <a:srgbClr val="1E2761"/>
                </a:solidFill>
                <a:latin typeface="Calibri"/>
              </a:rPr>
              <a:t>Flan-T5 verdict</a:t>
            </a:r>
          </a:p>
        </p:txBody>
      </p:sp>
      <p:sp>
        <p:nvSpPr>
          <p:cNvPr id="23" name="TextBox 22"/>
          <p:cNvSpPr txBox="1"/>
          <p:nvPr/>
        </p:nvSpPr>
        <p:spPr>
          <a:xfrm>
            <a:off x="6629400" y="4526280"/>
            <a:ext cx="5029200" cy="365760"/>
          </a:xfrm>
          <a:prstGeom prst="rect">
            <a:avLst/>
          </a:prstGeom>
          <a:noFill/>
        </p:spPr>
        <p:txBody>
          <a:bodyPr wrap="square" lIns="25400" tIns="25400" rIns="25400" bIns="25400">
            <a:spAutoFit/>
          </a:bodyPr>
          <a:lstStyle/>
          <a:p>
            <a:pPr algn="l"/>
            <a:r>
              <a:rPr sz="1400" b="1" i="0">
                <a:solidFill>
                  <a:srgbClr val="B71C1C"/>
                </a:solidFill>
                <a:latin typeface="Calibri"/>
              </a:rPr>
              <a:t>FALSE_POSITIVE  (conf 0.80)</a:t>
            </a:r>
          </a:p>
        </p:txBody>
      </p:sp>
      <p:sp>
        <p:nvSpPr>
          <p:cNvPr id="24" name="TextBox 23"/>
          <p:cNvSpPr txBox="1"/>
          <p:nvPr/>
        </p:nvSpPr>
        <p:spPr>
          <a:xfrm>
            <a:off x="6629400" y="5029200"/>
            <a:ext cx="5029200" cy="365760"/>
          </a:xfrm>
          <a:prstGeom prst="rect">
            <a:avLst/>
          </a:prstGeom>
          <a:noFill/>
        </p:spPr>
        <p:txBody>
          <a:bodyPr wrap="square" lIns="25400" tIns="25400" rIns="25400" bIns="25400">
            <a:spAutoFit/>
          </a:bodyPr>
          <a:lstStyle/>
          <a:p>
            <a:pPr algn="l"/>
            <a:r>
              <a:rPr sz="1100" b="0" i="1">
                <a:solidFill>
                  <a:srgbClr val="4A4A4A"/>
                </a:solidFill>
                <a:latin typeface="Calibri"/>
              </a:rPr>
              <a:t>Wrong. Static layer correct, LLM fails.</a:t>
            </a:r>
          </a:p>
        </p:txBody>
      </p:sp>
      <p:sp>
        <p:nvSpPr>
          <p:cNvPr id="25" name="TextBox 24"/>
          <p:cNvSpPr txBox="1"/>
          <p:nvPr/>
        </p:nvSpPr>
        <p:spPr>
          <a:xfrm>
            <a:off x="548640" y="5852160"/>
            <a:ext cx="10972800" cy="365760"/>
          </a:xfrm>
          <a:prstGeom prst="rect">
            <a:avLst/>
          </a:prstGeom>
          <a:noFill/>
        </p:spPr>
        <p:txBody>
          <a:bodyPr wrap="square" lIns="25400" tIns="25400" rIns="25400" bIns="25400">
            <a:spAutoFit/>
          </a:bodyPr>
          <a:lstStyle/>
          <a:p>
            <a:pPr algn="l"/>
            <a:r>
              <a:rPr sz="1200" b="0" i="1">
                <a:solidFill>
                  <a:srgbClr val="B85042"/>
                </a:solidFill>
                <a:latin typeface="Calibri"/>
              </a:rPr>
              <a:t>The static call graph nails both apps. Flan-T5-large sits below the capability threshold for taint reasoning.</a:t>
            </a:r>
          </a:p>
        </p:txBody>
      </p:sp>
      <p:sp>
        <p:nvSpPr>
          <p:cNvPr id="26" name="TextBox 25"/>
          <p:cNvSpPr txBox="1"/>
          <p:nvPr/>
        </p:nvSpPr>
        <p:spPr>
          <a:xfrm>
            <a:off x="365760" y="6492240"/>
            <a:ext cx="11460175" cy="274320"/>
          </a:xfrm>
          <a:prstGeom prst="rect">
            <a:avLst/>
          </a:prstGeom>
          <a:noFill/>
        </p:spPr>
        <p:txBody>
          <a:bodyPr wrap="none">
            <a:spAutoFit/>
          </a:bodyPr>
          <a:lstStyle/>
          <a:p>
            <a:pPr algn="l"/>
            <a:r>
              <a:rPr sz="900">
                <a:solidFill>
                  <a:srgbClr val="4A4A4A"/>
                </a:solidFill>
                <a:latin typeface="Calibri"/>
              </a:rPr>
              <a:t>Ankit Kumar Honey  |  CSCI E-222  |  Spring 2026</a:t>
            </a:r>
          </a:p>
        </p:txBody>
      </p:sp>
      <p:sp>
        <p:nvSpPr>
          <p:cNvPr id="27" name="TextBox 26"/>
          <p:cNvSpPr txBox="1"/>
          <p:nvPr/>
        </p:nvSpPr>
        <p:spPr>
          <a:xfrm>
            <a:off x="11554845" y="6492240"/>
            <a:ext cx="453970" cy="230832"/>
          </a:xfrm>
          <a:prstGeom prst="rect">
            <a:avLst/>
          </a:prstGeom>
          <a:noFill/>
        </p:spPr>
        <p:txBody>
          <a:bodyPr wrap="none">
            <a:spAutoFit/>
          </a:bodyPr>
          <a:lstStyle/>
          <a:p>
            <a:pPr algn="r"/>
            <a:r>
              <a:rPr lang="en-US" sz="900" dirty="0">
                <a:solidFill>
                  <a:srgbClr val="4A4A4A"/>
                </a:solidFill>
                <a:latin typeface="Calibri"/>
              </a:rPr>
              <a:t>9</a:t>
            </a:r>
            <a:r>
              <a:rPr sz="900" dirty="0">
                <a:solidFill>
                  <a:srgbClr val="4A4A4A"/>
                </a:solidFill>
                <a:latin typeface="Calibri"/>
              </a:rPr>
              <a:t> / 1</a:t>
            </a:r>
            <a:r>
              <a:rPr lang="en-US" sz="900" dirty="0">
                <a:solidFill>
                  <a:srgbClr val="4A4A4A"/>
                </a:solidFill>
                <a:latin typeface="Calibri"/>
              </a:rPr>
              <a:t>7</a:t>
            </a:r>
            <a:endParaRPr sz="900" dirty="0">
              <a:solidFill>
                <a:srgbClr val="4A4A4A"/>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11480"/>
            <a:ext cx="6335452" cy="584775"/>
          </a:xfrm>
          <a:prstGeom prst="rect">
            <a:avLst/>
          </a:prstGeom>
          <a:noFill/>
        </p:spPr>
        <p:txBody>
          <a:bodyPr wrap="none">
            <a:spAutoFit/>
          </a:bodyPr>
          <a:lstStyle/>
          <a:p>
            <a:pPr algn="l"/>
            <a:r>
              <a:rPr sz="3200" b="1" dirty="0">
                <a:solidFill>
                  <a:srgbClr val="0070C0"/>
                </a:solidFill>
                <a:latin typeface="Garamond" panose="02020404030301010803" pitchFamily="18" charset="0"/>
                <a:ea typeface="+mj-ea"/>
                <a:cs typeface="+mj-cs"/>
              </a:rPr>
              <a:t>Stage</a:t>
            </a:r>
            <a:r>
              <a:rPr sz="3000" b="1" dirty="0">
                <a:solidFill>
                  <a:srgbClr val="1E2761"/>
                </a:solidFill>
                <a:latin typeface="Calibri"/>
              </a:rPr>
              <a:t> </a:t>
            </a:r>
            <a:r>
              <a:rPr sz="3200" b="1" dirty="0">
                <a:solidFill>
                  <a:srgbClr val="0070C0"/>
                </a:solidFill>
                <a:latin typeface="Garamond" panose="02020404030301010803" pitchFamily="18" charset="0"/>
                <a:ea typeface="+mj-ea"/>
                <a:cs typeface="+mj-cs"/>
              </a:rPr>
              <a:t>4: </a:t>
            </a:r>
            <a:r>
              <a:rPr lang="en-US" sz="3200" b="1" dirty="0">
                <a:solidFill>
                  <a:srgbClr val="0070C0"/>
                </a:solidFill>
                <a:latin typeface="Garamond" panose="02020404030301010803" pitchFamily="18" charset="0"/>
                <a:ea typeface="+mj-ea"/>
                <a:cs typeface="+mj-cs"/>
              </a:rPr>
              <a:t>F</a:t>
            </a:r>
            <a:r>
              <a:rPr sz="3200" b="1" dirty="0">
                <a:solidFill>
                  <a:srgbClr val="0070C0"/>
                </a:solidFill>
                <a:latin typeface="Garamond" panose="02020404030301010803" pitchFamily="18" charset="0"/>
                <a:ea typeface="+mj-ea"/>
                <a:cs typeface="+mj-cs"/>
              </a:rPr>
              <a:t>use </a:t>
            </a:r>
            <a:r>
              <a:rPr lang="en-US" sz="3200" b="1" dirty="0">
                <a:solidFill>
                  <a:srgbClr val="0070C0"/>
                </a:solidFill>
                <a:latin typeface="Garamond" panose="02020404030301010803" pitchFamily="18" charset="0"/>
                <a:ea typeface="+mj-ea"/>
                <a:cs typeface="+mj-cs"/>
              </a:rPr>
              <a:t>E</a:t>
            </a:r>
            <a:r>
              <a:rPr sz="3200" b="1" dirty="0">
                <a:solidFill>
                  <a:srgbClr val="0070C0"/>
                </a:solidFill>
                <a:latin typeface="Garamond" panose="02020404030301010803" pitchFamily="18" charset="0"/>
                <a:ea typeface="+mj-ea"/>
                <a:cs typeface="+mj-cs"/>
              </a:rPr>
              <a:t>verything into 775-d</a:t>
            </a:r>
          </a:p>
        </p:txBody>
      </p:sp>
      <p:sp>
        <p:nvSpPr>
          <p:cNvPr id="4" name="TextBox 3"/>
          <p:cNvSpPr txBox="1"/>
          <p:nvPr/>
        </p:nvSpPr>
        <p:spPr>
          <a:xfrm>
            <a:off x="457200" y="960120"/>
            <a:ext cx="11247120" cy="365760"/>
          </a:xfrm>
          <a:prstGeom prst="rect">
            <a:avLst/>
          </a:prstGeom>
          <a:noFill/>
        </p:spPr>
        <p:txBody>
          <a:bodyPr wrap="none">
            <a:spAutoFit/>
          </a:bodyPr>
          <a:lstStyle/>
          <a:p>
            <a:pPr algn="l"/>
            <a:r>
              <a:rPr sz="1400" i="1">
                <a:solidFill>
                  <a:srgbClr val="B85042"/>
                </a:solidFill>
                <a:latin typeface="Calibri"/>
              </a:rPr>
              <a:t>768 RoBERTa [CLS], 5 structured features, 2 reachability signals.</a:t>
            </a:r>
          </a:p>
        </p:txBody>
      </p:sp>
      <p:sp>
        <p:nvSpPr>
          <p:cNvPr id="5" name="Rounded Rectangle 4"/>
          <p:cNvSpPr/>
          <p:nvPr/>
        </p:nvSpPr>
        <p:spPr>
          <a:xfrm>
            <a:off x="640080" y="1828800"/>
            <a:ext cx="3108960" cy="1828800"/>
          </a:xfrm>
          <a:prstGeom prst="round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1965960"/>
            <a:ext cx="2834640" cy="365760"/>
          </a:xfrm>
          <a:prstGeom prst="rect">
            <a:avLst/>
          </a:prstGeom>
          <a:noFill/>
        </p:spPr>
        <p:txBody>
          <a:bodyPr wrap="square" lIns="25400" tIns="25400" rIns="25400" bIns="25400">
            <a:spAutoFit/>
          </a:bodyPr>
          <a:lstStyle/>
          <a:p>
            <a:pPr algn="ctr"/>
            <a:r>
              <a:rPr sz="1500" b="1" i="0">
                <a:solidFill>
                  <a:srgbClr val="1E2761"/>
                </a:solidFill>
                <a:latin typeface="Calibri"/>
              </a:rPr>
              <a:t>RoBERTa [CLS]</a:t>
            </a:r>
          </a:p>
        </p:txBody>
      </p:sp>
      <p:sp>
        <p:nvSpPr>
          <p:cNvPr id="7" name="TextBox 6"/>
          <p:cNvSpPr txBox="1"/>
          <p:nvPr/>
        </p:nvSpPr>
        <p:spPr>
          <a:xfrm>
            <a:off x="777240" y="2331720"/>
            <a:ext cx="2834640" cy="365760"/>
          </a:xfrm>
          <a:prstGeom prst="rect">
            <a:avLst/>
          </a:prstGeom>
          <a:noFill/>
        </p:spPr>
        <p:txBody>
          <a:bodyPr wrap="square" lIns="25400" tIns="25400" rIns="25400" bIns="25400">
            <a:spAutoFit/>
          </a:bodyPr>
          <a:lstStyle/>
          <a:p>
            <a:pPr algn="ctr"/>
            <a:r>
              <a:rPr sz="3000" b="1" i="0">
                <a:solidFill>
                  <a:srgbClr val="1E2761"/>
                </a:solidFill>
                <a:latin typeface="Calibri"/>
              </a:rPr>
              <a:t>768</a:t>
            </a:r>
          </a:p>
        </p:txBody>
      </p:sp>
      <p:sp>
        <p:nvSpPr>
          <p:cNvPr id="8" name="TextBox 7"/>
          <p:cNvSpPr txBox="1"/>
          <p:nvPr/>
        </p:nvSpPr>
        <p:spPr>
          <a:xfrm>
            <a:off x="777240" y="2971800"/>
            <a:ext cx="2834640" cy="365760"/>
          </a:xfrm>
          <a:prstGeom prst="rect">
            <a:avLst/>
          </a:prstGeom>
          <a:noFill/>
        </p:spPr>
        <p:txBody>
          <a:bodyPr wrap="square" lIns="25400" tIns="25400" rIns="25400" bIns="25400">
            <a:spAutoFit/>
          </a:bodyPr>
          <a:lstStyle/>
          <a:p>
            <a:pPr algn="ctr"/>
            <a:r>
              <a:rPr sz="1100" b="0" i="1">
                <a:solidFill>
                  <a:srgbClr val="4A4A4A"/>
                </a:solidFill>
                <a:latin typeface="Calibri"/>
              </a:rPr>
              <a:t>Stage-2 embeddings</a:t>
            </a:r>
          </a:p>
        </p:txBody>
      </p:sp>
      <p:sp>
        <p:nvSpPr>
          <p:cNvPr id="9" name="Rounded Rectangle 8"/>
          <p:cNvSpPr/>
          <p:nvPr/>
        </p:nvSpPr>
        <p:spPr>
          <a:xfrm>
            <a:off x="4114800" y="1828800"/>
            <a:ext cx="3108960" cy="1828800"/>
          </a:xfrm>
          <a:prstGeom prst="round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51960" y="1965960"/>
            <a:ext cx="2834640" cy="365760"/>
          </a:xfrm>
          <a:prstGeom prst="rect">
            <a:avLst/>
          </a:prstGeom>
          <a:noFill/>
        </p:spPr>
        <p:txBody>
          <a:bodyPr wrap="square" lIns="25400" tIns="25400" rIns="25400" bIns="25400">
            <a:spAutoFit/>
          </a:bodyPr>
          <a:lstStyle/>
          <a:p>
            <a:pPr algn="ctr"/>
            <a:r>
              <a:rPr sz="1500" b="1" i="0">
                <a:solidFill>
                  <a:srgbClr val="1E2761"/>
                </a:solidFill>
                <a:latin typeface="Calibri"/>
              </a:rPr>
              <a:t>Structured</a:t>
            </a:r>
          </a:p>
        </p:txBody>
      </p:sp>
      <p:sp>
        <p:nvSpPr>
          <p:cNvPr id="11" name="TextBox 10"/>
          <p:cNvSpPr txBox="1"/>
          <p:nvPr/>
        </p:nvSpPr>
        <p:spPr>
          <a:xfrm>
            <a:off x="4251960" y="2331720"/>
            <a:ext cx="2834640" cy="365760"/>
          </a:xfrm>
          <a:prstGeom prst="rect">
            <a:avLst/>
          </a:prstGeom>
          <a:noFill/>
        </p:spPr>
        <p:txBody>
          <a:bodyPr wrap="square" lIns="25400" tIns="25400" rIns="25400" bIns="25400">
            <a:spAutoFit/>
          </a:bodyPr>
          <a:lstStyle/>
          <a:p>
            <a:pPr algn="ctr"/>
            <a:r>
              <a:rPr sz="3000" b="1" i="0">
                <a:solidFill>
                  <a:srgbClr val="1E2761"/>
                </a:solidFill>
                <a:latin typeface="Calibri"/>
              </a:rPr>
              <a:t>5</a:t>
            </a:r>
          </a:p>
        </p:txBody>
      </p:sp>
      <p:sp>
        <p:nvSpPr>
          <p:cNvPr id="12" name="TextBox 11"/>
          <p:cNvSpPr txBox="1"/>
          <p:nvPr/>
        </p:nvSpPr>
        <p:spPr>
          <a:xfrm>
            <a:off x="4251960" y="2971800"/>
            <a:ext cx="2834640" cy="365760"/>
          </a:xfrm>
          <a:prstGeom prst="rect">
            <a:avLst/>
          </a:prstGeom>
          <a:noFill/>
        </p:spPr>
        <p:txBody>
          <a:bodyPr wrap="square" lIns="25400" tIns="25400" rIns="25400" bIns="25400">
            <a:spAutoFit/>
          </a:bodyPr>
          <a:lstStyle/>
          <a:p>
            <a:pPr algn="ctr"/>
            <a:r>
              <a:rPr sz="1000" b="0" i="1">
                <a:solidFill>
                  <a:srgbClr val="4A4A4A"/>
                </a:solidFill>
                <a:latin typeface="Calibri"/>
              </a:rPr>
              <a:t>CVSS, EPSS, age, fix, ecosystem</a:t>
            </a:r>
          </a:p>
        </p:txBody>
      </p:sp>
      <p:sp>
        <p:nvSpPr>
          <p:cNvPr id="13" name="Rounded Rectangle 12"/>
          <p:cNvSpPr/>
          <p:nvPr/>
        </p:nvSpPr>
        <p:spPr>
          <a:xfrm>
            <a:off x="7589520" y="1828800"/>
            <a:ext cx="3108960" cy="1828800"/>
          </a:xfrm>
          <a:prstGeom prst="roundRect">
            <a:avLst/>
          </a:prstGeom>
          <a:solidFill>
            <a:srgbClr val="FDE7E7"/>
          </a:solidFill>
          <a:ln w="9525">
            <a:solidFill>
              <a:srgbClr val="B850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26679" y="1965960"/>
            <a:ext cx="2834640" cy="365760"/>
          </a:xfrm>
          <a:prstGeom prst="rect">
            <a:avLst/>
          </a:prstGeom>
          <a:noFill/>
        </p:spPr>
        <p:txBody>
          <a:bodyPr wrap="square" lIns="25400" tIns="25400" rIns="25400" bIns="25400">
            <a:spAutoFit/>
          </a:bodyPr>
          <a:lstStyle/>
          <a:p>
            <a:pPr algn="ctr"/>
            <a:r>
              <a:rPr sz="1500" b="1" i="0">
                <a:solidFill>
                  <a:srgbClr val="B85042"/>
                </a:solidFill>
                <a:latin typeface="Calibri"/>
              </a:rPr>
              <a:t>Reachability</a:t>
            </a:r>
          </a:p>
        </p:txBody>
      </p:sp>
      <p:sp>
        <p:nvSpPr>
          <p:cNvPr id="15" name="TextBox 14"/>
          <p:cNvSpPr txBox="1"/>
          <p:nvPr/>
        </p:nvSpPr>
        <p:spPr>
          <a:xfrm>
            <a:off x="7726679" y="2331720"/>
            <a:ext cx="2834640" cy="365760"/>
          </a:xfrm>
          <a:prstGeom prst="rect">
            <a:avLst/>
          </a:prstGeom>
          <a:noFill/>
        </p:spPr>
        <p:txBody>
          <a:bodyPr wrap="square" lIns="25400" tIns="25400" rIns="25400" bIns="25400">
            <a:spAutoFit/>
          </a:bodyPr>
          <a:lstStyle/>
          <a:p>
            <a:pPr algn="ctr"/>
            <a:r>
              <a:rPr sz="3000" b="1" i="0">
                <a:solidFill>
                  <a:srgbClr val="B85042"/>
                </a:solidFill>
                <a:latin typeface="Calibri"/>
              </a:rPr>
              <a:t>2</a:t>
            </a:r>
          </a:p>
        </p:txBody>
      </p:sp>
      <p:sp>
        <p:nvSpPr>
          <p:cNvPr id="16" name="TextBox 15"/>
          <p:cNvSpPr txBox="1"/>
          <p:nvPr/>
        </p:nvSpPr>
        <p:spPr>
          <a:xfrm>
            <a:off x="7726679" y="2971800"/>
            <a:ext cx="2834640" cy="365760"/>
          </a:xfrm>
          <a:prstGeom prst="rect">
            <a:avLst/>
          </a:prstGeom>
          <a:noFill/>
        </p:spPr>
        <p:txBody>
          <a:bodyPr wrap="square" lIns="25400" tIns="25400" rIns="25400" bIns="25400">
            <a:spAutoFit/>
          </a:bodyPr>
          <a:lstStyle/>
          <a:p>
            <a:pPr algn="ctr"/>
            <a:r>
              <a:rPr sz="1100" b="0" i="1">
                <a:solidFill>
                  <a:srgbClr val="4A4A4A"/>
                </a:solidFill>
                <a:latin typeface="Calibri"/>
              </a:rPr>
              <a:t>static + LLM reachable</a:t>
            </a:r>
          </a:p>
        </p:txBody>
      </p:sp>
      <p:sp>
        <p:nvSpPr>
          <p:cNvPr id="17" name="Down Arrow 16"/>
          <p:cNvSpPr/>
          <p:nvPr/>
        </p:nvSpPr>
        <p:spPr>
          <a:xfrm>
            <a:off x="2057400" y="3749039"/>
            <a:ext cx="274320" cy="457200"/>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own Arrow 17"/>
          <p:cNvSpPr/>
          <p:nvPr/>
        </p:nvSpPr>
        <p:spPr>
          <a:xfrm>
            <a:off x="5532120" y="3749039"/>
            <a:ext cx="274320" cy="457200"/>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Down Arrow 18"/>
          <p:cNvSpPr/>
          <p:nvPr/>
        </p:nvSpPr>
        <p:spPr>
          <a:xfrm>
            <a:off x="9006840" y="3749039"/>
            <a:ext cx="274320" cy="457200"/>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2286000" y="4343400"/>
            <a:ext cx="6766560" cy="1097280"/>
          </a:xfrm>
          <a:prstGeom prst="round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286000" y="4480560"/>
            <a:ext cx="6766560" cy="457200"/>
          </a:xfrm>
          <a:prstGeom prst="rect">
            <a:avLst/>
          </a:prstGeom>
          <a:noFill/>
        </p:spPr>
        <p:txBody>
          <a:bodyPr wrap="square" lIns="25400" tIns="25400" rIns="25400" bIns="25400">
            <a:spAutoFit/>
          </a:bodyPr>
          <a:lstStyle/>
          <a:p>
            <a:pPr algn="ctr"/>
            <a:r>
              <a:rPr sz="2200" b="1" i="0">
                <a:solidFill>
                  <a:srgbClr val="FFFFFF"/>
                </a:solidFill>
                <a:latin typeface="Calibri"/>
              </a:rPr>
              <a:t>Class-balanced Logistic Regression</a:t>
            </a:r>
          </a:p>
        </p:txBody>
      </p:sp>
      <p:sp>
        <p:nvSpPr>
          <p:cNvPr id="22" name="TextBox 21"/>
          <p:cNvSpPr txBox="1"/>
          <p:nvPr/>
        </p:nvSpPr>
        <p:spPr>
          <a:xfrm>
            <a:off x="2286000" y="4937760"/>
            <a:ext cx="6766560" cy="365760"/>
          </a:xfrm>
          <a:prstGeom prst="rect">
            <a:avLst/>
          </a:prstGeom>
          <a:noFill/>
        </p:spPr>
        <p:txBody>
          <a:bodyPr wrap="square" lIns="25400" tIns="25400" rIns="25400" bIns="25400">
            <a:spAutoFit/>
          </a:bodyPr>
          <a:lstStyle/>
          <a:p>
            <a:pPr algn="ctr"/>
            <a:r>
              <a:rPr sz="1200" b="0" i="1">
                <a:solidFill>
                  <a:srgbClr val="CADCFC"/>
                </a:solidFill>
                <a:latin typeface="Calibri"/>
              </a:rPr>
              <a:t>775 features into P(TRUE_POSITIVE)</a:t>
            </a:r>
          </a:p>
        </p:txBody>
      </p:sp>
      <p:sp>
        <p:nvSpPr>
          <p:cNvPr id="23" name="TextBox 22"/>
          <p:cNvSpPr txBox="1"/>
          <p:nvPr/>
        </p:nvSpPr>
        <p:spPr>
          <a:xfrm>
            <a:off x="548640" y="5715000"/>
            <a:ext cx="10972800" cy="457200"/>
          </a:xfrm>
          <a:prstGeom prst="rect">
            <a:avLst/>
          </a:prstGeom>
          <a:noFill/>
        </p:spPr>
        <p:txBody>
          <a:bodyPr wrap="square" lIns="25400" tIns="25400" rIns="25400" bIns="25400">
            <a:spAutoFit/>
          </a:bodyPr>
          <a:lstStyle/>
          <a:p>
            <a:pPr algn="l"/>
            <a:r>
              <a:rPr sz="1200" b="0" i="1">
                <a:solidFill>
                  <a:srgbClr val="B85042"/>
                </a:solidFill>
                <a:latin typeface="Calibri"/>
              </a:rPr>
              <a:t>Reachability features for the 10K training set are synthesised from labels with 15% noise (cell 6). Limitations slide covers what that implies.</a:t>
            </a:r>
          </a:p>
        </p:txBody>
      </p:sp>
      <p:sp>
        <p:nvSpPr>
          <p:cNvPr id="24" name="TextBox 23"/>
          <p:cNvSpPr txBox="1"/>
          <p:nvPr/>
        </p:nvSpPr>
        <p:spPr>
          <a:xfrm>
            <a:off x="365760" y="6492240"/>
            <a:ext cx="11460175" cy="274320"/>
          </a:xfrm>
          <a:prstGeom prst="rect">
            <a:avLst/>
          </a:prstGeom>
          <a:noFill/>
        </p:spPr>
        <p:txBody>
          <a:bodyPr wrap="none">
            <a:spAutoFit/>
          </a:bodyPr>
          <a:lstStyle/>
          <a:p>
            <a:pPr algn="l"/>
            <a:r>
              <a:rPr sz="900">
                <a:solidFill>
                  <a:srgbClr val="4A4A4A"/>
                </a:solidFill>
                <a:latin typeface="Calibri"/>
              </a:rPr>
              <a:t>Ankit Kumar Honey  |  CSCI E-222  |  Spring 2026</a:t>
            </a:r>
          </a:p>
        </p:txBody>
      </p:sp>
      <p:sp>
        <p:nvSpPr>
          <p:cNvPr id="25" name="TextBox 24"/>
          <p:cNvSpPr txBox="1"/>
          <p:nvPr/>
        </p:nvSpPr>
        <p:spPr>
          <a:xfrm>
            <a:off x="11497136" y="6492240"/>
            <a:ext cx="511679" cy="230832"/>
          </a:xfrm>
          <a:prstGeom prst="rect">
            <a:avLst/>
          </a:prstGeom>
          <a:noFill/>
        </p:spPr>
        <p:txBody>
          <a:bodyPr wrap="none">
            <a:spAutoFit/>
          </a:bodyPr>
          <a:lstStyle/>
          <a:p>
            <a:pPr algn="r"/>
            <a:r>
              <a:rPr lang="en-US" sz="900" dirty="0">
                <a:solidFill>
                  <a:srgbClr val="4A4A4A"/>
                </a:solidFill>
                <a:latin typeface="Calibri"/>
              </a:rPr>
              <a:t>10</a:t>
            </a:r>
            <a:r>
              <a:rPr sz="900" dirty="0">
                <a:solidFill>
                  <a:srgbClr val="4A4A4A"/>
                </a:solidFill>
                <a:latin typeface="Calibri"/>
              </a:rPr>
              <a:t> / 1</a:t>
            </a:r>
            <a:r>
              <a:rPr lang="en-US" sz="900" dirty="0">
                <a:solidFill>
                  <a:srgbClr val="4A4A4A"/>
                </a:solidFill>
                <a:latin typeface="Calibri"/>
              </a:rPr>
              <a:t>7</a:t>
            </a:r>
            <a:endParaRPr sz="900" dirty="0">
              <a:solidFill>
                <a:srgbClr val="4A4A4A"/>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11480"/>
            <a:ext cx="6312947" cy="584775"/>
          </a:xfrm>
          <a:prstGeom prst="rect">
            <a:avLst/>
          </a:prstGeom>
          <a:noFill/>
        </p:spPr>
        <p:txBody>
          <a:bodyPr wrap="none">
            <a:spAutoFit/>
          </a:bodyPr>
          <a:lstStyle/>
          <a:p>
            <a:pPr algn="l"/>
            <a:r>
              <a:rPr sz="3200" b="1" dirty="0">
                <a:solidFill>
                  <a:srgbClr val="0070C0"/>
                </a:solidFill>
                <a:latin typeface="Garamond" panose="02020404030301010803" pitchFamily="18" charset="0"/>
                <a:ea typeface="+mj-ea"/>
                <a:cs typeface="+mj-cs"/>
              </a:rPr>
              <a:t>Results: 1,781-alert held-out test set</a:t>
            </a:r>
          </a:p>
        </p:txBody>
      </p:sp>
      <p:sp>
        <p:nvSpPr>
          <p:cNvPr id="4" name="TextBox 3"/>
          <p:cNvSpPr txBox="1"/>
          <p:nvPr/>
        </p:nvSpPr>
        <p:spPr>
          <a:xfrm>
            <a:off x="457200" y="960120"/>
            <a:ext cx="11247120" cy="365760"/>
          </a:xfrm>
          <a:prstGeom prst="rect">
            <a:avLst/>
          </a:prstGeom>
          <a:noFill/>
        </p:spPr>
        <p:txBody>
          <a:bodyPr wrap="none">
            <a:spAutoFit/>
          </a:bodyPr>
          <a:lstStyle/>
          <a:p>
            <a:pPr algn="l"/>
            <a:r>
              <a:rPr sz="1400" i="1">
                <a:solidFill>
                  <a:srgbClr val="B85042"/>
                </a:solidFill>
                <a:latin typeface="Calibri"/>
              </a:rPr>
              <a:t>Marginal F1 contribution at each stage.</a:t>
            </a:r>
          </a:p>
        </p:txBody>
      </p:sp>
      <p:graphicFrame>
        <p:nvGraphicFramePr>
          <p:cNvPr id="5" name="Table 4"/>
          <p:cNvGraphicFramePr>
            <a:graphicFrameLocks noGrp="1"/>
          </p:cNvGraphicFramePr>
          <p:nvPr/>
        </p:nvGraphicFramePr>
        <p:xfrm>
          <a:off x="548640" y="1554480"/>
          <a:ext cx="11338560" cy="3200400"/>
        </p:xfrm>
        <a:graphic>
          <a:graphicData uri="http://schemas.openxmlformats.org/drawingml/2006/table">
            <a:tbl>
              <a:tblPr firstRow="1" bandRow="1">
                <a:tableStyleId>{5C22544A-7EE6-4342-B048-85BDC9FD1C3A}</a:tableStyleId>
              </a:tblPr>
              <a:tblGrid>
                <a:gridCol w="2267712">
                  <a:extLst>
                    <a:ext uri="{9D8B030D-6E8A-4147-A177-3AD203B41FA5}">
                      <a16:colId xmlns:a16="http://schemas.microsoft.com/office/drawing/2014/main" val="20000"/>
                    </a:ext>
                  </a:extLst>
                </a:gridCol>
                <a:gridCol w="2267712">
                  <a:extLst>
                    <a:ext uri="{9D8B030D-6E8A-4147-A177-3AD203B41FA5}">
                      <a16:colId xmlns:a16="http://schemas.microsoft.com/office/drawing/2014/main" val="20001"/>
                    </a:ext>
                  </a:extLst>
                </a:gridCol>
                <a:gridCol w="2267712">
                  <a:extLst>
                    <a:ext uri="{9D8B030D-6E8A-4147-A177-3AD203B41FA5}">
                      <a16:colId xmlns:a16="http://schemas.microsoft.com/office/drawing/2014/main" val="20002"/>
                    </a:ext>
                  </a:extLst>
                </a:gridCol>
                <a:gridCol w="2267712">
                  <a:extLst>
                    <a:ext uri="{9D8B030D-6E8A-4147-A177-3AD203B41FA5}">
                      <a16:colId xmlns:a16="http://schemas.microsoft.com/office/drawing/2014/main" val="20003"/>
                    </a:ext>
                  </a:extLst>
                </a:gridCol>
                <a:gridCol w="2267712">
                  <a:extLst>
                    <a:ext uri="{9D8B030D-6E8A-4147-A177-3AD203B41FA5}">
                      <a16:colId xmlns:a16="http://schemas.microsoft.com/office/drawing/2014/main" val="20004"/>
                    </a:ext>
                  </a:extLst>
                </a:gridCol>
              </a:tblGrid>
              <a:tr h="640080">
                <a:tc>
                  <a:txBody>
                    <a:bodyPr/>
                    <a:lstStyle/>
                    <a:p>
                      <a:pPr algn="l"/>
                      <a:r>
                        <a:rPr sz="1300" b="1">
                          <a:solidFill>
                            <a:srgbClr val="FFFFFF"/>
                          </a:solidFill>
                          <a:latin typeface="Calibri"/>
                        </a:rPr>
                        <a:t>Model</a:t>
                      </a:r>
                    </a:p>
                  </a:txBody>
                  <a:tcPr marL="101600" marR="101600" marT="50800" marB="50800">
                    <a:solidFill>
                      <a:srgbClr val="1E2761"/>
                    </a:solidFill>
                  </a:tcPr>
                </a:tc>
                <a:tc>
                  <a:txBody>
                    <a:bodyPr/>
                    <a:lstStyle/>
                    <a:p>
                      <a:pPr algn="ctr"/>
                      <a:r>
                        <a:rPr sz="1300" b="1">
                          <a:solidFill>
                            <a:srgbClr val="FFFFFF"/>
                          </a:solidFill>
                          <a:latin typeface="Calibri"/>
                        </a:rPr>
                        <a:t>F1</a:t>
                      </a:r>
                    </a:p>
                  </a:txBody>
                  <a:tcPr marL="101600" marR="101600" marT="50800" marB="50800">
                    <a:solidFill>
                      <a:srgbClr val="1E2761"/>
                    </a:solidFill>
                  </a:tcPr>
                </a:tc>
                <a:tc>
                  <a:txBody>
                    <a:bodyPr/>
                    <a:lstStyle/>
                    <a:p>
                      <a:pPr algn="ctr"/>
                      <a:r>
                        <a:rPr sz="1300" b="1">
                          <a:solidFill>
                            <a:srgbClr val="FFFFFF"/>
                          </a:solidFill>
                          <a:latin typeface="Calibri"/>
                        </a:rPr>
                        <a:t>Precision</a:t>
                      </a:r>
                    </a:p>
                  </a:txBody>
                  <a:tcPr marL="101600" marR="101600" marT="50800" marB="50800">
                    <a:solidFill>
                      <a:srgbClr val="1E2761"/>
                    </a:solidFill>
                  </a:tcPr>
                </a:tc>
                <a:tc>
                  <a:txBody>
                    <a:bodyPr/>
                    <a:lstStyle/>
                    <a:p>
                      <a:pPr algn="ctr"/>
                      <a:r>
                        <a:rPr sz="1300" b="1">
                          <a:solidFill>
                            <a:srgbClr val="FFFFFF"/>
                          </a:solidFill>
                          <a:latin typeface="Calibri"/>
                        </a:rPr>
                        <a:t>Recall</a:t>
                      </a:r>
                    </a:p>
                  </a:txBody>
                  <a:tcPr marL="101600" marR="101600" marT="50800" marB="50800">
                    <a:solidFill>
                      <a:srgbClr val="1E2761"/>
                    </a:solidFill>
                  </a:tcPr>
                </a:tc>
                <a:tc>
                  <a:txBody>
                    <a:bodyPr/>
                    <a:lstStyle/>
                    <a:p>
                      <a:pPr algn="ctr"/>
                      <a:r>
                        <a:rPr sz="1300" b="1">
                          <a:solidFill>
                            <a:srgbClr val="FFFFFF"/>
                          </a:solidFill>
                          <a:latin typeface="Calibri"/>
                        </a:rPr>
                        <a:t>ROC-AUC</a:t>
                      </a:r>
                    </a:p>
                  </a:txBody>
                  <a:tcPr marL="101600" marR="101600" marT="50800" marB="50800">
                    <a:solidFill>
                      <a:srgbClr val="1E2761"/>
                    </a:solidFill>
                  </a:tcPr>
                </a:tc>
                <a:extLst>
                  <a:ext uri="{0D108BD9-81ED-4DB2-BD59-A6C34878D82A}">
                    <a16:rowId xmlns:a16="http://schemas.microsoft.com/office/drawing/2014/main" val="10000"/>
                  </a:ext>
                </a:extLst>
              </a:tr>
              <a:tr h="640080">
                <a:tc>
                  <a:txBody>
                    <a:bodyPr/>
                    <a:lstStyle/>
                    <a:p>
                      <a:pPr algn="l"/>
                      <a:r>
                        <a:rPr sz="1300">
                          <a:solidFill>
                            <a:srgbClr val="4A4A4A"/>
                          </a:solidFill>
                          <a:latin typeface="Calibri"/>
                        </a:rPr>
                        <a:t>EPSS rule (threshold 0.01)</a:t>
                      </a:r>
                    </a:p>
                  </a:txBody>
                  <a:tcPr marL="101600" marR="101600" marT="50800" marB="50800">
                    <a:solidFill>
                      <a:srgbClr val="FFFFFF"/>
                    </a:solidFill>
                  </a:tcPr>
                </a:tc>
                <a:tc>
                  <a:txBody>
                    <a:bodyPr/>
                    <a:lstStyle/>
                    <a:p>
                      <a:pPr algn="ctr"/>
                      <a:r>
                        <a:rPr sz="1300">
                          <a:solidFill>
                            <a:srgbClr val="4A4A4A"/>
                          </a:solidFill>
                          <a:latin typeface="Calibri"/>
                        </a:rPr>
                        <a:t>0.580</a:t>
                      </a:r>
                    </a:p>
                  </a:txBody>
                  <a:tcPr marL="101600" marR="101600" marT="50800" marB="50800">
                    <a:solidFill>
                      <a:srgbClr val="FFFFFF"/>
                    </a:solidFill>
                  </a:tcPr>
                </a:tc>
                <a:tc>
                  <a:txBody>
                    <a:bodyPr/>
                    <a:lstStyle/>
                    <a:p>
                      <a:pPr algn="ctr"/>
                      <a:r>
                        <a:rPr sz="1300">
                          <a:solidFill>
                            <a:srgbClr val="4A4A4A"/>
                          </a:solidFill>
                          <a:latin typeface="Calibri"/>
                        </a:rPr>
                        <a:t>0.617</a:t>
                      </a:r>
                    </a:p>
                  </a:txBody>
                  <a:tcPr marL="101600" marR="101600" marT="50800" marB="50800">
                    <a:solidFill>
                      <a:srgbClr val="FFFFFF"/>
                    </a:solidFill>
                  </a:tcPr>
                </a:tc>
                <a:tc>
                  <a:txBody>
                    <a:bodyPr/>
                    <a:lstStyle/>
                    <a:p>
                      <a:pPr algn="ctr"/>
                      <a:r>
                        <a:rPr sz="1300">
                          <a:solidFill>
                            <a:srgbClr val="4A4A4A"/>
                          </a:solidFill>
                          <a:latin typeface="Calibri"/>
                        </a:rPr>
                        <a:t>0.547</a:t>
                      </a:r>
                    </a:p>
                  </a:txBody>
                  <a:tcPr marL="101600" marR="101600" marT="50800" marB="50800">
                    <a:solidFill>
                      <a:srgbClr val="FFFFFF"/>
                    </a:solidFill>
                  </a:tcPr>
                </a:tc>
                <a:tc>
                  <a:txBody>
                    <a:bodyPr/>
                    <a:lstStyle/>
                    <a:p>
                      <a:pPr algn="ctr"/>
                      <a:r>
                        <a:rPr sz="1300">
                          <a:solidFill>
                            <a:srgbClr val="4A4A4A"/>
                          </a:solidFill>
                          <a:latin typeface="Calibri"/>
                        </a:rPr>
                        <a:t>0.758</a:t>
                      </a:r>
                    </a:p>
                  </a:txBody>
                  <a:tcPr marL="101600" marR="101600" marT="50800" marB="50800">
                    <a:solidFill>
                      <a:srgbClr val="FFFFFF"/>
                    </a:solidFill>
                  </a:tcPr>
                </a:tc>
                <a:extLst>
                  <a:ext uri="{0D108BD9-81ED-4DB2-BD59-A6C34878D82A}">
                    <a16:rowId xmlns:a16="http://schemas.microsoft.com/office/drawing/2014/main" val="10001"/>
                  </a:ext>
                </a:extLst>
              </a:tr>
              <a:tr h="640080">
                <a:tc>
                  <a:txBody>
                    <a:bodyPr/>
                    <a:lstStyle/>
                    <a:p>
                      <a:pPr algn="l"/>
                      <a:r>
                        <a:rPr sz="1300">
                          <a:solidFill>
                            <a:srgbClr val="4A4A4A"/>
                          </a:solidFill>
                          <a:latin typeface="Calibri"/>
                        </a:rPr>
                        <a:t>TF-IDF + Logistic Regression</a:t>
                      </a:r>
                    </a:p>
                  </a:txBody>
                  <a:tcPr marL="101600" marR="101600" marT="50800" marB="50800">
                    <a:solidFill>
                      <a:srgbClr val="EAEAEA"/>
                    </a:solidFill>
                  </a:tcPr>
                </a:tc>
                <a:tc>
                  <a:txBody>
                    <a:bodyPr/>
                    <a:lstStyle/>
                    <a:p>
                      <a:pPr algn="ctr"/>
                      <a:r>
                        <a:rPr sz="1300">
                          <a:solidFill>
                            <a:srgbClr val="4A4A4A"/>
                          </a:solidFill>
                          <a:latin typeface="Calibri"/>
                        </a:rPr>
                        <a:t>0.607</a:t>
                      </a:r>
                    </a:p>
                  </a:txBody>
                  <a:tcPr marL="101600" marR="101600" marT="50800" marB="50800">
                    <a:solidFill>
                      <a:srgbClr val="EAEAEA"/>
                    </a:solidFill>
                  </a:tcPr>
                </a:tc>
                <a:tc>
                  <a:txBody>
                    <a:bodyPr/>
                    <a:lstStyle/>
                    <a:p>
                      <a:pPr algn="ctr"/>
                      <a:r>
                        <a:rPr sz="1300">
                          <a:solidFill>
                            <a:srgbClr val="4A4A4A"/>
                          </a:solidFill>
                          <a:latin typeface="Calibri"/>
                        </a:rPr>
                        <a:t>0.555</a:t>
                      </a:r>
                    </a:p>
                  </a:txBody>
                  <a:tcPr marL="101600" marR="101600" marT="50800" marB="50800">
                    <a:solidFill>
                      <a:srgbClr val="EAEAEA"/>
                    </a:solidFill>
                  </a:tcPr>
                </a:tc>
                <a:tc>
                  <a:txBody>
                    <a:bodyPr/>
                    <a:lstStyle/>
                    <a:p>
                      <a:pPr algn="ctr"/>
                      <a:r>
                        <a:rPr sz="1300">
                          <a:solidFill>
                            <a:srgbClr val="4A4A4A"/>
                          </a:solidFill>
                          <a:latin typeface="Calibri"/>
                        </a:rPr>
                        <a:t>0.670</a:t>
                      </a:r>
                    </a:p>
                  </a:txBody>
                  <a:tcPr marL="101600" marR="101600" marT="50800" marB="50800">
                    <a:solidFill>
                      <a:srgbClr val="EAEAEA"/>
                    </a:solidFill>
                  </a:tcPr>
                </a:tc>
                <a:tc>
                  <a:txBody>
                    <a:bodyPr/>
                    <a:lstStyle/>
                    <a:p>
                      <a:pPr algn="ctr"/>
                      <a:r>
                        <a:rPr sz="1300">
                          <a:solidFill>
                            <a:srgbClr val="4A4A4A"/>
                          </a:solidFill>
                          <a:latin typeface="Calibri"/>
                        </a:rPr>
                        <a:t>0.851</a:t>
                      </a:r>
                    </a:p>
                  </a:txBody>
                  <a:tcPr marL="101600" marR="101600" marT="50800" marB="50800">
                    <a:solidFill>
                      <a:srgbClr val="EAEAEA"/>
                    </a:solidFill>
                  </a:tcPr>
                </a:tc>
                <a:extLst>
                  <a:ext uri="{0D108BD9-81ED-4DB2-BD59-A6C34878D82A}">
                    <a16:rowId xmlns:a16="http://schemas.microsoft.com/office/drawing/2014/main" val="10002"/>
                  </a:ext>
                </a:extLst>
              </a:tr>
              <a:tr h="640080">
                <a:tc>
                  <a:txBody>
                    <a:bodyPr/>
                    <a:lstStyle/>
                    <a:p>
                      <a:pPr algn="l"/>
                      <a:r>
                        <a:rPr sz="1300">
                          <a:solidFill>
                            <a:srgbClr val="4A4A4A"/>
                          </a:solidFill>
                          <a:latin typeface="Calibri"/>
                        </a:rPr>
                        <a:t>RoBERTa fine-tune (3 epochs)</a:t>
                      </a:r>
                    </a:p>
                  </a:txBody>
                  <a:tcPr marL="101600" marR="101600" marT="50800" marB="50800">
                    <a:solidFill>
                      <a:srgbClr val="FFFFFF"/>
                    </a:solidFill>
                  </a:tcPr>
                </a:tc>
                <a:tc>
                  <a:txBody>
                    <a:bodyPr/>
                    <a:lstStyle/>
                    <a:p>
                      <a:pPr algn="ctr"/>
                      <a:r>
                        <a:rPr sz="1300">
                          <a:solidFill>
                            <a:srgbClr val="4A4A4A"/>
                          </a:solidFill>
                          <a:latin typeface="Calibri"/>
                        </a:rPr>
                        <a:t>0.593</a:t>
                      </a:r>
                    </a:p>
                  </a:txBody>
                  <a:tcPr marL="101600" marR="101600" marT="50800" marB="50800">
                    <a:solidFill>
                      <a:srgbClr val="FFFFFF"/>
                    </a:solidFill>
                  </a:tcPr>
                </a:tc>
                <a:tc>
                  <a:txBody>
                    <a:bodyPr/>
                    <a:lstStyle/>
                    <a:p>
                      <a:pPr algn="ctr"/>
                      <a:r>
                        <a:rPr sz="1300">
                          <a:solidFill>
                            <a:srgbClr val="4A4A4A"/>
                          </a:solidFill>
                          <a:latin typeface="Calibri"/>
                        </a:rPr>
                        <a:t>0.578</a:t>
                      </a:r>
                    </a:p>
                  </a:txBody>
                  <a:tcPr marL="101600" marR="101600" marT="50800" marB="50800">
                    <a:solidFill>
                      <a:srgbClr val="FFFFFF"/>
                    </a:solidFill>
                  </a:tcPr>
                </a:tc>
                <a:tc>
                  <a:txBody>
                    <a:bodyPr/>
                    <a:lstStyle/>
                    <a:p>
                      <a:pPr algn="ctr"/>
                      <a:r>
                        <a:rPr sz="1300">
                          <a:solidFill>
                            <a:srgbClr val="4A4A4A"/>
                          </a:solidFill>
                          <a:latin typeface="Calibri"/>
                        </a:rPr>
                        <a:t>0.608</a:t>
                      </a:r>
                    </a:p>
                  </a:txBody>
                  <a:tcPr marL="101600" marR="101600" marT="50800" marB="50800">
                    <a:solidFill>
                      <a:srgbClr val="FFFFFF"/>
                    </a:solidFill>
                  </a:tcPr>
                </a:tc>
                <a:tc>
                  <a:txBody>
                    <a:bodyPr/>
                    <a:lstStyle/>
                    <a:p>
                      <a:pPr algn="ctr"/>
                      <a:r>
                        <a:rPr sz="1300">
                          <a:solidFill>
                            <a:srgbClr val="4A4A4A"/>
                          </a:solidFill>
                          <a:latin typeface="Calibri"/>
                        </a:rPr>
                        <a:t>0.828</a:t>
                      </a:r>
                    </a:p>
                  </a:txBody>
                  <a:tcPr marL="101600" marR="101600" marT="50800" marB="50800">
                    <a:solidFill>
                      <a:srgbClr val="FFFFFF"/>
                    </a:solidFill>
                  </a:tcPr>
                </a:tc>
                <a:extLst>
                  <a:ext uri="{0D108BD9-81ED-4DB2-BD59-A6C34878D82A}">
                    <a16:rowId xmlns:a16="http://schemas.microsoft.com/office/drawing/2014/main" val="10003"/>
                  </a:ext>
                </a:extLst>
              </a:tr>
              <a:tr h="640080">
                <a:tc>
                  <a:txBody>
                    <a:bodyPr/>
                    <a:lstStyle/>
                    <a:p>
                      <a:pPr algn="l"/>
                      <a:r>
                        <a:rPr sz="1300" b="1">
                          <a:solidFill>
                            <a:srgbClr val="1E2761"/>
                          </a:solidFill>
                          <a:latin typeface="Calibri"/>
                        </a:rPr>
                        <a:t>Full pipeline (775-d fusion)</a:t>
                      </a:r>
                    </a:p>
                  </a:txBody>
                  <a:tcPr marL="101600" marR="101600" marT="50800" marB="50800">
                    <a:solidFill>
                      <a:srgbClr val="CADCFC"/>
                    </a:solidFill>
                  </a:tcPr>
                </a:tc>
                <a:tc>
                  <a:txBody>
                    <a:bodyPr/>
                    <a:lstStyle/>
                    <a:p>
                      <a:pPr algn="ctr"/>
                      <a:r>
                        <a:rPr sz="1300" b="1">
                          <a:solidFill>
                            <a:srgbClr val="1E2761"/>
                          </a:solidFill>
                          <a:latin typeface="Calibri"/>
                        </a:rPr>
                        <a:t>0.995</a:t>
                      </a:r>
                    </a:p>
                  </a:txBody>
                  <a:tcPr marL="101600" marR="101600" marT="50800" marB="50800">
                    <a:solidFill>
                      <a:srgbClr val="CADCFC"/>
                    </a:solidFill>
                  </a:tcPr>
                </a:tc>
                <a:tc>
                  <a:txBody>
                    <a:bodyPr/>
                    <a:lstStyle/>
                    <a:p>
                      <a:pPr algn="ctr"/>
                      <a:r>
                        <a:rPr sz="1300" b="1">
                          <a:solidFill>
                            <a:srgbClr val="1E2761"/>
                          </a:solidFill>
                          <a:latin typeface="Calibri"/>
                        </a:rPr>
                        <a:t>1.000</a:t>
                      </a:r>
                    </a:p>
                  </a:txBody>
                  <a:tcPr marL="101600" marR="101600" marT="50800" marB="50800">
                    <a:solidFill>
                      <a:srgbClr val="CADCFC"/>
                    </a:solidFill>
                  </a:tcPr>
                </a:tc>
                <a:tc>
                  <a:txBody>
                    <a:bodyPr/>
                    <a:lstStyle/>
                    <a:p>
                      <a:pPr algn="ctr"/>
                      <a:r>
                        <a:rPr sz="1300" b="1">
                          <a:solidFill>
                            <a:srgbClr val="1E2761"/>
                          </a:solidFill>
                          <a:latin typeface="Calibri"/>
                        </a:rPr>
                        <a:t>0.991</a:t>
                      </a:r>
                    </a:p>
                  </a:txBody>
                  <a:tcPr marL="101600" marR="101600" marT="50800" marB="50800">
                    <a:solidFill>
                      <a:srgbClr val="CADCFC"/>
                    </a:solidFill>
                  </a:tcPr>
                </a:tc>
                <a:tc>
                  <a:txBody>
                    <a:bodyPr/>
                    <a:lstStyle/>
                    <a:p>
                      <a:pPr algn="ctr"/>
                      <a:r>
                        <a:rPr sz="1300" b="1">
                          <a:solidFill>
                            <a:srgbClr val="1E2761"/>
                          </a:solidFill>
                          <a:latin typeface="Calibri"/>
                        </a:rPr>
                        <a:t>1.000</a:t>
                      </a:r>
                    </a:p>
                  </a:txBody>
                  <a:tcPr marL="101600" marR="101600" marT="50800" marB="50800">
                    <a:solidFill>
                      <a:srgbClr val="CADCFC"/>
                    </a:solidFill>
                  </a:tcPr>
                </a:tc>
                <a:extLst>
                  <a:ext uri="{0D108BD9-81ED-4DB2-BD59-A6C34878D82A}">
                    <a16:rowId xmlns:a16="http://schemas.microsoft.com/office/drawing/2014/main" val="10004"/>
                  </a:ext>
                </a:extLst>
              </a:tr>
            </a:tbl>
          </a:graphicData>
        </a:graphic>
      </p:graphicFrame>
      <p:sp>
        <p:nvSpPr>
          <p:cNvPr id="6" name="Rounded Rectangle 5"/>
          <p:cNvSpPr/>
          <p:nvPr/>
        </p:nvSpPr>
        <p:spPr>
          <a:xfrm>
            <a:off x="548640" y="4937760"/>
            <a:ext cx="5486400" cy="1371600"/>
          </a:xfrm>
          <a:prstGeom prst="round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5074920"/>
            <a:ext cx="5486400" cy="365760"/>
          </a:xfrm>
          <a:prstGeom prst="rect">
            <a:avLst/>
          </a:prstGeom>
          <a:noFill/>
        </p:spPr>
        <p:txBody>
          <a:bodyPr wrap="square" lIns="25400" tIns="25400" rIns="25400" bIns="25400">
            <a:spAutoFit/>
          </a:bodyPr>
          <a:lstStyle/>
          <a:p>
            <a:pPr algn="ctr"/>
            <a:r>
              <a:rPr sz="1400" b="1" i="0">
                <a:solidFill>
                  <a:srgbClr val="1E2761"/>
                </a:solidFill>
                <a:latin typeface="Calibri"/>
              </a:rPr>
              <a:t>F1 lift over RoBERTa alone</a:t>
            </a:r>
          </a:p>
        </p:txBody>
      </p:sp>
      <p:sp>
        <p:nvSpPr>
          <p:cNvPr id="8" name="TextBox 7"/>
          <p:cNvSpPr txBox="1"/>
          <p:nvPr/>
        </p:nvSpPr>
        <p:spPr>
          <a:xfrm>
            <a:off x="548640" y="5440680"/>
            <a:ext cx="5486400" cy="548640"/>
          </a:xfrm>
          <a:prstGeom prst="rect">
            <a:avLst/>
          </a:prstGeom>
          <a:noFill/>
        </p:spPr>
        <p:txBody>
          <a:bodyPr wrap="square" lIns="25400" tIns="25400" rIns="25400" bIns="25400">
            <a:spAutoFit/>
          </a:bodyPr>
          <a:lstStyle/>
          <a:p>
            <a:pPr algn="ctr"/>
            <a:r>
              <a:rPr sz="3200" b="1" i="0">
                <a:solidFill>
                  <a:srgbClr val="B85042"/>
                </a:solidFill>
                <a:latin typeface="Calibri"/>
              </a:rPr>
              <a:t>+0.37 F1</a:t>
            </a:r>
          </a:p>
        </p:txBody>
      </p:sp>
      <p:sp>
        <p:nvSpPr>
          <p:cNvPr id="9" name="Rounded Rectangle 8"/>
          <p:cNvSpPr/>
          <p:nvPr/>
        </p:nvSpPr>
        <p:spPr>
          <a:xfrm>
            <a:off x="6400800" y="4937760"/>
            <a:ext cx="5486400" cy="1371600"/>
          </a:xfrm>
          <a:prstGeom prst="round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0" y="5074920"/>
            <a:ext cx="5486400" cy="365760"/>
          </a:xfrm>
          <a:prstGeom prst="rect">
            <a:avLst/>
          </a:prstGeom>
          <a:noFill/>
        </p:spPr>
        <p:txBody>
          <a:bodyPr wrap="square" lIns="25400" tIns="25400" rIns="25400" bIns="25400">
            <a:spAutoFit/>
          </a:bodyPr>
          <a:lstStyle/>
          <a:p>
            <a:pPr algn="ctr"/>
            <a:r>
              <a:rPr sz="1400" b="1" i="0">
                <a:solidFill>
                  <a:srgbClr val="1E2761"/>
                </a:solidFill>
                <a:latin typeface="Calibri"/>
              </a:rPr>
              <a:t>Per-ecosystem F1</a:t>
            </a:r>
          </a:p>
        </p:txBody>
      </p:sp>
      <p:sp>
        <p:nvSpPr>
          <p:cNvPr id="11" name="TextBox 10"/>
          <p:cNvSpPr txBox="1"/>
          <p:nvPr/>
        </p:nvSpPr>
        <p:spPr>
          <a:xfrm>
            <a:off x="6400800" y="5440680"/>
            <a:ext cx="5486400" cy="548640"/>
          </a:xfrm>
          <a:prstGeom prst="rect">
            <a:avLst/>
          </a:prstGeom>
          <a:noFill/>
        </p:spPr>
        <p:txBody>
          <a:bodyPr wrap="square" lIns="25400" tIns="25400" rIns="25400" bIns="25400">
            <a:spAutoFit/>
          </a:bodyPr>
          <a:lstStyle/>
          <a:p>
            <a:pPr algn="ctr"/>
            <a:r>
              <a:rPr sz="3200" b="1" i="0">
                <a:solidFill>
                  <a:srgbClr val="B85042"/>
                </a:solidFill>
                <a:latin typeface="Calibri"/>
              </a:rPr>
              <a:t>&gt;= 0.97</a:t>
            </a:r>
          </a:p>
        </p:txBody>
      </p:sp>
      <p:sp>
        <p:nvSpPr>
          <p:cNvPr id="12" name="TextBox 11"/>
          <p:cNvSpPr txBox="1"/>
          <p:nvPr/>
        </p:nvSpPr>
        <p:spPr>
          <a:xfrm>
            <a:off x="365760" y="6492240"/>
            <a:ext cx="11460175" cy="274320"/>
          </a:xfrm>
          <a:prstGeom prst="rect">
            <a:avLst/>
          </a:prstGeom>
          <a:noFill/>
        </p:spPr>
        <p:txBody>
          <a:bodyPr wrap="none">
            <a:spAutoFit/>
          </a:bodyPr>
          <a:lstStyle/>
          <a:p>
            <a:pPr algn="l"/>
            <a:r>
              <a:rPr sz="900">
                <a:solidFill>
                  <a:srgbClr val="4A4A4A"/>
                </a:solidFill>
                <a:latin typeface="Calibri"/>
              </a:rPr>
              <a:t>Ankit Kumar Honey  |  CSCI E-222  |  Spring 2026</a:t>
            </a:r>
          </a:p>
        </p:txBody>
      </p:sp>
      <p:sp>
        <p:nvSpPr>
          <p:cNvPr id="13" name="TextBox 12"/>
          <p:cNvSpPr txBox="1"/>
          <p:nvPr/>
        </p:nvSpPr>
        <p:spPr>
          <a:xfrm>
            <a:off x="11497136" y="6492240"/>
            <a:ext cx="511679" cy="230832"/>
          </a:xfrm>
          <a:prstGeom prst="rect">
            <a:avLst/>
          </a:prstGeom>
          <a:noFill/>
        </p:spPr>
        <p:txBody>
          <a:bodyPr wrap="none">
            <a:spAutoFit/>
          </a:bodyPr>
          <a:lstStyle/>
          <a:p>
            <a:pPr algn="r"/>
            <a:r>
              <a:rPr sz="900" dirty="0">
                <a:solidFill>
                  <a:srgbClr val="4A4A4A"/>
                </a:solidFill>
                <a:latin typeface="Calibri"/>
              </a:rPr>
              <a:t>1</a:t>
            </a:r>
            <a:r>
              <a:rPr lang="en-US" sz="900" dirty="0">
                <a:solidFill>
                  <a:srgbClr val="4A4A4A"/>
                </a:solidFill>
                <a:latin typeface="Calibri"/>
              </a:rPr>
              <a:t>1</a:t>
            </a:r>
            <a:r>
              <a:rPr sz="900" dirty="0">
                <a:solidFill>
                  <a:srgbClr val="4A4A4A"/>
                </a:solidFill>
                <a:latin typeface="Calibri"/>
              </a:rPr>
              <a:t> / 1</a:t>
            </a:r>
            <a:r>
              <a:rPr lang="en-US" sz="900" dirty="0">
                <a:solidFill>
                  <a:srgbClr val="4A4A4A"/>
                </a:solidFill>
                <a:latin typeface="Calibri"/>
              </a:rPr>
              <a:t>7</a:t>
            </a:r>
            <a:endParaRPr sz="900" dirty="0">
              <a:solidFill>
                <a:srgbClr val="4A4A4A"/>
              </a:solidFill>
              <a:latin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11480"/>
            <a:ext cx="5658921" cy="584775"/>
          </a:xfrm>
          <a:prstGeom prst="rect">
            <a:avLst/>
          </a:prstGeom>
          <a:noFill/>
        </p:spPr>
        <p:txBody>
          <a:bodyPr wrap="none">
            <a:spAutoFit/>
          </a:bodyPr>
          <a:lstStyle/>
          <a:p>
            <a:pPr algn="l"/>
            <a:r>
              <a:rPr sz="3200" b="1" dirty="0">
                <a:solidFill>
                  <a:srgbClr val="0070C0"/>
                </a:solidFill>
                <a:latin typeface="Garamond" panose="02020404030301010803" pitchFamily="18" charset="0"/>
                <a:ea typeface="+mj-ea"/>
                <a:cs typeface="+mj-cs"/>
              </a:rPr>
              <a:t>Confusion</a:t>
            </a:r>
            <a:r>
              <a:rPr sz="3000" b="1" dirty="0">
                <a:solidFill>
                  <a:srgbClr val="1E2761"/>
                </a:solidFill>
                <a:latin typeface="Calibri"/>
              </a:rPr>
              <a:t> </a:t>
            </a:r>
            <a:r>
              <a:rPr lang="en-US" sz="3200" b="1" dirty="0">
                <a:solidFill>
                  <a:srgbClr val="0070C0"/>
                </a:solidFill>
                <a:latin typeface="Garamond" panose="02020404030301010803" pitchFamily="18" charset="0"/>
                <a:ea typeface="+mj-ea"/>
                <a:cs typeface="+mj-cs"/>
              </a:rPr>
              <a:t>M</a:t>
            </a:r>
            <a:r>
              <a:rPr sz="3200" b="1" dirty="0">
                <a:solidFill>
                  <a:srgbClr val="0070C0"/>
                </a:solidFill>
                <a:latin typeface="Garamond" panose="02020404030301010803" pitchFamily="18" charset="0"/>
                <a:ea typeface="+mj-ea"/>
                <a:cs typeface="+mj-cs"/>
              </a:rPr>
              <a:t>atrix: </a:t>
            </a:r>
            <a:r>
              <a:rPr lang="en-US" sz="3200" b="1" dirty="0">
                <a:solidFill>
                  <a:srgbClr val="0070C0"/>
                </a:solidFill>
                <a:latin typeface="Garamond" panose="02020404030301010803" pitchFamily="18" charset="0"/>
                <a:ea typeface="+mj-ea"/>
                <a:cs typeface="+mj-cs"/>
              </a:rPr>
              <a:t>F</a:t>
            </a:r>
            <a:r>
              <a:rPr sz="3200" b="1" dirty="0">
                <a:solidFill>
                  <a:srgbClr val="0070C0"/>
                </a:solidFill>
                <a:latin typeface="Garamond" panose="02020404030301010803" pitchFamily="18" charset="0"/>
                <a:ea typeface="+mj-ea"/>
                <a:cs typeface="+mj-cs"/>
              </a:rPr>
              <a:t>ull </a:t>
            </a:r>
            <a:r>
              <a:rPr lang="en-US" sz="3200" b="1" dirty="0">
                <a:solidFill>
                  <a:srgbClr val="0070C0"/>
                </a:solidFill>
                <a:latin typeface="Garamond" panose="02020404030301010803" pitchFamily="18" charset="0"/>
                <a:ea typeface="+mj-ea"/>
                <a:cs typeface="+mj-cs"/>
              </a:rPr>
              <a:t>P</a:t>
            </a:r>
            <a:r>
              <a:rPr sz="3200" b="1" dirty="0">
                <a:solidFill>
                  <a:srgbClr val="0070C0"/>
                </a:solidFill>
                <a:latin typeface="Garamond" panose="02020404030301010803" pitchFamily="18" charset="0"/>
                <a:ea typeface="+mj-ea"/>
                <a:cs typeface="+mj-cs"/>
              </a:rPr>
              <a:t>ipeline</a:t>
            </a:r>
          </a:p>
        </p:txBody>
      </p:sp>
      <p:sp>
        <p:nvSpPr>
          <p:cNvPr id="4" name="TextBox 3"/>
          <p:cNvSpPr txBox="1"/>
          <p:nvPr/>
        </p:nvSpPr>
        <p:spPr>
          <a:xfrm>
            <a:off x="457200" y="960120"/>
            <a:ext cx="11247120" cy="365760"/>
          </a:xfrm>
          <a:prstGeom prst="rect">
            <a:avLst/>
          </a:prstGeom>
          <a:noFill/>
        </p:spPr>
        <p:txBody>
          <a:bodyPr wrap="none">
            <a:spAutoFit/>
          </a:bodyPr>
          <a:lstStyle/>
          <a:p>
            <a:pPr algn="l"/>
            <a:r>
              <a:rPr sz="1400" i="1">
                <a:solidFill>
                  <a:srgbClr val="B85042"/>
                </a:solidFill>
                <a:latin typeface="Calibri"/>
              </a:rPr>
              <a:t>Eight misses on 402 true positives. Nine false alarms on 1,379 negatives.</a:t>
            </a:r>
          </a:p>
        </p:txBody>
      </p:sp>
      <p:sp>
        <p:nvSpPr>
          <p:cNvPr id="5" name="Rectangle 4"/>
          <p:cNvSpPr/>
          <p:nvPr/>
        </p:nvSpPr>
        <p:spPr>
          <a:xfrm>
            <a:off x="3200400" y="1737360"/>
            <a:ext cx="2377440" cy="1280160"/>
          </a:xfrm>
          <a:prstGeom prst="rect">
            <a:avLst/>
          </a:prstGeom>
          <a:solidFill>
            <a:srgbClr val="FFFFFF"/>
          </a:solidFill>
          <a:ln w="6350">
            <a:solidFill>
              <a:srgbClr val="4A4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760720" y="1737360"/>
            <a:ext cx="2377440" cy="1280160"/>
          </a:xfrm>
          <a:prstGeom prst="rect">
            <a:avLst/>
          </a:prstGeom>
          <a:solidFill>
            <a:srgbClr val="EAEAEA"/>
          </a:solidFill>
          <a:ln w="6350">
            <a:solidFill>
              <a:srgbClr val="4A4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852159" y="1874519"/>
            <a:ext cx="2194560" cy="640080"/>
          </a:xfrm>
          <a:prstGeom prst="rect">
            <a:avLst/>
          </a:prstGeom>
          <a:noFill/>
        </p:spPr>
        <p:txBody>
          <a:bodyPr wrap="none">
            <a:spAutoFit/>
          </a:bodyPr>
          <a:lstStyle/>
          <a:p>
            <a:pPr algn="ctr"/>
            <a:r>
              <a:rPr sz="1400" b="1">
                <a:solidFill>
                  <a:srgbClr val="1E2761"/>
                </a:solidFill>
                <a:latin typeface="Calibri"/>
              </a:rPr>
              <a:t>Predicted FP</a:t>
            </a:r>
          </a:p>
        </p:txBody>
      </p:sp>
      <p:sp>
        <p:nvSpPr>
          <p:cNvPr id="8" name="Rectangle 7"/>
          <p:cNvSpPr/>
          <p:nvPr/>
        </p:nvSpPr>
        <p:spPr>
          <a:xfrm>
            <a:off x="8321040" y="1737360"/>
            <a:ext cx="2377440" cy="1280160"/>
          </a:xfrm>
          <a:prstGeom prst="rect">
            <a:avLst/>
          </a:prstGeom>
          <a:solidFill>
            <a:srgbClr val="EAEAEA"/>
          </a:solidFill>
          <a:ln w="6350">
            <a:solidFill>
              <a:srgbClr val="4A4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412480" y="1874519"/>
            <a:ext cx="2194560" cy="640080"/>
          </a:xfrm>
          <a:prstGeom prst="rect">
            <a:avLst/>
          </a:prstGeom>
          <a:noFill/>
        </p:spPr>
        <p:txBody>
          <a:bodyPr wrap="none">
            <a:spAutoFit/>
          </a:bodyPr>
          <a:lstStyle/>
          <a:p>
            <a:pPr algn="ctr"/>
            <a:r>
              <a:rPr sz="1400" b="1">
                <a:solidFill>
                  <a:srgbClr val="1E2761"/>
                </a:solidFill>
                <a:latin typeface="Calibri"/>
              </a:rPr>
              <a:t>Predicted TP</a:t>
            </a:r>
          </a:p>
        </p:txBody>
      </p:sp>
      <p:sp>
        <p:nvSpPr>
          <p:cNvPr id="10" name="Rectangle 9"/>
          <p:cNvSpPr/>
          <p:nvPr/>
        </p:nvSpPr>
        <p:spPr>
          <a:xfrm>
            <a:off x="3200400" y="2743200"/>
            <a:ext cx="2377440" cy="1280160"/>
          </a:xfrm>
          <a:prstGeom prst="rect">
            <a:avLst/>
          </a:prstGeom>
          <a:solidFill>
            <a:srgbClr val="EAEAEA"/>
          </a:solidFill>
          <a:ln w="6350">
            <a:solidFill>
              <a:srgbClr val="4A4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291840" y="2880360"/>
            <a:ext cx="2194560" cy="640080"/>
          </a:xfrm>
          <a:prstGeom prst="rect">
            <a:avLst/>
          </a:prstGeom>
          <a:noFill/>
        </p:spPr>
        <p:txBody>
          <a:bodyPr wrap="none">
            <a:spAutoFit/>
          </a:bodyPr>
          <a:lstStyle/>
          <a:p>
            <a:pPr algn="ctr"/>
            <a:r>
              <a:rPr sz="1400" b="1">
                <a:solidFill>
                  <a:srgbClr val="1E2761"/>
                </a:solidFill>
                <a:latin typeface="Calibri"/>
              </a:rPr>
              <a:t>Actual FP</a:t>
            </a:r>
          </a:p>
        </p:txBody>
      </p:sp>
      <p:sp>
        <p:nvSpPr>
          <p:cNvPr id="12" name="TextBox 11"/>
          <p:cNvSpPr txBox="1"/>
          <p:nvPr/>
        </p:nvSpPr>
        <p:spPr>
          <a:xfrm>
            <a:off x="3291840" y="3611880"/>
            <a:ext cx="2194560" cy="365760"/>
          </a:xfrm>
          <a:prstGeom prst="rect">
            <a:avLst/>
          </a:prstGeom>
          <a:noFill/>
        </p:spPr>
        <p:txBody>
          <a:bodyPr wrap="none">
            <a:spAutoFit/>
          </a:bodyPr>
          <a:lstStyle/>
          <a:p>
            <a:pPr algn="ctr"/>
            <a:r>
              <a:rPr sz="1100" i="1">
                <a:solidFill>
                  <a:srgbClr val="4A4A4A"/>
                </a:solidFill>
                <a:latin typeface="Calibri"/>
              </a:rPr>
              <a:t>n = 1,379</a:t>
            </a:r>
          </a:p>
        </p:txBody>
      </p:sp>
      <p:sp>
        <p:nvSpPr>
          <p:cNvPr id="13" name="Rectangle 12"/>
          <p:cNvSpPr/>
          <p:nvPr/>
        </p:nvSpPr>
        <p:spPr>
          <a:xfrm>
            <a:off x="5760720" y="2743200"/>
            <a:ext cx="2377440" cy="1280160"/>
          </a:xfrm>
          <a:prstGeom prst="rect">
            <a:avLst/>
          </a:prstGeom>
          <a:solidFill>
            <a:srgbClr val="CADCFC"/>
          </a:solidFill>
          <a:ln w="6350">
            <a:solidFill>
              <a:srgbClr val="4A4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852159" y="2880360"/>
            <a:ext cx="2194560" cy="640080"/>
          </a:xfrm>
          <a:prstGeom prst="rect">
            <a:avLst/>
          </a:prstGeom>
          <a:noFill/>
        </p:spPr>
        <p:txBody>
          <a:bodyPr wrap="none">
            <a:spAutoFit/>
          </a:bodyPr>
          <a:lstStyle/>
          <a:p>
            <a:pPr algn="ctr"/>
            <a:r>
              <a:rPr sz="3400" b="1">
                <a:solidFill>
                  <a:srgbClr val="1E2761"/>
                </a:solidFill>
                <a:latin typeface="Calibri"/>
              </a:rPr>
              <a:t>1,370</a:t>
            </a:r>
          </a:p>
        </p:txBody>
      </p:sp>
      <p:sp>
        <p:nvSpPr>
          <p:cNvPr id="15" name="TextBox 14"/>
          <p:cNvSpPr txBox="1"/>
          <p:nvPr/>
        </p:nvSpPr>
        <p:spPr>
          <a:xfrm>
            <a:off x="5852159" y="3611880"/>
            <a:ext cx="2194560" cy="365760"/>
          </a:xfrm>
          <a:prstGeom prst="rect">
            <a:avLst/>
          </a:prstGeom>
          <a:noFill/>
        </p:spPr>
        <p:txBody>
          <a:bodyPr wrap="none">
            <a:spAutoFit/>
          </a:bodyPr>
          <a:lstStyle/>
          <a:p>
            <a:pPr algn="ctr"/>
            <a:r>
              <a:rPr sz="1100" i="1">
                <a:solidFill>
                  <a:srgbClr val="4A4A4A"/>
                </a:solidFill>
                <a:latin typeface="Calibri"/>
              </a:rPr>
              <a:t>true neg.</a:t>
            </a:r>
          </a:p>
        </p:txBody>
      </p:sp>
      <p:sp>
        <p:nvSpPr>
          <p:cNvPr id="16" name="Rectangle 15"/>
          <p:cNvSpPr/>
          <p:nvPr/>
        </p:nvSpPr>
        <p:spPr>
          <a:xfrm>
            <a:off x="8321040" y="2743200"/>
            <a:ext cx="2377440" cy="1280160"/>
          </a:xfrm>
          <a:prstGeom prst="rect">
            <a:avLst/>
          </a:prstGeom>
          <a:solidFill>
            <a:srgbClr val="ECF8EE"/>
          </a:solidFill>
          <a:ln w="6350">
            <a:solidFill>
              <a:srgbClr val="4A4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412480" y="2880360"/>
            <a:ext cx="2194560" cy="640080"/>
          </a:xfrm>
          <a:prstGeom prst="rect">
            <a:avLst/>
          </a:prstGeom>
          <a:noFill/>
        </p:spPr>
        <p:txBody>
          <a:bodyPr wrap="none">
            <a:spAutoFit/>
          </a:bodyPr>
          <a:lstStyle/>
          <a:p>
            <a:pPr algn="ctr"/>
            <a:r>
              <a:rPr sz="3400" b="1">
                <a:solidFill>
                  <a:srgbClr val="2E7D32"/>
                </a:solidFill>
                <a:latin typeface="Calibri"/>
              </a:rPr>
              <a:t>9</a:t>
            </a:r>
          </a:p>
        </p:txBody>
      </p:sp>
      <p:sp>
        <p:nvSpPr>
          <p:cNvPr id="18" name="TextBox 17"/>
          <p:cNvSpPr txBox="1"/>
          <p:nvPr/>
        </p:nvSpPr>
        <p:spPr>
          <a:xfrm>
            <a:off x="8412480" y="3611880"/>
            <a:ext cx="2194560" cy="365760"/>
          </a:xfrm>
          <a:prstGeom prst="rect">
            <a:avLst/>
          </a:prstGeom>
          <a:noFill/>
        </p:spPr>
        <p:txBody>
          <a:bodyPr wrap="none">
            <a:spAutoFit/>
          </a:bodyPr>
          <a:lstStyle/>
          <a:p>
            <a:pPr algn="ctr"/>
            <a:r>
              <a:rPr sz="1100" i="1">
                <a:solidFill>
                  <a:srgbClr val="4A4A4A"/>
                </a:solidFill>
                <a:latin typeface="Calibri"/>
              </a:rPr>
              <a:t>false pos.</a:t>
            </a:r>
          </a:p>
        </p:txBody>
      </p:sp>
      <p:sp>
        <p:nvSpPr>
          <p:cNvPr id="19" name="Rectangle 18"/>
          <p:cNvSpPr/>
          <p:nvPr/>
        </p:nvSpPr>
        <p:spPr>
          <a:xfrm>
            <a:off x="3200400" y="4114800"/>
            <a:ext cx="2377440" cy="1280160"/>
          </a:xfrm>
          <a:prstGeom prst="rect">
            <a:avLst/>
          </a:prstGeom>
          <a:solidFill>
            <a:srgbClr val="EAEAEA"/>
          </a:solidFill>
          <a:ln w="6350">
            <a:solidFill>
              <a:srgbClr val="4A4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291840" y="4251960"/>
            <a:ext cx="2194560" cy="640080"/>
          </a:xfrm>
          <a:prstGeom prst="rect">
            <a:avLst/>
          </a:prstGeom>
          <a:noFill/>
        </p:spPr>
        <p:txBody>
          <a:bodyPr wrap="none">
            <a:spAutoFit/>
          </a:bodyPr>
          <a:lstStyle/>
          <a:p>
            <a:pPr algn="ctr"/>
            <a:r>
              <a:rPr sz="1400" b="1">
                <a:solidFill>
                  <a:srgbClr val="1E2761"/>
                </a:solidFill>
                <a:latin typeface="Calibri"/>
              </a:rPr>
              <a:t>Actual TP</a:t>
            </a:r>
          </a:p>
        </p:txBody>
      </p:sp>
      <p:sp>
        <p:nvSpPr>
          <p:cNvPr id="21" name="TextBox 20"/>
          <p:cNvSpPr txBox="1"/>
          <p:nvPr/>
        </p:nvSpPr>
        <p:spPr>
          <a:xfrm>
            <a:off x="3291840" y="4983480"/>
            <a:ext cx="2194560" cy="365760"/>
          </a:xfrm>
          <a:prstGeom prst="rect">
            <a:avLst/>
          </a:prstGeom>
          <a:noFill/>
        </p:spPr>
        <p:txBody>
          <a:bodyPr wrap="none">
            <a:spAutoFit/>
          </a:bodyPr>
          <a:lstStyle/>
          <a:p>
            <a:pPr algn="ctr"/>
            <a:r>
              <a:rPr sz="1100" i="1">
                <a:solidFill>
                  <a:srgbClr val="4A4A4A"/>
                </a:solidFill>
                <a:latin typeface="Calibri"/>
              </a:rPr>
              <a:t>n = 402</a:t>
            </a:r>
          </a:p>
        </p:txBody>
      </p:sp>
      <p:sp>
        <p:nvSpPr>
          <p:cNvPr id="22" name="Rectangle 21"/>
          <p:cNvSpPr/>
          <p:nvPr/>
        </p:nvSpPr>
        <p:spPr>
          <a:xfrm>
            <a:off x="5760720" y="4114800"/>
            <a:ext cx="2377440" cy="1280160"/>
          </a:xfrm>
          <a:prstGeom prst="rect">
            <a:avLst/>
          </a:prstGeom>
          <a:solidFill>
            <a:srgbClr val="FDE7E7"/>
          </a:solidFill>
          <a:ln w="6350">
            <a:solidFill>
              <a:srgbClr val="4A4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852159" y="4251960"/>
            <a:ext cx="2194560" cy="640080"/>
          </a:xfrm>
          <a:prstGeom prst="rect">
            <a:avLst/>
          </a:prstGeom>
          <a:noFill/>
        </p:spPr>
        <p:txBody>
          <a:bodyPr wrap="none">
            <a:spAutoFit/>
          </a:bodyPr>
          <a:lstStyle/>
          <a:p>
            <a:pPr algn="ctr"/>
            <a:r>
              <a:rPr sz="3400" b="1">
                <a:solidFill>
                  <a:srgbClr val="B71C1C"/>
                </a:solidFill>
                <a:latin typeface="Calibri"/>
              </a:rPr>
              <a:t>8</a:t>
            </a:r>
          </a:p>
        </p:txBody>
      </p:sp>
      <p:sp>
        <p:nvSpPr>
          <p:cNvPr id="24" name="TextBox 23"/>
          <p:cNvSpPr txBox="1"/>
          <p:nvPr/>
        </p:nvSpPr>
        <p:spPr>
          <a:xfrm>
            <a:off x="5852159" y="4983480"/>
            <a:ext cx="2194560" cy="365760"/>
          </a:xfrm>
          <a:prstGeom prst="rect">
            <a:avLst/>
          </a:prstGeom>
          <a:noFill/>
        </p:spPr>
        <p:txBody>
          <a:bodyPr wrap="none">
            <a:spAutoFit/>
          </a:bodyPr>
          <a:lstStyle/>
          <a:p>
            <a:pPr algn="ctr"/>
            <a:r>
              <a:rPr sz="1100" i="1">
                <a:solidFill>
                  <a:srgbClr val="4A4A4A"/>
                </a:solidFill>
                <a:latin typeface="Calibri"/>
              </a:rPr>
              <a:t>false neg.</a:t>
            </a:r>
          </a:p>
        </p:txBody>
      </p:sp>
      <p:sp>
        <p:nvSpPr>
          <p:cNvPr id="25" name="Rectangle 24"/>
          <p:cNvSpPr/>
          <p:nvPr/>
        </p:nvSpPr>
        <p:spPr>
          <a:xfrm>
            <a:off x="8321040" y="4114800"/>
            <a:ext cx="2377440" cy="1280160"/>
          </a:xfrm>
          <a:prstGeom prst="rect">
            <a:avLst/>
          </a:prstGeom>
          <a:solidFill>
            <a:srgbClr val="CADCFC"/>
          </a:solidFill>
          <a:ln w="6350">
            <a:solidFill>
              <a:srgbClr val="4A4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12480" y="4251960"/>
            <a:ext cx="2194560" cy="640080"/>
          </a:xfrm>
          <a:prstGeom prst="rect">
            <a:avLst/>
          </a:prstGeom>
          <a:noFill/>
        </p:spPr>
        <p:txBody>
          <a:bodyPr wrap="none">
            <a:spAutoFit/>
          </a:bodyPr>
          <a:lstStyle/>
          <a:p>
            <a:pPr algn="ctr"/>
            <a:r>
              <a:rPr sz="3400" b="1">
                <a:solidFill>
                  <a:srgbClr val="1E2761"/>
                </a:solidFill>
                <a:latin typeface="Calibri"/>
              </a:rPr>
              <a:t>394</a:t>
            </a:r>
          </a:p>
        </p:txBody>
      </p:sp>
      <p:sp>
        <p:nvSpPr>
          <p:cNvPr id="27" name="TextBox 26"/>
          <p:cNvSpPr txBox="1"/>
          <p:nvPr/>
        </p:nvSpPr>
        <p:spPr>
          <a:xfrm>
            <a:off x="8412480" y="4983480"/>
            <a:ext cx="2194560" cy="365760"/>
          </a:xfrm>
          <a:prstGeom prst="rect">
            <a:avLst/>
          </a:prstGeom>
          <a:noFill/>
        </p:spPr>
        <p:txBody>
          <a:bodyPr wrap="none">
            <a:spAutoFit/>
          </a:bodyPr>
          <a:lstStyle/>
          <a:p>
            <a:pPr algn="ctr"/>
            <a:r>
              <a:rPr sz="1100" i="1">
                <a:solidFill>
                  <a:srgbClr val="4A4A4A"/>
                </a:solidFill>
                <a:latin typeface="Calibri"/>
              </a:rPr>
              <a:t>true pos.</a:t>
            </a:r>
          </a:p>
        </p:txBody>
      </p:sp>
      <p:sp>
        <p:nvSpPr>
          <p:cNvPr id="28" name="TextBox 27"/>
          <p:cNvSpPr txBox="1"/>
          <p:nvPr/>
        </p:nvSpPr>
        <p:spPr>
          <a:xfrm>
            <a:off x="548640" y="5760720"/>
            <a:ext cx="10972800" cy="457200"/>
          </a:xfrm>
          <a:prstGeom prst="rect">
            <a:avLst/>
          </a:prstGeom>
          <a:noFill/>
        </p:spPr>
        <p:txBody>
          <a:bodyPr wrap="square" lIns="25400" tIns="25400" rIns="25400" bIns="25400">
            <a:spAutoFit/>
          </a:bodyPr>
          <a:lstStyle/>
          <a:p>
            <a:pPr algn="l"/>
            <a:r>
              <a:rPr sz="1200" b="0" i="1">
                <a:solidFill>
                  <a:srgbClr val="B85042"/>
                </a:solidFill>
                <a:latin typeface="Calibri"/>
              </a:rPr>
              <a:t>Recall 0.980, precision 0.978, F1 0.979. Trading one false alarm against one missed exploit is the wrong tradeoff in security.</a:t>
            </a:r>
          </a:p>
        </p:txBody>
      </p:sp>
      <p:sp>
        <p:nvSpPr>
          <p:cNvPr id="29" name="TextBox 28"/>
          <p:cNvSpPr txBox="1"/>
          <p:nvPr/>
        </p:nvSpPr>
        <p:spPr>
          <a:xfrm>
            <a:off x="365760" y="6492240"/>
            <a:ext cx="11460175" cy="274320"/>
          </a:xfrm>
          <a:prstGeom prst="rect">
            <a:avLst/>
          </a:prstGeom>
          <a:noFill/>
        </p:spPr>
        <p:txBody>
          <a:bodyPr wrap="none">
            <a:spAutoFit/>
          </a:bodyPr>
          <a:lstStyle/>
          <a:p>
            <a:pPr algn="l"/>
            <a:r>
              <a:rPr sz="900">
                <a:solidFill>
                  <a:srgbClr val="4A4A4A"/>
                </a:solidFill>
                <a:latin typeface="Calibri"/>
              </a:rPr>
              <a:t>Ankit Kumar Honey  |  CSCI E-222  |  Spring 2026</a:t>
            </a:r>
          </a:p>
        </p:txBody>
      </p:sp>
      <p:sp>
        <p:nvSpPr>
          <p:cNvPr id="30" name="TextBox 29"/>
          <p:cNvSpPr txBox="1"/>
          <p:nvPr/>
        </p:nvSpPr>
        <p:spPr>
          <a:xfrm>
            <a:off x="11497136" y="6492240"/>
            <a:ext cx="511679" cy="230832"/>
          </a:xfrm>
          <a:prstGeom prst="rect">
            <a:avLst/>
          </a:prstGeom>
          <a:noFill/>
        </p:spPr>
        <p:txBody>
          <a:bodyPr wrap="none">
            <a:spAutoFit/>
          </a:bodyPr>
          <a:lstStyle/>
          <a:p>
            <a:pPr algn="r"/>
            <a:r>
              <a:rPr sz="900" dirty="0">
                <a:solidFill>
                  <a:srgbClr val="4A4A4A"/>
                </a:solidFill>
                <a:latin typeface="Calibri"/>
              </a:rPr>
              <a:t>1</a:t>
            </a:r>
            <a:r>
              <a:rPr lang="en-US" sz="900" dirty="0">
                <a:solidFill>
                  <a:srgbClr val="4A4A4A"/>
                </a:solidFill>
                <a:latin typeface="Calibri"/>
              </a:rPr>
              <a:t>2</a:t>
            </a:r>
            <a:r>
              <a:rPr sz="900" dirty="0">
                <a:solidFill>
                  <a:srgbClr val="4A4A4A"/>
                </a:solidFill>
                <a:latin typeface="Calibri"/>
              </a:rPr>
              <a:t> / 1</a:t>
            </a:r>
            <a:r>
              <a:rPr lang="en-US" sz="900" dirty="0">
                <a:solidFill>
                  <a:srgbClr val="4A4A4A"/>
                </a:solidFill>
                <a:latin typeface="Calibri"/>
              </a:rPr>
              <a:t>7</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11480"/>
            <a:ext cx="5971635" cy="584775"/>
          </a:xfrm>
          <a:prstGeom prst="rect">
            <a:avLst/>
          </a:prstGeom>
          <a:noFill/>
        </p:spPr>
        <p:txBody>
          <a:bodyPr wrap="none">
            <a:spAutoFit/>
          </a:bodyPr>
          <a:lstStyle/>
          <a:p>
            <a:pPr algn="l"/>
            <a:r>
              <a:rPr sz="3200" b="1" dirty="0">
                <a:solidFill>
                  <a:srgbClr val="0070C0"/>
                </a:solidFill>
                <a:latin typeface="Garamond" panose="02020404030301010803" pitchFamily="18" charset="0"/>
                <a:ea typeface="+mj-ea"/>
                <a:cs typeface="+mj-cs"/>
              </a:rPr>
              <a:t>What</a:t>
            </a:r>
            <a:r>
              <a:rPr sz="3000" b="1" dirty="0">
                <a:solidFill>
                  <a:srgbClr val="1E2761"/>
                </a:solidFill>
                <a:latin typeface="Calibri"/>
              </a:rPr>
              <a:t> </a:t>
            </a:r>
            <a:r>
              <a:rPr lang="en-US" sz="3200" b="1" dirty="0">
                <a:solidFill>
                  <a:srgbClr val="0070C0"/>
                </a:solidFill>
                <a:latin typeface="Garamond" panose="02020404030301010803" pitchFamily="18" charset="0"/>
                <a:ea typeface="+mj-ea"/>
                <a:cs typeface="+mj-cs"/>
              </a:rPr>
              <a:t>W</a:t>
            </a:r>
            <a:r>
              <a:rPr sz="3200" b="1" dirty="0">
                <a:solidFill>
                  <a:srgbClr val="0070C0"/>
                </a:solidFill>
                <a:latin typeface="Garamond" panose="02020404030301010803" pitchFamily="18" charset="0"/>
                <a:ea typeface="+mj-ea"/>
                <a:cs typeface="+mj-cs"/>
              </a:rPr>
              <a:t>orked, and </a:t>
            </a:r>
            <a:r>
              <a:rPr lang="en-US" sz="3200" b="1" dirty="0">
                <a:solidFill>
                  <a:srgbClr val="0070C0"/>
                </a:solidFill>
                <a:latin typeface="Garamond" panose="02020404030301010803" pitchFamily="18" charset="0"/>
                <a:ea typeface="+mj-ea"/>
                <a:cs typeface="+mj-cs"/>
              </a:rPr>
              <a:t>W</a:t>
            </a:r>
            <a:r>
              <a:rPr sz="3200" b="1" dirty="0">
                <a:solidFill>
                  <a:srgbClr val="0070C0"/>
                </a:solidFill>
                <a:latin typeface="Garamond" panose="02020404030301010803" pitchFamily="18" charset="0"/>
                <a:ea typeface="+mj-ea"/>
                <a:cs typeface="+mj-cs"/>
              </a:rPr>
              <a:t>hat </a:t>
            </a:r>
            <a:r>
              <a:rPr lang="en-US" sz="3200" b="1" dirty="0">
                <a:solidFill>
                  <a:srgbClr val="0070C0"/>
                </a:solidFill>
                <a:latin typeface="Garamond" panose="02020404030301010803" pitchFamily="18" charset="0"/>
                <a:ea typeface="+mj-ea"/>
                <a:cs typeface="+mj-cs"/>
              </a:rPr>
              <a:t>D</a:t>
            </a:r>
            <a:r>
              <a:rPr sz="3200" b="1" dirty="0">
                <a:solidFill>
                  <a:srgbClr val="0070C0"/>
                </a:solidFill>
                <a:latin typeface="Garamond" panose="02020404030301010803" pitchFamily="18" charset="0"/>
                <a:ea typeface="+mj-ea"/>
                <a:cs typeface="+mj-cs"/>
              </a:rPr>
              <a:t>id </a:t>
            </a:r>
            <a:r>
              <a:rPr lang="en-US" sz="3200" b="1" dirty="0">
                <a:solidFill>
                  <a:srgbClr val="0070C0"/>
                </a:solidFill>
                <a:latin typeface="Garamond" panose="02020404030301010803" pitchFamily="18" charset="0"/>
                <a:ea typeface="+mj-ea"/>
                <a:cs typeface="+mj-cs"/>
              </a:rPr>
              <a:t>N</a:t>
            </a:r>
            <a:r>
              <a:rPr sz="3200" b="1" dirty="0">
                <a:solidFill>
                  <a:srgbClr val="0070C0"/>
                </a:solidFill>
                <a:latin typeface="Garamond" panose="02020404030301010803" pitchFamily="18" charset="0"/>
                <a:ea typeface="+mj-ea"/>
                <a:cs typeface="+mj-cs"/>
              </a:rPr>
              <a:t>ot</a:t>
            </a:r>
          </a:p>
        </p:txBody>
      </p:sp>
      <p:sp>
        <p:nvSpPr>
          <p:cNvPr id="4" name="TextBox 3"/>
          <p:cNvSpPr txBox="1"/>
          <p:nvPr/>
        </p:nvSpPr>
        <p:spPr>
          <a:xfrm>
            <a:off x="457200" y="960120"/>
            <a:ext cx="11247120" cy="365760"/>
          </a:xfrm>
          <a:prstGeom prst="rect">
            <a:avLst/>
          </a:prstGeom>
          <a:noFill/>
        </p:spPr>
        <p:txBody>
          <a:bodyPr wrap="none">
            <a:spAutoFit/>
          </a:bodyPr>
          <a:lstStyle/>
          <a:p>
            <a:pPr algn="l"/>
            <a:r>
              <a:rPr sz="1400" i="1">
                <a:solidFill>
                  <a:srgbClr val="B85042"/>
                </a:solidFill>
                <a:latin typeface="Calibri"/>
              </a:rPr>
              <a:t>Honest accounting before any production claim.</a:t>
            </a:r>
          </a:p>
        </p:txBody>
      </p:sp>
      <p:sp>
        <p:nvSpPr>
          <p:cNvPr id="5" name="Rounded Rectangle 4"/>
          <p:cNvSpPr/>
          <p:nvPr/>
        </p:nvSpPr>
        <p:spPr>
          <a:xfrm>
            <a:off x="548640" y="1554480"/>
            <a:ext cx="5486400" cy="4114800"/>
          </a:xfrm>
          <a:prstGeom prst="roundRect">
            <a:avLst/>
          </a:prstGeom>
          <a:solidFill>
            <a:srgbClr val="ECF8EE"/>
          </a:solidFill>
          <a:ln w="9525">
            <a:solidFill>
              <a:srgbClr val="4CAF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1691640"/>
            <a:ext cx="5029200" cy="365760"/>
          </a:xfrm>
          <a:prstGeom prst="rect">
            <a:avLst/>
          </a:prstGeom>
          <a:noFill/>
        </p:spPr>
        <p:txBody>
          <a:bodyPr wrap="square" lIns="25400" tIns="25400" rIns="25400" bIns="25400">
            <a:spAutoFit/>
          </a:bodyPr>
          <a:lstStyle/>
          <a:p>
            <a:pPr algn="l"/>
            <a:r>
              <a:rPr sz="1600" b="1" i="0">
                <a:solidFill>
                  <a:srgbClr val="2E7D32"/>
                </a:solidFill>
                <a:latin typeface="Calibri"/>
              </a:rPr>
              <a:t>Worked</a:t>
            </a:r>
          </a:p>
        </p:txBody>
      </p:sp>
      <p:sp>
        <p:nvSpPr>
          <p:cNvPr id="7" name="TextBox 6"/>
          <p:cNvSpPr txBox="1"/>
          <p:nvPr/>
        </p:nvSpPr>
        <p:spPr>
          <a:xfrm>
            <a:off x="777240" y="2148840"/>
            <a:ext cx="5029200" cy="3474720"/>
          </a:xfrm>
          <a:prstGeom prst="rect">
            <a:avLst/>
          </a:prstGeom>
          <a:noFill/>
        </p:spPr>
        <p:txBody>
          <a:bodyPr wrap="square" lIns="25400" rIns="25400">
            <a:spAutoFit/>
          </a:bodyPr>
          <a:lstStyle/>
          <a:p>
            <a:pPr algn="l">
              <a:spcAft>
                <a:spcPts val="600"/>
              </a:spcAft>
            </a:pPr>
            <a:r>
              <a:rPr sz="1200" dirty="0">
                <a:solidFill>
                  <a:srgbClr val="4A4A4A"/>
                </a:solidFill>
                <a:latin typeface="Calibri"/>
              </a:rPr>
              <a:t>•  Reproducible from a fresh </a:t>
            </a:r>
            <a:r>
              <a:rPr sz="1200" dirty="0" err="1">
                <a:solidFill>
                  <a:srgbClr val="4A4A4A"/>
                </a:solidFill>
                <a:latin typeface="Calibri"/>
              </a:rPr>
              <a:t>Colab</a:t>
            </a:r>
            <a:r>
              <a:rPr sz="1200" dirty="0">
                <a:solidFill>
                  <a:srgbClr val="4A4A4A"/>
                </a:solidFill>
                <a:latin typeface="Calibri"/>
              </a:rPr>
              <a:t> session in around 5 minutes.</a:t>
            </a:r>
          </a:p>
          <a:p>
            <a:pPr algn="l">
              <a:spcAft>
                <a:spcPts val="600"/>
              </a:spcAft>
            </a:pPr>
            <a:r>
              <a:rPr sz="1200" dirty="0">
                <a:solidFill>
                  <a:srgbClr val="4A4A4A"/>
                </a:solidFill>
                <a:latin typeface="Calibri"/>
              </a:rPr>
              <a:t>•  Static call graph correctly distinguishes the SAFE and VULN </a:t>
            </a:r>
            <a:r>
              <a:rPr sz="1200" dirty="0" err="1">
                <a:solidFill>
                  <a:srgbClr val="4A4A4A"/>
                </a:solidFill>
                <a:latin typeface="Calibri"/>
              </a:rPr>
              <a:t>lodash</a:t>
            </a:r>
            <a:r>
              <a:rPr sz="1200" dirty="0">
                <a:solidFill>
                  <a:srgbClr val="4A4A4A"/>
                </a:solidFill>
                <a:latin typeface="Calibri"/>
              </a:rPr>
              <a:t> apps.</a:t>
            </a:r>
          </a:p>
          <a:p>
            <a:pPr algn="l">
              <a:spcAft>
                <a:spcPts val="600"/>
              </a:spcAft>
            </a:pPr>
            <a:r>
              <a:rPr sz="1200" dirty="0">
                <a:solidFill>
                  <a:srgbClr val="4A4A4A"/>
                </a:solidFill>
                <a:latin typeface="Calibri"/>
              </a:rPr>
              <a:t>•  0.37-point F1 lift over RoBERTa alone matches the project hypothesis.</a:t>
            </a:r>
          </a:p>
          <a:p>
            <a:pPr algn="l">
              <a:spcAft>
                <a:spcPts val="600"/>
              </a:spcAft>
            </a:pPr>
            <a:r>
              <a:rPr sz="1200" dirty="0">
                <a:solidFill>
                  <a:srgbClr val="4A4A4A"/>
                </a:solidFill>
                <a:latin typeface="Calibri"/>
              </a:rPr>
              <a:t>•  FAISS fallback gives a 3.5x similarity gap between vulnerable and safe code.</a:t>
            </a:r>
          </a:p>
          <a:p>
            <a:pPr algn="l">
              <a:spcAft>
                <a:spcPts val="600"/>
              </a:spcAft>
            </a:pPr>
            <a:r>
              <a:rPr sz="1200" dirty="0">
                <a:solidFill>
                  <a:srgbClr val="4A4A4A"/>
                </a:solidFill>
                <a:latin typeface="Calibri"/>
              </a:rPr>
              <a:t>•  15 unit tests, CI-friendly module layout, pip-installable package.</a:t>
            </a:r>
          </a:p>
        </p:txBody>
      </p:sp>
      <p:sp>
        <p:nvSpPr>
          <p:cNvPr id="8" name="Rounded Rectangle 7"/>
          <p:cNvSpPr/>
          <p:nvPr/>
        </p:nvSpPr>
        <p:spPr>
          <a:xfrm>
            <a:off x="6400800" y="1554480"/>
            <a:ext cx="5486400" cy="4114800"/>
          </a:xfrm>
          <a:prstGeom prst="roundRect">
            <a:avLst/>
          </a:prstGeom>
          <a:solidFill>
            <a:srgbClr val="FDE7E7"/>
          </a:solidFill>
          <a:ln w="9525">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629400" y="1691640"/>
            <a:ext cx="5029200" cy="365760"/>
          </a:xfrm>
          <a:prstGeom prst="rect">
            <a:avLst/>
          </a:prstGeom>
          <a:noFill/>
        </p:spPr>
        <p:txBody>
          <a:bodyPr wrap="square" lIns="25400" tIns="25400" rIns="25400" bIns="25400">
            <a:spAutoFit/>
          </a:bodyPr>
          <a:lstStyle/>
          <a:p>
            <a:pPr algn="l"/>
            <a:r>
              <a:rPr sz="1600" b="1" i="0">
                <a:solidFill>
                  <a:srgbClr val="B71C1C"/>
                </a:solidFill>
                <a:latin typeface="Calibri"/>
              </a:rPr>
              <a:t>Did not work / limitations</a:t>
            </a:r>
          </a:p>
        </p:txBody>
      </p:sp>
      <p:sp>
        <p:nvSpPr>
          <p:cNvPr id="10" name="TextBox 9"/>
          <p:cNvSpPr txBox="1"/>
          <p:nvPr/>
        </p:nvSpPr>
        <p:spPr>
          <a:xfrm>
            <a:off x="6629400" y="2148840"/>
            <a:ext cx="5029200" cy="3474720"/>
          </a:xfrm>
          <a:prstGeom prst="rect">
            <a:avLst/>
          </a:prstGeom>
          <a:noFill/>
        </p:spPr>
        <p:txBody>
          <a:bodyPr wrap="square" lIns="25400" rIns="25400">
            <a:spAutoFit/>
          </a:bodyPr>
          <a:lstStyle/>
          <a:p>
            <a:pPr algn="l">
              <a:spcAft>
                <a:spcPts val="600"/>
              </a:spcAft>
            </a:pPr>
            <a:r>
              <a:rPr sz="1200">
                <a:solidFill>
                  <a:srgbClr val="4A4A4A"/>
                </a:solidFill>
                <a:latin typeface="Calibri"/>
              </a:rPr>
              <a:t>•  Flan-T5-large returned the wrong verdict on the VULN lodash app.</a:t>
            </a:r>
          </a:p>
          <a:p>
            <a:pPr algn="l">
              <a:spcAft>
                <a:spcPts val="600"/>
              </a:spcAft>
            </a:pPr>
            <a:r>
              <a:rPr sz="1200">
                <a:solidFill>
                  <a:srgbClr val="4A4A4A"/>
                </a:solidFill>
                <a:latin typeface="Calibri"/>
              </a:rPr>
              <a:t>•  0.979 F1 is an upper bound. Hand-labelled real-world set (n=4) hits 1.000.</a:t>
            </a:r>
          </a:p>
          <a:p>
            <a:pPr algn="l">
              <a:spcAft>
                <a:spcPts val="600"/>
              </a:spcAft>
            </a:pPr>
            <a:r>
              <a:rPr sz="1200">
                <a:solidFill>
                  <a:srgbClr val="4A4A4A"/>
                </a:solidFill>
                <a:latin typeface="Calibri"/>
              </a:rPr>
              <a:t>•  Regex JS parser misses dynamic dispatch and eval (around 85-90% coverage).</a:t>
            </a:r>
          </a:p>
          <a:p>
            <a:pPr algn="l">
              <a:spcAft>
                <a:spcPts val="600"/>
              </a:spcAft>
            </a:pPr>
            <a:r>
              <a:rPr sz="1200">
                <a:solidFill>
                  <a:srgbClr val="4A4A4A"/>
                </a:solidFill>
                <a:latin typeface="Calibri"/>
              </a:rPr>
              <a:t>•  VULN_SYMBOL_MAP covers 10 CVEs. Production needs roughly 10K.</a:t>
            </a:r>
          </a:p>
          <a:p>
            <a:pPr algn="l">
              <a:spcAft>
                <a:spcPts val="600"/>
              </a:spcAft>
            </a:pPr>
            <a:r>
              <a:rPr sz="1200">
                <a:solidFill>
                  <a:srgbClr val="4A4A4A"/>
                </a:solidFill>
                <a:latin typeface="Calibri"/>
              </a:rPr>
              <a:t>•  Proxy label correlates with EPSS, which inflates the EPSS-rule ceiling.</a:t>
            </a:r>
          </a:p>
        </p:txBody>
      </p:sp>
      <p:sp>
        <p:nvSpPr>
          <p:cNvPr id="11" name="TextBox 10"/>
          <p:cNvSpPr txBox="1"/>
          <p:nvPr/>
        </p:nvSpPr>
        <p:spPr>
          <a:xfrm>
            <a:off x="365760" y="6492240"/>
            <a:ext cx="11460175" cy="274320"/>
          </a:xfrm>
          <a:prstGeom prst="rect">
            <a:avLst/>
          </a:prstGeom>
          <a:noFill/>
        </p:spPr>
        <p:txBody>
          <a:bodyPr wrap="none">
            <a:spAutoFit/>
          </a:bodyPr>
          <a:lstStyle/>
          <a:p>
            <a:pPr algn="l"/>
            <a:r>
              <a:rPr sz="900">
                <a:solidFill>
                  <a:srgbClr val="4A4A4A"/>
                </a:solidFill>
                <a:latin typeface="Calibri"/>
              </a:rPr>
              <a:t>Ankit Kumar Honey  |  CSCI E-222  |  Spring 2026</a:t>
            </a:r>
          </a:p>
        </p:txBody>
      </p:sp>
      <p:sp>
        <p:nvSpPr>
          <p:cNvPr id="12" name="TextBox 11"/>
          <p:cNvSpPr txBox="1"/>
          <p:nvPr/>
        </p:nvSpPr>
        <p:spPr>
          <a:xfrm>
            <a:off x="11497136" y="6492240"/>
            <a:ext cx="511679" cy="230832"/>
          </a:xfrm>
          <a:prstGeom prst="rect">
            <a:avLst/>
          </a:prstGeom>
          <a:noFill/>
        </p:spPr>
        <p:txBody>
          <a:bodyPr wrap="none">
            <a:spAutoFit/>
          </a:bodyPr>
          <a:lstStyle/>
          <a:p>
            <a:pPr algn="r"/>
            <a:r>
              <a:rPr sz="900" dirty="0">
                <a:solidFill>
                  <a:srgbClr val="4A4A4A"/>
                </a:solidFill>
                <a:latin typeface="Calibri"/>
              </a:rPr>
              <a:t>1</a:t>
            </a:r>
            <a:r>
              <a:rPr lang="en-US" sz="900" dirty="0">
                <a:solidFill>
                  <a:srgbClr val="4A4A4A"/>
                </a:solidFill>
                <a:latin typeface="Calibri"/>
              </a:rPr>
              <a:t>3</a:t>
            </a:r>
            <a:r>
              <a:rPr sz="900" dirty="0">
                <a:solidFill>
                  <a:srgbClr val="4A4A4A"/>
                </a:solidFill>
                <a:latin typeface="Calibri"/>
              </a:rPr>
              <a:t> / 1</a:t>
            </a:r>
            <a:r>
              <a:rPr lang="en-US" sz="900" dirty="0">
                <a:solidFill>
                  <a:srgbClr val="4A4A4A"/>
                </a:solidFill>
                <a:latin typeface="Calibri"/>
              </a:rPr>
              <a:t>7</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11480"/>
            <a:ext cx="6120906" cy="584775"/>
          </a:xfrm>
          <a:prstGeom prst="rect">
            <a:avLst/>
          </a:prstGeom>
          <a:noFill/>
        </p:spPr>
        <p:txBody>
          <a:bodyPr wrap="none">
            <a:spAutoFit/>
          </a:bodyPr>
          <a:lstStyle/>
          <a:p>
            <a:pPr algn="l"/>
            <a:r>
              <a:rPr sz="3200" b="1" dirty="0">
                <a:solidFill>
                  <a:srgbClr val="0070C0"/>
                </a:solidFill>
                <a:latin typeface="Garamond" panose="02020404030301010803" pitchFamily="18" charset="0"/>
                <a:ea typeface="+mj-ea"/>
                <a:cs typeface="+mj-cs"/>
              </a:rPr>
              <a:t>Future </a:t>
            </a:r>
            <a:r>
              <a:rPr lang="en-US" sz="3200" b="1" dirty="0">
                <a:solidFill>
                  <a:srgbClr val="0070C0"/>
                </a:solidFill>
                <a:latin typeface="Garamond" panose="02020404030301010803" pitchFamily="18" charset="0"/>
                <a:ea typeface="+mj-ea"/>
                <a:cs typeface="+mj-cs"/>
              </a:rPr>
              <a:t>W</a:t>
            </a:r>
            <a:r>
              <a:rPr sz="3200" b="1" dirty="0">
                <a:solidFill>
                  <a:srgbClr val="0070C0"/>
                </a:solidFill>
                <a:latin typeface="Garamond" panose="02020404030301010803" pitchFamily="18" charset="0"/>
                <a:ea typeface="+mj-ea"/>
                <a:cs typeface="+mj-cs"/>
              </a:rPr>
              <a:t>ork: </a:t>
            </a:r>
            <a:r>
              <a:rPr lang="en-US" sz="3200" b="1" dirty="0">
                <a:solidFill>
                  <a:srgbClr val="0070C0"/>
                </a:solidFill>
                <a:latin typeface="Garamond" panose="02020404030301010803" pitchFamily="18" charset="0"/>
                <a:ea typeface="+mj-ea"/>
                <a:cs typeface="+mj-cs"/>
              </a:rPr>
              <a:t>C</a:t>
            </a:r>
            <a:r>
              <a:rPr sz="3200" b="1" dirty="0">
                <a:solidFill>
                  <a:srgbClr val="0070C0"/>
                </a:solidFill>
                <a:latin typeface="Garamond" panose="02020404030301010803" pitchFamily="18" charset="0"/>
                <a:ea typeface="+mj-ea"/>
                <a:cs typeface="+mj-cs"/>
              </a:rPr>
              <a:t>oncrete </a:t>
            </a:r>
            <a:r>
              <a:rPr lang="en-US" sz="3200" b="1" dirty="0">
                <a:solidFill>
                  <a:srgbClr val="0070C0"/>
                </a:solidFill>
                <a:latin typeface="Garamond" panose="02020404030301010803" pitchFamily="18" charset="0"/>
                <a:ea typeface="+mj-ea"/>
                <a:cs typeface="+mj-cs"/>
              </a:rPr>
              <a:t>N</a:t>
            </a:r>
            <a:r>
              <a:rPr sz="3200" b="1" dirty="0">
                <a:solidFill>
                  <a:srgbClr val="0070C0"/>
                </a:solidFill>
                <a:latin typeface="Garamond" panose="02020404030301010803" pitchFamily="18" charset="0"/>
                <a:ea typeface="+mj-ea"/>
                <a:cs typeface="+mj-cs"/>
              </a:rPr>
              <a:t>ext </a:t>
            </a:r>
            <a:r>
              <a:rPr lang="en-US" sz="3200" b="1" dirty="0">
                <a:solidFill>
                  <a:srgbClr val="0070C0"/>
                </a:solidFill>
                <a:latin typeface="Garamond" panose="02020404030301010803" pitchFamily="18" charset="0"/>
                <a:ea typeface="+mj-ea"/>
                <a:cs typeface="+mj-cs"/>
              </a:rPr>
              <a:t>S</a:t>
            </a:r>
            <a:r>
              <a:rPr sz="3200" b="1" dirty="0">
                <a:solidFill>
                  <a:srgbClr val="0070C0"/>
                </a:solidFill>
                <a:latin typeface="Garamond" panose="02020404030301010803" pitchFamily="18" charset="0"/>
                <a:ea typeface="+mj-ea"/>
                <a:cs typeface="+mj-cs"/>
              </a:rPr>
              <a:t>teps</a:t>
            </a:r>
          </a:p>
        </p:txBody>
      </p:sp>
      <p:sp>
        <p:nvSpPr>
          <p:cNvPr id="4" name="TextBox 3"/>
          <p:cNvSpPr txBox="1"/>
          <p:nvPr/>
        </p:nvSpPr>
        <p:spPr>
          <a:xfrm>
            <a:off x="457200" y="960120"/>
            <a:ext cx="11247120" cy="365760"/>
          </a:xfrm>
          <a:prstGeom prst="rect">
            <a:avLst/>
          </a:prstGeom>
          <a:noFill/>
        </p:spPr>
        <p:txBody>
          <a:bodyPr wrap="none">
            <a:spAutoFit/>
          </a:bodyPr>
          <a:lstStyle/>
          <a:p>
            <a:pPr algn="l"/>
            <a:r>
              <a:rPr sz="1400" i="1">
                <a:solidFill>
                  <a:srgbClr val="B85042"/>
                </a:solidFill>
                <a:latin typeface="Calibri"/>
              </a:rPr>
              <a:t>Each item maps to a specific limitation from the previous slide.</a:t>
            </a:r>
          </a:p>
        </p:txBody>
      </p:sp>
      <p:sp>
        <p:nvSpPr>
          <p:cNvPr id="5" name="Oval 4"/>
          <p:cNvSpPr/>
          <p:nvPr/>
        </p:nvSpPr>
        <p:spPr>
          <a:xfrm>
            <a:off x="594360" y="1600200"/>
            <a:ext cx="320040" cy="32004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1</a:t>
            </a:r>
          </a:p>
        </p:txBody>
      </p:sp>
      <p:sp>
        <p:nvSpPr>
          <p:cNvPr id="6" name="TextBox 5"/>
          <p:cNvSpPr txBox="1"/>
          <p:nvPr/>
        </p:nvSpPr>
        <p:spPr>
          <a:xfrm>
            <a:off x="1051560" y="1554480"/>
            <a:ext cx="10972800" cy="365760"/>
          </a:xfrm>
          <a:prstGeom prst="rect">
            <a:avLst/>
          </a:prstGeom>
          <a:noFill/>
        </p:spPr>
        <p:txBody>
          <a:bodyPr wrap="square" lIns="25400" tIns="25400" rIns="25400" bIns="25400">
            <a:spAutoFit/>
          </a:bodyPr>
          <a:lstStyle/>
          <a:p>
            <a:pPr algn="l"/>
            <a:r>
              <a:rPr sz="1300" b="1" i="0">
                <a:solidFill>
                  <a:srgbClr val="1E2761"/>
                </a:solidFill>
                <a:latin typeface="Calibri"/>
              </a:rPr>
              <a:t>Replace the regex JS parser with tree-sitter</a:t>
            </a:r>
          </a:p>
        </p:txBody>
      </p:sp>
      <p:sp>
        <p:nvSpPr>
          <p:cNvPr id="7" name="TextBox 6"/>
          <p:cNvSpPr txBox="1"/>
          <p:nvPr/>
        </p:nvSpPr>
        <p:spPr>
          <a:xfrm>
            <a:off x="1051560" y="1874519"/>
            <a:ext cx="10972800" cy="365760"/>
          </a:xfrm>
          <a:prstGeom prst="rect">
            <a:avLst/>
          </a:prstGeom>
          <a:noFill/>
        </p:spPr>
        <p:txBody>
          <a:bodyPr wrap="square" lIns="25400" tIns="25400" rIns="25400" bIns="25400">
            <a:spAutoFit/>
          </a:bodyPr>
          <a:lstStyle/>
          <a:p>
            <a:pPr algn="l"/>
            <a:r>
              <a:rPr sz="1100" b="0" i="1">
                <a:solidFill>
                  <a:srgbClr val="4A4A4A"/>
                </a:solidFill>
                <a:latin typeface="Calibri"/>
              </a:rPr>
              <a:t>AST-level accuracy closes the dynamic-dispatch and TypeScript-generics gaps.</a:t>
            </a:r>
          </a:p>
        </p:txBody>
      </p:sp>
      <p:sp>
        <p:nvSpPr>
          <p:cNvPr id="8" name="Oval 7"/>
          <p:cNvSpPr/>
          <p:nvPr/>
        </p:nvSpPr>
        <p:spPr>
          <a:xfrm>
            <a:off x="594360" y="2350008"/>
            <a:ext cx="320040" cy="32004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2</a:t>
            </a:r>
          </a:p>
        </p:txBody>
      </p:sp>
      <p:sp>
        <p:nvSpPr>
          <p:cNvPr id="9" name="TextBox 8"/>
          <p:cNvSpPr txBox="1"/>
          <p:nvPr/>
        </p:nvSpPr>
        <p:spPr>
          <a:xfrm>
            <a:off x="1051560" y="2304288"/>
            <a:ext cx="10972800" cy="365760"/>
          </a:xfrm>
          <a:prstGeom prst="rect">
            <a:avLst/>
          </a:prstGeom>
          <a:noFill/>
        </p:spPr>
        <p:txBody>
          <a:bodyPr wrap="square" lIns="25400" tIns="25400" rIns="25400" bIns="25400">
            <a:spAutoFit/>
          </a:bodyPr>
          <a:lstStyle/>
          <a:p>
            <a:pPr algn="l"/>
            <a:r>
              <a:rPr sz="1300" b="1" i="0">
                <a:solidFill>
                  <a:srgbClr val="1E2761"/>
                </a:solidFill>
                <a:latin typeface="Calibri"/>
              </a:rPr>
              <a:t>Swap Flan-T5-large for Qwen-2.5-Coder-7B or Llama-3-8B-Instruct</a:t>
            </a:r>
          </a:p>
        </p:txBody>
      </p:sp>
      <p:sp>
        <p:nvSpPr>
          <p:cNvPr id="10" name="TextBox 9"/>
          <p:cNvSpPr txBox="1"/>
          <p:nvPr/>
        </p:nvSpPr>
        <p:spPr>
          <a:xfrm>
            <a:off x="1051560" y="2624328"/>
            <a:ext cx="10972800" cy="365760"/>
          </a:xfrm>
          <a:prstGeom prst="rect">
            <a:avLst/>
          </a:prstGeom>
          <a:noFill/>
        </p:spPr>
        <p:txBody>
          <a:bodyPr wrap="square" lIns="25400" tIns="25400" rIns="25400" bIns="25400">
            <a:spAutoFit/>
          </a:bodyPr>
          <a:lstStyle/>
          <a:p>
            <a:pPr algn="l"/>
            <a:r>
              <a:rPr sz="1100" b="0" i="1">
                <a:solidFill>
                  <a:srgbClr val="4A4A4A"/>
                </a:solidFill>
                <a:latin typeface="Calibri"/>
              </a:rPr>
              <a:t>Larger instruction-tuned models with few-shot taint examples. Direct fix for the VULN lodash miss.</a:t>
            </a:r>
          </a:p>
        </p:txBody>
      </p:sp>
      <p:sp>
        <p:nvSpPr>
          <p:cNvPr id="11" name="Oval 10"/>
          <p:cNvSpPr/>
          <p:nvPr/>
        </p:nvSpPr>
        <p:spPr>
          <a:xfrm>
            <a:off x="594360" y="3099815"/>
            <a:ext cx="320040" cy="32004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3</a:t>
            </a:r>
          </a:p>
        </p:txBody>
      </p:sp>
      <p:sp>
        <p:nvSpPr>
          <p:cNvPr id="12" name="TextBox 11"/>
          <p:cNvSpPr txBox="1"/>
          <p:nvPr/>
        </p:nvSpPr>
        <p:spPr>
          <a:xfrm>
            <a:off x="1051560" y="3054096"/>
            <a:ext cx="10972800" cy="365760"/>
          </a:xfrm>
          <a:prstGeom prst="rect">
            <a:avLst/>
          </a:prstGeom>
          <a:noFill/>
        </p:spPr>
        <p:txBody>
          <a:bodyPr wrap="square" lIns="25400" tIns="25400" rIns="25400" bIns="25400">
            <a:spAutoFit/>
          </a:bodyPr>
          <a:lstStyle/>
          <a:p>
            <a:pPr algn="l"/>
            <a:r>
              <a:rPr sz="1300" b="1" i="0">
                <a:solidFill>
                  <a:srgbClr val="1E2761"/>
                </a:solidFill>
                <a:latin typeface="Calibri"/>
              </a:rPr>
              <a:t>Add lightweight static taint analysis</a:t>
            </a:r>
          </a:p>
        </p:txBody>
      </p:sp>
      <p:sp>
        <p:nvSpPr>
          <p:cNvPr id="13" name="TextBox 12"/>
          <p:cNvSpPr txBox="1"/>
          <p:nvPr/>
        </p:nvSpPr>
        <p:spPr>
          <a:xfrm>
            <a:off x="1051560" y="3374136"/>
            <a:ext cx="10972800" cy="365760"/>
          </a:xfrm>
          <a:prstGeom prst="rect">
            <a:avLst/>
          </a:prstGeom>
          <a:noFill/>
        </p:spPr>
        <p:txBody>
          <a:bodyPr wrap="square" lIns="25400" tIns="25400" rIns="25400" bIns="25400">
            <a:spAutoFit/>
          </a:bodyPr>
          <a:lstStyle/>
          <a:p>
            <a:pPr algn="l"/>
            <a:r>
              <a:rPr sz="1100" b="0" i="1">
                <a:solidFill>
                  <a:srgbClr val="4A4A4A"/>
                </a:solidFill>
                <a:latin typeface="Calibri"/>
              </a:rPr>
              <a:t>Track sources (req.query, req.body, env) to sinks (exec, eval, template sourceURL). Removes the LLM dependency for easy taint cases.</a:t>
            </a:r>
          </a:p>
        </p:txBody>
      </p:sp>
      <p:sp>
        <p:nvSpPr>
          <p:cNvPr id="14" name="Oval 13"/>
          <p:cNvSpPr/>
          <p:nvPr/>
        </p:nvSpPr>
        <p:spPr>
          <a:xfrm>
            <a:off x="594360" y="3849624"/>
            <a:ext cx="320040" cy="32004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4</a:t>
            </a:r>
          </a:p>
        </p:txBody>
      </p:sp>
      <p:sp>
        <p:nvSpPr>
          <p:cNvPr id="15" name="TextBox 14"/>
          <p:cNvSpPr txBox="1"/>
          <p:nvPr/>
        </p:nvSpPr>
        <p:spPr>
          <a:xfrm>
            <a:off x="1051560" y="3803904"/>
            <a:ext cx="10972800" cy="365760"/>
          </a:xfrm>
          <a:prstGeom prst="rect">
            <a:avLst/>
          </a:prstGeom>
          <a:noFill/>
        </p:spPr>
        <p:txBody>
          <a:bodyPr wrap="square" lIns="25400" tIns="25400" rIns="25400" bIns="25400">
            <a:spAutoFit/>
          </a:bodyPr>
          <a:lstStyle/>
          <a:p>
            <a:pPr algn="l"/>
            <a:r>
              <a:rPr sz="1300" b="1" i="0">
                <a:solidFill>
                  <a:srgbClr val="1E2761"/>
                </a:solidFill>
                <a:latin typeface="Calibri"/>
              </a:rPr>
              <a:t>Build a real reachability oracle</a:t>
            </a:r>
          </a:p>
        </p:txBody>
      </p:sp>
      <p:sp>
        <p:nvSpPr>
          <p:cNvPr id="16" name="TextBox 15"/>
          <p:cNvSpPr txBox="1"/>
          <p:nvPr/>
        </p:nvSpPr>
        <p:spPr>
          <a:xfrm>
            <a:off x="1051560" y="4123944"/>
            <a:ext cx="10972800" cy="365760"/>
          </a:xfrm>
          <a:prstGeom prst="rect">
            <a:avLst/>
          </a:prstGeom>
          <a:noFill/>
        </p:spPr>
        <p:txBody>
          <a:bodyPr wrap="square" lIns="25400" tIns="25400" rIns="25400" bIns="25400">
            <a:spAutoFit/>
          </a:bodyPr>
          <a:lstStyle/>
          <a:p>
            <a:pPr algn="l"/>
            <a:r>
              <a:rPr sz="1100" b="0" i="1">
                <a:solidFill>
                  <a:srgbClr val="4A4A4A"/>
                </a:solidFill>
                <a:latin typeface="Calibri"/>
              </a:rPr>
              <a:t>Sample 200 to 500 advisories with public patch commits, mine the vulnerable symbol from the diff, label reachability against real consumer repos. Converts the 0.979 upper bound into a defensible production number.r.</a:t>
            </a:r>
          </a:p>
        </p:txBody>
      </p:sp>
      <p:sp>
        <p:nvSpPr>
          <p:cNvPr id="17" name="Oval 16"/>
          <p:cNvSpPr/>
          <p:nvPr/>
        </p:nvSpPr>
        <p:spPr>
          <a:xfrm>
            <a:off x="594360" y="4599431"/>
            <a:ext cx="320040" cy="32004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5</a:t>
            </a:r>
          </a:p>
        </p:txBody>
      </p:sp>
      <p:sp>
        <p:nvSpPr>
          <p:cNvPr id="18" name="TextBox 17"/>
          <p:cNvSpPr txBox="1"/>
          <p:nvPr/>
        </p:nvSpPr>
        <p:spPr>
          <a:xfrm>
            <a:off x="1051560" y="4553712"/>
            <a:ext cx="10972800" cy="365760"/>
          </a:xfrm>
          <a:prstGeom prst="rect">
            <a:avLst/>
          </a:prstGeom>
          <a:noFill/>
        </p:spPr>
        <p:txBody>
          <a:bodyPr wrap="square" lIns="25400" tIns="25400" rIns="25400" bIns="25400">
            <a:spAutoFit/>
          </a:bodyPr>
          <a:lstStyle/>
          <a:p>
            <a:pPr algn="l"/>
            <a:r>
              <a:rPr sz="1300" b="1" i="0">
                <a:solidFill>
                  <a:srgbClr val="1E2761"/>
                </a:solidFill>
                <a:latin typeface="Calibri"/>
              </a:rPr>
              <a:t>Calibrated confidence model</a:t>
            </a:r>
          </a:p>
        </p:txBody>
      </p:sp>
      <p:sp>
        <p:nvSpPr>
          <p:cNvPr id="19" name="TextBox 18"/>
          <p:cNvSpPr txBox="1"/>
          <p:nvPr/>
        </p:nvSpPr>
        <p:spPr>
          <a:xfrm>
            <a:off x="1051560" y="4873751"/>
            <a:ext cx="10972800" cy="365760"/>
          </a:xfrm>
          <a:prstGeom prst="rect">
            <a:avLst/>
          </a:prstGeom>
          <a:noFill/>
        </p:spPr>
        <p:txBody>
          <a:bodyPr wrap="square" lIns="25400" tIns="25400" rIns="25400" bIns="25400">
            <a:spAutoFit/>
          </a:bodyPr>
          <a:lstStyle/>
          <a:p>
            <a:pPr algn="l"/>
            <a:r>
              <a:rPr sz="1100" b="0" i="1">
                <a:solidFill>
                  <a:srgbClr val="4A4A4A"/>
                </a:solidFill>
                <a:latin typeface="Calibri"/>
              </a:rPr>
              <a:t>Return reachable, unreachable, or unknown with thresholded probabilities. Surface only the uncertain band to a human reviewer.</a:t>
            </a:r>
          </a:p>
        </p:txBody>
      </p:sp>
      <p:sp>
        <p:nvSpPr>
          <p:cNvPr id="20" name="Oval 19"/>
          <p:cNvSpPr/>
          <p:nvPr/>
        </p:nvSpPr>
        <p:spPr>
          <a:xfrm>
            <a:off x="594360" y="5349240"/>
            <a:ext cx="320040" cy="32004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6</a:t>
            </a:r>
          </a:p>
        </p:txBody>
      </p:sp>
      <p:sp>
        <p:nvSpPr>
          <p:cNvPr id="21" name="TextBox 20"/>
          <p:cNvSpPr txBox="1"/>
          <p:nvPr/>
        </p:nvSpPr>
        <p:spPr>
          <a:xfrm>
            <a:off x="1051560" y="5303520"/>
            <a:ext cx="10972800" cy="365760"/>
          </a:xfrm>
          <a:prstGeom prst="rect">
            <a:avLst/>
          </a:prstGeom>
          <a:noFill/>
        </p:spPr>
        <p:txBody>
          <a:bodyPr wrap="square" lIns="25400" tIns="25400" rIns="25400" bIns="25400">
            <a:spAutoFit/>
          </a:bodyPr>
          <a:lstStyle/>
          <a:p>
            <a:pPr algn="l"/>
            <a:r>
              <a:rPr sz="1300" b="1" i="0">
                <a:solidFill>
                  <a:srgbClr val="1E2761"/>
                </a:solidFill>
                <a:latin typeface="Calibri"/>
              </a:rPr>
              <a:t>LLM-extracted symbol map for 10K+ CVEs</a:t>
            </a:r>
          </a:p>
        </p:txBody>
      </p:sp>
      <p:sp>
        <p:nvSpPr>
          <p:cNvPr id="22" name="TextBox 21"/>
          <p:cNvSpPr txBox="1"/>
          <p:nvPr/>
        </p:nvSpPr>
        <p:spPr>
          <a:xfrm>
            <a:off x="1051560" y="5623559"/>
            <a:ext cx="10972800" cy="365760"/>
          </a:xfrm>
          <a:prstGeom prst="rect">
            <a:avLst/>
          </a:prstGeom>
          <a:noFill/>
        </p:spPr>
        <p:txBody>
          <a:bodyPr wrap="square" lIns="25400" tIns="25400" rIns="25400" bIns="25400">
            <a:spAutoFit/>
          </a:bodyPr>
          <a:lstStyle/>
          <a:p>
            <a:pPr algn="l"/>
            <a:r>
              <a:rPr sz="1100" b="0" i="1">
                <a:solidFill>
                  <a:srgbClr val="4A4A4A"/>
                </a:solidFill>
                <a:latin typeface="Calibri"/>
              </a:rPr>
              <a:t>Prompt for the vulnerable symbol from each patch diff, cache, manually review the low-confidence extractions.</a:t>
            </a:r>
          </a:p>
        </p:txBody>
      </p:sp>
      <p:sp>
        <p:nvSpPr>
          <p:cNvPr id="23" name="TextBox 22"/>
          <p:cNvSpPr txBox="1"/>
          <p:nvPr/>
        </p:nvSpPr>
        <p:spPr>
          <a:xfrm>
            <a:off x="365760" y="6492240"/>
            <a:ext cx="11460175" cy="274320"/>
          </a:xfrm>
          <a:prstGeom prst="rect">
            <a:avLst/>
          </a:prstGeom>
          <a:noFill/>
        </p:spPr>
        <p:txBody>
          <a:bodyPr wrap="none">
            <a:spAutoFit/>
          </a:bodyPr>
          <a:lstStyle/>
          <a:p>
            <a:pPr algn="l"/>
            <a:r>
              <a:rPr sz="900">
                <a:solidFill>
                  <a:srgbClr val="4A4A4A"/>
                </a:solidFill>
                <a:latin typeface="Calibri"/>
              </a:rPr>
              <a:t>Ankit Kumar Honey  |  CSCI E-222  |  Spring 2026</a:t>
            </a:r>
          </a:p>
        </p:txBody>
      </p:sp>
      <p:sp>
        <p:nvSpPr>
          <p:cNvPr id="24" name="TextBox 23"/>
          <p:cNvSpPr txBox="1"/>
          <p:nvPr/>
        </p:nvSpPr>
        <p:spPr>
          <a:xfrm>
            <a:off x="11497136" y="6492240"/>
            <a:ext cx="511679" cy="230832"/>
          </a:xfrm>
          <a:prstGeom prst="rect">
            <a:avLst/>
          </a:prstGeom>
          <a:noFill/>
        </p:spPr>
        <p:txBody>
          <a:bodyPr wrap="none">
            <a:spAutoFit/>
          </a:bodyPr>
          <a:lstStyle/>
          <a:p>
            <a:pPr algn="r"/>
            <a:r>
              <a:rPr sz="900" dirty="0">
                <a:solidFill>
                  <a:srgbClr val="4A4A4A"/>
                </a:solidFill>
                <a:latin typeface="Calibri"/>
              </a:rPr>
              <a:t>1</a:t>
            </a:r>
            <a:r>
              <a:rPr lang="en-US" sz="900" dirty="0">
                <a:solidFill>
                  <a:srgbClr val="4A4A4A"/>
                </a:solidFill>
                <a:latin typeface="Calibri"/>
              </a:rPr>
              <a:t>4</a:t>
            </a:r>
            <a:r>
              <a:rPr sz="900" dirty="0">
                <a:solidFill>
                  <a:srgbClr val="4A4A4A"/>
                </a:solidFill>
                <a:latin typeface="Calibri"/>
              </a:rPr>
              <a:t> / 1</a:t>
            </a:r>
            <a:r>
              <a:rPr lang="en-US" sz="900" dirty="0">
                <a:solidFill>
                  <a:srgbClr val="4A4A4A"/>
                </a:solidFill>
                <a:latin typeface="Calibri"/>
              </a:rPr>
              <a:t>7</a:t>
            </a:r>
            <a:endParaRPr sz="900" dirty="0">
              <a:solidFill>
                <a:srgbClr val="4A4A4A"/>
              </a:solidFill>
              <a:latin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11480"/>
            <a:ext cx="9343392" cy="584775"/>
          </a:xfrm>
          <a:prstGeom prst="rect">
            <a:avLst/>
          </a:prstGeom>
          <a:noFill/>
        </p:spPr>
        <p:txBody>
          <a:bodyPr wrap="none">
            <a:spAutoFit/>
          </a:bodyPr>
          <a:lstStyle/>
          <a:p>
            <a:pPr algn="l"/>
            <a:r>
              <a:rPr sz="3200" b="1" dirty="0">
                <a:solidFill>
                  <a:srgbClr val="0070C0"/>
                </a:solidFill>
                <a:latin typeface="Garamond" panose="02020404030301010803" pitchFamily="18" charset="0"/>
                <a:ea typeface="+mj-ea"/>
                <a:cs typeface="+mj-cs"/>
              </a:rPr>
              <a:t>Reproducibility: </a:t>
            </a:r>
            <a:r>
              <a:rPr lang="en-US" sz="3200" b="1" dirty="0">
                <a:solidFill>
                  <a:srgbClr val="0070C0"/>
                </a:solidFill>
                <a:latin typeface="Garamond" panose="02020404030301010803" pitchFamily="18" charset="0"/>
                <a:ea typeface="+mj-ea"/>
                <a:cs typeface="+mj-cs"/>
              </a:rPr>
              <a:t>C</a:t>
            </a:r>
            <a:r>
              <a:rPr sz="3200" b="1" dirty="0">
                <a:solidFill>
                  <a:srgbClr val="0070C0"/>
                </a:solidFill>
                <a:latin typeface="Garamond" panose="02020404030301010803" pitchFamily="18" charset="0"/>
                <a:ea typeface="+mj-ea"/>
                <a:cs typeface="+mj-cs"/>
              </a:rPr>
              <a:t>lone, </a:t>
            </a:r>
            <a:r>
              <a:rPr lang="en-US" sz="3200" b="1" dirty="0">
                <a:solidFill>
                  <a:srgbClr val="0070C0"/>
                </a:solidFill>
                <a:latin typeface="Garamond" panose="02020404030301010803" pitchFamily="18" charset="0"/>
                <a:ea typeface="+mj-ea"/>
                <a:cs typeface="+mj-cs"/>
              </a:rPr>
              <a:t>R</a:t>
            </a:r>
            <a:r>
              <a:rPr sz="3200" b="1" dirty="0">
                <a:solidFill>
                  <a:srgbClr val="0070C0"/>
                </a:solidFill>
                <a:latin typeface="Garamond" panose="02020404030301010803" pitchFamily="18" charset="0"/>
                <a:ea typeface="+mj-ea"/>
                <a:cs typeface="+mj-cs"/>
              </a:rPr>
              <a:t>un, </a:t>
            </a:r>
            <a:r>
              <a:rPr lang="en-US" sz="3200" b="1" dirty="0">
                <a:solidFill>
                  <a:srgbClr val="0070C0"/>
                </a:solidFill>
                <a:latin typeface="Garamond" panose="02020404030301010803" pitchFamily="18" charset="0"/>
                <a:ea typeface="+mj-ea"/>
                <a:cs typeface="+mj-cs"/>
              </a:rPr>
              <a:t>G</a:t>
            </a:r>
            <a:r>
              <a:rPr sz="3200" b="1" dirty="0">
                <a:solidFill>
                  <a:srgbClr val="0070C0"/>
                </a:solidFill>
                <a:latin typeface="Garamond" panose="02020404030301010803" pitchFamily="18" charset="0"/>
                <a:ea typeface="+mj-ea"/>
                <a:cs typeface="+mj-cs"/>
              </a:rPr>
              <a:t>et the </a:t>
            </a:r>
            <a:r>
              <a:rPr lang="en-US" sz="3200" b="1" dirty="0">
                <a:solidFill>
                  <a:srgbClr val="0070C0"/>
                </a:solidFill>
                <a:latin typeface="Garamond" panose="02020404030301010803" pitchFamily="18" charset="0"/>
                <a:ea typeface="+mj-ea"/>
                <a:cs typeface="+mj-cs"/>
              </a:rPr>
              <a:t>S</a:t>
            </a:r>
            <a:r>
              <a:rPr sz="3200" b="1" dirty="0">
                <a:solidFill>
                  <a:srgbClr val="0070C0"/>
                </a:solidFill>
                <a:latin typeface="Garamond" panose="02020404030301010803" pitchFamily="18" charset="0"/>
                <a:ea typeface="+mj-ea"/>
                <a:cs typeface="+mj-cs"/>
              </a:rPr>
              <a:t>ame </a:t>
            </a:r>
            <a:r>
              <a:rPr lang="en-US" sz="3200" b="1" dirty="0">
                <a:solidFill>
                  <a:srgbClr val="0070C0"/>
                </a:solidFill>
                <a:latin typeface="Garamond" panose="02020404030301010803" pitchFamily="18" charset="0"/>
                <a:ea typeface="+mj-ea"/>
                <a:cs typeface="+mj-cs"/>
              </a:rPr>
              <a:t>N</a:t>
            </a:r>
            <a:r>
              <a:rPr sz="3200" b="1" dirty="0">
                <a:solidFill>
                  <a:srgbClr val="0070C0"/>
                </a:solidFill>
                <a:latin typeface="Garamond" panose="02020404030301010803" pitchFamily="18" charset="0"/>
                <a:ea typeface="+mj-ea"/>
                <a:cs typeface="+mj-cs"/>
              </a:rPr>
              <a:t>umbers</a:t>
            </a:r>
          </a:p>
        </p:txBody>
      </p:sp>
      <p:sp>
        <p:nvSpPr>
          <p:cNvPr id="4" name="TextBox 3"/>
          <p:cNvSpPr txBox="1"/>
          <p:nvPr/>
        </p:nvSpPr>
        <p:spPr>
          <a:xfrm>
            <a:off x="457200" y="960120"/>
            <a:ext cx="11247120" cy="365760"/>
          </a:xfrm>
          <a:prstGeom prst="rect">
            <a:avLst/>
          </a:prstGeom>
          <a:noFill/>
        </p:spPr>
        <p:txBody>
          <a:bodyPr wrap="none">
            <a:spAutoFit/>
          </a:bodyPr>
          <a:lstStyle/>
          <a:p>
            <a:pPr algn="l"/>
            <a:r>
              <a:rPr sz="1400" i="1">
                <a:solidFill>
                  <a:srgbClr val="B85042"/>
                </a:solidFill>
                <a:latin typeface="Calibri"/>
              </a:rPr>
              <a:t>All code public. All datasets public. All seeds fixed.</a:t>
            </a:r>
          </a:p>
        </p:txBody>
      </p:sp>
      <p:sp>
        <p:nvSpPr>
          <p:cNvPr id="5" name="TextBox 4"/>
          <p:cNvSpPr txBox="1"/>
          <p:nvPr/>
        </p:nvSpPr>
        <p:spPr>
          <a:xfrm>
            <a:off x="548640" y="1554480"/>
            <a:ext cx="10972800" cy="365760"/>
          </a:xfrm>
          <a:prstGeom prst="rect">
            <a:avLst/>
          </a:prstGeom>
          <a:noFill/>
        </p:spPr>
        <p:txBody>
          <a:bodyPr wrap="square" lIns="25400" tIns="25400" rIns="25400" bIns="25400">
            <a:spAutoFit/>
          </a:bodyPr>
          <a:lstStyle/>
          <a:p>
            <a:pPr algn="l"/>
            <a:r>
              <a:rPr sz="1300" b="1" i="0">
                <a:solidFill>
                  <a:srgbClr val="1E2761"/>
                </a:solidFill>
                <a:latin typeface="Calibri"/>
              </a:rPr>
              <a:t>Option A, Google Colab (recommended)</a:t>
            </a:r>
          </a:p>
        </p:txBody>
      </p:sp>
      <p:sp>
        <p:nvSpPr>
          <p:cNvPr id="6" name="Rectangle 5"/>
          <p:cNvSpPr/>
          <p:nvPr/>
        </p:nvSpPr>
        <p:spPr>
          <a:xfrm>
            <a:off x="548640" y="1965960"/>
            <a:ext cx="11338560" cy="868680"/>
          </a:xfrm>
          <a:prstGeom prst="rect">
            <a:avLst/>
          </a:prstGeom>
          <a:solidFill>
            <a:srgbClr val="2129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2057400"/>
            <a:ext cx="11064240" cy="685800"/>
          </a:xfrm>
          <a:prstGeom prst="rect">
            <a:avLst/>
          </a:prstGeom>
          <a:noFill/>
        </p:spPr>
        <p:txBody>
          <a:bodyPr wrap="square">
            <a:spAutoFit/>
          </a:bodyPr>
          <a:lstStyle/>
          <a:p>
            <a:pPr algn="l">
              <a:spcAft>
                <a:spcPts val="0"/>
              </a:spcAft>
            </a:pPr>
            <a:r>
              <a:rPr sz="1000">
                <a:solidFill>
                  <a:srgbClr val="FFFFFF"/>
                </a:solidFill>
                <a:latin typeface="Consolas"/>
              </a:rPr>
              <a:t>1. Open notebooks/FalsePositive_SupplyChain_Honey.ipynb via the GitHub badge</a:t>
            </a:r>
          </a:p>
          <a:p>
            <a:pPr algn="l">
              <a:spcAft>
                <a:spcPts val="0"/>
              </a:spcAft>
            </a:pPr>
            <a:r>
              <a:rPr sz="1000">
                <a:solidFill>
                  <a:srgbClr val="FFFFFF"/>
                </a:solidFill>
                <a:latin typeface="Consolas"/>
              </a:rPr>
              <a:t>2. Runtime &gt; Change runtime type &gt; A100 GPU</a:t>
            </a:r>
          </a:p>
          <a:p>
            <a:pPr algn="l">
              <a:spcAft>
                <a:spcPts val="0"/>
              </a:spcAft>
            </a:pPr>
            <a:r>
              <a:rPr sz="1000">
                <a:solidFill>
                  <a:srgbClr val="FFFFFF"/>
                </a:solidFill>
                <a:latin typeface="Consolas"/>
              </a:rPr>
              <a:t>3. Runtime &gt; Run all  (around 5 min synthetic, around 25 min real on A100)</a:t>
            </a:r>
          </a:p>
        </p:txBody>
      </p:sp>
      <p:sp>
        <p:nvSpPr>
          <p:cNvPr id="8" name="TextBox 7"/>
          <p:cNvSpPr txBox="1"/>
          <p:nvPr/>
        </p:nvSpPr>
        <p:spPr>
          <a:xfrm>
            <a:off x="548640" y="3017520"/>
            <a:ext cx="10972800" cy="365760"/>
          </a:xfrm>
          <a:prstGeom prst="rect">
            <a:avLst/>
          </a:prstGeom>
          <a:noFill/>
        </p:spPr>
        <p:txBody>
          <a:bodyPr wrap="square" lIns="25400" tIns="25400" rIns="25400" bIns="25400">
            <a:spAutoFit/>
          </a:bodyPr>
          <a:lstStyle/>
          <a:p>
            <a:pPr algn="l"/>
            <a:r>
              <a:rPr sz="1300" b="1" i="0">
                <a:solidFill>
                  <a:srgbClr val="1E2761"/>
                </a:solidFill>
                <a:latin typeface="Calibri"/>
              </a:rPr>
              <a:t>Option B, local</a:t>
            </a:r>
          </a:p>
        </p:txBody>
      </p:sp>
      <p:sp>
        <p:nvSpPr>
          <p:cNvPr id="9" name="Rectangle 8"/>
          <p:cNvSpPr/>
          <p:nvPr/>
        </p:nvSpPr>
        <p:spPr>
          <a:xfrm>
            <a:off x="548640" y="3429000"/>
            <a:ext cx="11338560" cy="1097280"/>
          </a:xfrm>
          <a:prstGeom prst="rect">
            <a:avLst/>
          </a:prstGeom>
          <a:solidFill>
            <a:srgbClr val="2129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5800" y="3520440"/>
            <a:ext cx="11064240" cy="914400"/>
          </a:xfrm>
          <a:prstGeom prst="rect">
            <a:avLst/>
          </a:prstGeom>
          <a:noFill/>
        </p:spPr>
        <p:txBody>
          <a:bodyPr wrap="square">
            <a:spAutoFit/>
          </a:bodyPr>
          <a:lstStyle/>
          <a:p>
            <a:pPr algn="l">
              <a:spcAft>
                <a:spcPts val="0"/>
              </a:spcAft>
            </a:pPr>
            <a:r>
              <a:rPr sz="1000">
                <a:solidFill>
                  <a:srgbClr val="FFFFFF"/>
                </a:solidFill>
                <a:latin typeface="Consolas"/>
              </a:rPr>
              <a:t>git clone https://github.com/honeyankit/reachability-llm</a:t>
            </a:r>
          </a:p>
          <a:p>
            <a:pPr algn="l">
              <a:spcAft>
                <a:spcPts val="0"/>
              </a:spcAft>
            </a:pPr>
            <a:r>
              <a:rPr sz="1000">
                <a:solidFill>
                  <a:srgbClr val="FFFFFF"/>
                </a:solidFill>
                <a:latin typeface="Consolas"/>
              </a:rPr>
              <a:t>cd reachability-llm</a:t>
            </a:r>
          </a:p>
          <a:p>
            <a:pPr algn="l">
              <a:spcAft>
                <a:spcPts val="0"/>
              </a:spcAft>
            </a:pPr>
            <a:r>
              <a:rPr sz="1000">
                <a:solidFill>
                  <a:srgbClr val="FFFFFF"/>
                </a:solidFill>
                <a:latin typeface="Consolas"/>
              </a:rPr>
              <a:t>python -m venv .venv &amp;&amp; source .venv/bin/activate</a:t>
            </a:r>
          </a:p>
          <a:p>
            <a:pPr algn="l">
              <a:spcAft>
                <a:spcPts val="0"/>
              </a:spcAft>
            </a:pPr>
            <a:r>
              <a:rPr sz="1000">
                <a:solidFill>
                  <a:srgbClr val="FFFFFF"/>
                </a:solidFill>
                <a:latin typeface="Consolas"/>
              </a:rPr>
              <a:t>pip install -r requirements.txt</a:t>
            </a:r>
          </a:p>
          <a:p>
            <a:pPr algn="l">
              <a:spcAft>
                <a:spcPts val="0"/>
              </a:spcAft>
            </a:pPr>
            <a:r>
              <a:rPr sz="1000">
                <a:solidFill>
                  <a:srgbClr val="FFFFFF"/>
                </a:solidFill>
                <a:latin typeface="Consolas"/>
              </a:rPr>
              <a:t>pytest -q                          # 15 tests, ~3 seconds</a:t>
            </a:r>
          </a:p>
        </p:txBody>
      </p:sp>
      <p:sp>
        <p:nvSpPr>
          <p:cNvPr id="11" name="TextBox 10"/>
          <p:cNvSpPr txBox="1"/>
          <p:nvPr/>
        </p:nvSpPr>
        <p:spPr>
          <a:xfrm>
            <a:off x="548640" y="4754880"/>
            <a:ext cx="10972800" cy="365760"/>
          </a:xfrm>
          <a:prstGeom prst="rect">
            <a:avLst/>
          </a:prstGeom>
          <a:noFill/>
        </p:spPr>
        <p:txBody>
          <a:bodyPr wrap="square" lIns="25400" tIns="25400" rIns="25400" bIns="25400">
            <a:spAutoFit/>
          </a:bodyPr>
          <a:lstStyle/>
          <a:p>
            <a:pPr algn="l"/>
            <a:r>
              <a:rPr sz="1300" b="1" i="0">
                <a:solidFill>
                  <a:srgbClr val="1E2761"/>
                </a:solidFill>
                <a:latin typeface="Calibri"/>
              </a:rPr>
              <a:t>Datasets</a:t>
            </a:r>
          </a:p>
        </p:txBody>
      </p:sp>
      <p:sp>
        <p:nvSpPr>
          <p:cNvPr id="12" name="TextBox 11"/>
          <p:cNvSpPr txBox="1"/>
          <p:nvPr/>
        </p:nvSpPr>
        <p:spPr>
          <a:xfrm>
            <a:off x="548640" y="5074920"/>
            <a:ext cx="11430000" cy="914400"/>
          </a:xfrm>
          <a:prstGeom prst="rect">
            <a:avLst/>
          </a:prstGeom>
          <a:noFill/>
        </p:spPr>
        <p:txBody>
          <a:bodyPr wrap="square" lIns="25400" rIns="25400">
            <a:spAutoFit/>
          </a:bodyPr>
          <a:lstStyle/>
          <a:p>
            <a:pPr algn="l">
              <a:spcAft>
                <a:spcPts val="600"/>
              </a:spcAft>
            </a:pPr>
            <a:r>
              <a:rPr sz="1200">
                <a:solidFill>
                  <a:srgbClr val="4A4A4A"/>
                </a:solidFill>
                <a:latin typeface="Calibri"/>
              </a:rPr>
              <a:t>•  github/advisory-database, shallow-clone (~400 MB), auto-downloaded on first run.</a:t>
            </a:r>
          </a:p>
          <a:p>
            <a:pPr algn="l">
              <a:spcAft>
                <a:spcPts val="600"/>
              </a:spcAft>
            </a:pPr>
            <a:r>
              <a:rPr sz="1200">
                <a:solidFill>
                  <a:srgbClr val="4A4A4A"/>
                </a:solidFill>
                <a:latin typeface="Calibri"/>
              </a:rPr>
              <a:t>•  FIRST EPSS, daily CSV, auto-downloaded. Cached to Drive in Colab.</a:t>
            </a:r>
          </a:p>
        </p:txBody>
      </p:sp>
      <p:sp>
        <p:nvSpPr>
          <p:cNvPr id="13" name="TextBox 12"/>
          <p:cNvSpPr txBox="1"/>
          <p:nvPr/>
        </p:nvSpPr>
        <p:spPr>
          <a:xfrm>
            <a:off x="365760" y="6492240"/>
            <a:ext cx="11460175" cy="274320"/>
          </a:xfrm>
          <a:prstGeom prst="rect">
            <a:avLst/>
          </a:prstGeom>
          <a:noFill/>
        </p:spPr>
        <p:txBody>
          <a:bodyPr wrap="none">
            <a:spAutoFit/>
          </a:bodyPr>
          <a:lstStyle/>
          <a:p>
            <a:pPr algn="l"/>
            <a:r>
              <a:rPr sz="900" dirty="0">
                <a:solidFill>
                  <a:srgbClr val="4A4A4A"/>
                </a:solidFill>
                <a:latin typeface="Calibri"/>
              </a:rPr>
              <a:t>Ankit Kumar Honey  |  CSCI E-222  |  Spring 2026</a:t>
            </a:r>
          </a:p>
        </p:txBody>
      </p:sp>
      <p:sp>
        <p:nvSpPr>
          <p:cNvPr id="14" name="TextBox 13"/>
          <p:cNvSpPr txBox="1"/>
          <p:nvPr/>
        </p:nvSpPr>
        <p:spPr>
          <a:xfrm>
            <a:off x="11497136" y="6492240"/>
            <a:ext cx="511679" cy="230832"/>
          </a:xfrm>
          <a:prstGeom prst="rect">
            <a:avLst/>
          </a:prstGeom>
          <a:noFill/>
        </p:spPr>
        <p:txBody>
          <a:bodyPr wrap="none">
            <a:spAutoFit/>
          </a:bodyPr>
          <a:lstStyle/>
          <a:p>
            <a:pPr algn="r"/>
            <a:r>
              <a:rPr sz="900" dirty="0">
                <a:solidFill>
                  <a:srgbClr val="4A4A4A"/>
                </a:solidFill>
                <a:latin typeface="Calibri"/>
              </a:rPr>
              <a:t>1</a:t>
            </a:r>
            <a:r>
              <a:rPr lang="en-US" sz="900" dirty="0">
                <a:solidFill>
                  <a:srgbClr val="4A4A4A"/>
                </a:solidFill>
                <a:latin typeface="Calibri"/>
              </a:rPr>
              <a:t>5</a:t>
            </a:r>
            <a:r>
              <a:rPr sz="900" dirty="0">
                <a:solidFill>
                  <a:srgbClr val="4A4A4A"/>
                </a:solidFill>
                <a:latin typeface="Calibri"/>
              </a:rPr>
              <a:t> / 1</a:t>
            </a:r>
            <a:r>
              <a:rPr lang="en-US" sz="900" dirty="0">
                <a:solidFill>
                  <a:srgbClr val="4A4A4A"/>
                </a:solidFill>
                <a:latin typeface="Calibri"/>
              </a:rPr>
              <a:t>7</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B0DDB7-7AD4-DA87-54C8-FF6C6FD55365}"/>
            </a:ext>
          </a:extLst>
        </p:cNvPr>
        <p:cNvGrpSpPr/>
        <p:nvPr/>
      </p:nvGrpSpPr>
      <p:grpSpPr>
        <a:xfrm>
          <a:off x="0" y="0"/>
          <a:ext cx="0" cy="0"/>
          <a:chOff x="0" y="0"/>
          <a:chExt cx="0" cy="0"/>
        </a:xfrm>
      </p:grpSpPr>
      <p:sp>
        <p:nvSpPr>
          <p:cNvPr id="17" name="TextBox 16">
            <a:extLst>
              <a:ext uri="{FF2B5EF4-FFF2-40B4-BE49-F238E27FC236}">
                <a16:creationId xmlns:a16="http://schemas.microsoft.com/office/drawing/2014/main" id="{7965BC4F-4ECA-F3A5-67FE-36C69C69895F}"/>
              </a:ext>
            </a:extLst>
          </p:cNvPr>
          <p:cNvSpPr txBox="1"/>
          <p:nvPr/>
        </p:nvSpPr>
        <p:spPr>
          <a:xfrm>
            <a:off x="457200" y="411480"/>
            <a:ext cx="3491661" cy="584775"/>
          </a:xfrm>
          <a:prstGeom prst="rect">
            <a:avLst/>
          </a:prstGeom>
          <a:noFill/>
        </p:spPr>
        <p:txBody>
          <a:bodyPr wrap="none">
            <a:spAutoFit/>
          </a:bodyPr>
          <a:lstStyle/>
          <a:p>
            <a:pPr algn="l"/>
            <a:r>
              <a:rPr lang="en-US" sz="3200" b="1" dirty="0">
                <a:solidFill>
                  <a:srgbClr val="0070C0"/>
                </a:solidFill>
                <a:latin typeface="Garamond" panose="02020404030301010803" pitchFamily="18" charset="0"/>
                <a:ea typeface="+mj-ea"/>
                <a:cs typeface="+mj-cs"/>
              </a:rPr>
              <a:t>Video Presentation</a:t>
            </a:r>
            <a:endParaRPr sz="3200" b="1" dirty="0">
              <a:solidFill>
                <a:srgbClr val="0070C0"/>
              </a:solidFill>
              <a:latin typeface="Garamond" panose="02020404030301010803" pitchFamily="18" charset="0"/>
              <a:ea typeface="+mj-ea"/>
              <a:cs typeface="+mj-cs"/>
            </a:endParaRPr>
          </a:p>
        </p:txBody>
      </p:sp>
      <p:sp>
        <p:nvSpPr>
          <p:cNvPr id="19" name="TextBox 18">
            <a:extLst>
              <a:ext uri="{FF2B5EF4-FFF2-40B4-BE49-F238E27FC236}">
                <a16:creationId xmlns:a16="http://schemas.microsoft.com/office/drawing/2014/main" id="{F85866FC-7087-58A7-3E70-EF3B00D4BD14}"/>
              </a:ext>
            </a:extLst>
          </p:cNvPr>
          <p:cNvSpPr txBox="1"/>
          <p:nvPr/>
        </p:nvSpPr>
        <p:spPr>
          <a:xfrm>
            <a:off x="365760" y="6492240"/>
            <a:ext cx="11460175" cy="274320"/>
          </a:xfrm>
          <a:prstGeom prst="rect">
            <a:avLst/>
          </a:prstGeom>
          <a:noFill/>
        </p:spPr>
        <p:txBody>
          <a:bodyPr wrap="none">
            <a:spAutoFit/>
          </a:bodyPr>
          <a:lstStyle/>
          <a:p>
            <a:pPr algn="l"/>
            <a:r>
              <a:rPr sz="900" dirty="0">
                <a:solidFill>
                  <a:srgbClr val="4A4A4A"/>
                </a:solidFill>
                <a:latin typeface="Calibri"/>
              </a:rPr>
              <a:t>Ankit Kumar Honey  |  CSCI E-222  |  Spring 2026</a:t>
            </a:r>
          </a:p>
        </p:txBody>
      </p:sp>
      <p:sp>
        <p:nvSpPr>
          <p:cNvPr id="20" name="TextBox 19">
            <a:extLst>
              <a:ext uri="{FF2B5EF4-FFF2-40B4-BE49-F238E27FC236}">
                <a16:creationId xmlns:a16="http://schemas.microsoft.com/office/drawing/2014/main" id="{CD6E45FD-16DD-E783-58BC-2C10C0E0CB88}"/>
              </a:ext>
            </a:extLst>
          </p:cNvPr>
          <p:cNvSpPr txBox="1"/>
          <p:nvPr/>
        </p:nvSpPr>
        <p:spPr>
          <a:xfrm>
            <a:off x="11497136" y="6492240"/>
            <a:ext cx="511679" cy="230832"/>
          </a:xfrm>
          <a:prstGeom prst="rect">
            <a:avLst/>
          </a:prstGeom>
          <a:noFill/>
        </p:spPr>
        <p:txBody>
          <a:bodyPr wrap="none">
            <a:spAutoFit/>
          </a:bodyPr>
          <a:lstStyle/>
          <a:p>
            <a:pPr algn="r"/>
            <a:r>
              <a:rPr sz="900" dirty="0">
                <a:solidFill>
                  <a:srgbClr val="4A4A4A"/>
                </a:solidFill>
                <a:latin typeface="Calibri"/>
              </a:rPr>
              <a:t>1</a:t>
            </a:r>
            <a:r>
              <a:rPr lang="en-US" sz="900" dirty="0">
                <a:solidFill>
                  <a:srgbClr val="4A4A4A"/>
                </a:solidFill>
                <a:latin typeface="Calibri"/>
              </a:rPr>
              <a:t>6</a:t>
            </a:r>
            <a:r>
              <a:rPr sz="900" dirty="0">
                <a:solidFill>
                  <a:srgbClr val="4A4A4A"/>
                </a:solidFill>
                <a:latin typeface="Calibri"/>
              </a:rPr>
              <a:t> / 1</a:t>
            </a:r>
            <a:r>
              <a:rPr lang="en-US" sz="900" dirty="0">
                <a:solidFill>
                  <a:srgbClr val="4A4A4A"/>
                </a:solidFill>
                <a:latin typeface="Calibri"/>
              </a:rPr>
              <a:t>7</a:t>
            </a:r>
          </a:p>
        </p:txBody>
      </p:sp>
      <p:sp>
        <p:nvSpPr>
          <p:cNvPr id="2" name="TextBox 1">
            <a:extLst>
              <a:ext uri="{FF2B5EF4-FFF2-40B4-BE49-F238E27FC236}">
                <a16:creationId xmlns:a16="http://schemas.microsoft.com/office/drawing/2014/main" id="{54A04D2C-9697-FBF2-C138-423333A7594C}"/>
              </a:ext>
            </a:extLst>
          </p:cNvPr>
          <p:cNvSpPr txBox="1"/>
          <p:nvPr/>
        </p:nvSpPr>
        <p:spPr>
          <a:xfrm>
            <a:off x="616474" y="2537460"/>
            <a:ext cx="3332387" cy="369332"/>
          </a:xfrm>
          <a:prstGeom prst="rect">
            <a:avLst/>
          </a:prstGeom>
          <a:noFill/>
        </p:spPr>
        <p:txBody>
          <a:bodyPr wrap="none" rtlCol="0">
            <a:spAutoFit/>
          </a:bodyPr>
          <a:lstStyle/>
          <a:p>
            <a:r>
              <a:rPr lang="en-US" dirty="0">
                <a:hlinkClick r:id="rId3"/>
              </a:rPr>
              <a:t>FalsePostivie SupplyChain Demo</a:t>
            </a:r>
            <a:endParaRPr lang="en-US" dirty="0"/>
          </a:p>
        </p:txBody>
      </p:sp>
    </p:spTree>
    <p:extLst>
      <p:ext uri="{BB962C8B-B14F-4D97-AF65-F5344CB8AC3E}">
        <p14:creationId xmlns:p14="http://schemas.microsoft.com/office/powerpoint/2010/main" val="42559462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7467EB-973E-3723-993D-BFF54A684E62}"/>
            </a:ext>
          </a:extLst>
        </p:cNvPr>
        <p:cNvGrpSpPr/>
        <p:nvPr/>
      </p:nvGrpSpPr>
      <p:grpSpPr>
        <a:xfrm>
          <a:off x="0" y="0"/>
          <a:ext cx="0" cy="0"/>
          <a:chOff x="0" y="0"/>
          <a:chExt cx="0" cy="0"/>
        </a:xfrm>
      </p:grpSpPr>
      <p:sp>
        <p:nvSpPr>
          <p:cNvPr id="17" name="TextBox 16">
            <a:extLst>
              <a:ext uri="{FF2B5EF4-FFF2-40B4-BE49-F238E27FC236}">
                <a16:creationId xmlns:a16="http://schemas.microsoft.com/office/drawing/2014/main" id="{29462D86-4F2E-D2ED-B632-AFDAEB86C533}"/>
              </a:ext>
            </a:extLst>
          </p:cNvPr>
          <p:cNvSpPr txBox="1"/>
          <p:nvPr/>
        </p:nvSpPr>
        <p:spPr>
          <a:xfrm>
            <a:off x="3898900" y="2844225"/>
            <a:ext cx="3122265" cy="861774"/>
          </a:xfrm>
          <a:prstGeom prst="rect">
            <a:avLst/>
          </a:prstGeom>
          <a:noFill/>
        </p:spPr>
        <p:txBody>
          <a:bodyPr wrap="none">
            <a:spAutoFit/>
          </a:bodyPr>
          <a:lstStyle/>
          <a:p>
            <a:pPr algn="l"/>
            <a:r>
              <a:rPr lang="en-US" sz="5000" b="1" dirty="0">
                <a:solidFill>
                  <a:srgbClr val="0070C0"/>
                </a:solidFill>
                <a:latin typeface="Garamond" panose="02020404030301010803" pitchFamily="18" charset="0"/>
                <a:ea typeface="+mj-ea"/>
                <a:cs typeface="+mj-cs"/>
              </a:rPr>
              <a:t>Thank you</a:t>
            </a:r>
            <a:endParaRPr sz="5000" b="1" dirty="0">
              <a:solidFill>
                <a:srgbClr val="0070C0"/>
              </a:solidFill>
              <a:latin typeface="Garamond" panose="02020404030301010803" pitchFamily="18" charset="0"/>
              <a:ea typeface="+mj-ea"/>
              <a:cs typeface="+mj-cs"/>
            </a:endParaRPr>
          </a:p>
        </p:txBody>
      </p:sp>
      <p:sp>
        <p:nvSpPr>
          <p:cNvPr id="19" name="TextBox 18">
            <a:extLst>
              <a:ext uri="{FF2B5EF4-FFF2-40B4-BE49-F238E27FC236}">
                <a16:creationId xmlns:a16="http://schemas.microsoft.com/office/drawing/2014/main" id="{4737EA31-2CA0-00E7-4C29-68C1D4B0C897}"/>
              </a:ext>
            </a:extLst>
          </p:cNvPr>
          <p:cNvSpPr txBox="1"/>
          <p:nvPr/>
        </p:nvSpPr>
        <p:spPr>
          <a:xfrm>
            <a:off x="365760" y="6492240"/>
            <a:ext cx="11460175" cy="274320"/>
          </a:xfrm>
          <a:prstGeom prst="rect">
            <a:avLst/>
          </a:prstGeom>
          <a:noFill/>
        </p:spPr>
        <p:txBody>
          <a:bodyPr wrap="none">
            <a:spAutoFit/>
          </a:bodyPr>
          <a:lstStyle/>
          <a:p>
            <a:pPr algn="l"/>
            <a:r>
              <a:rPr sz="900" dirty="0">
                <a:solidFill>
                  <a:srgbClr val="4A4A4A"/>
                </a:solidFill>
                <a:latin typeface="Calibri"/>
              </a:rPr>
              <a:t>Ankit Kumar Honey  |  CSCI E-222  |  Spring 2026</a:t>
            </a:r>
          </a:p>
        </p:txBody>
      </p:sp>
      <p:sp>
        <p:nvSpPr>
          <p:cNvPr id="2" name="TextBox 1">
            <a:extLst>
              <a:ext uri="{FF2B5EF4-FFF2-40B4-BE49-F238E27FC236}">
                <a16:creationId xmlns:a16="http://schemas.microsoft.com/office/drawing/2014/main" id="{AEA73884-1297-477D-7597-10E78BA1BD3B}"/>
              </a:ext>
            </a:extLst>
          </p:cNvPr>
          <p:cNvSpPr txBox="1"/>
          <p:nvPr/>
        </p:nvSpPr>
        <p:spPr>
          <a:xfrm>
            <a:off x="11497136" y="6492240"/>
            <a:ext cx="511679" cy="230832"/>
          </a:xfrm>
          <a:prstGeom prst="rect">
            <a:avLst/>
          </a:prstGeom>
          <a:noFill/>
        </p:spPr>
        <p:txBody>
          <a:bodyPr wrap="none">
            <a:spAutoFit/>
          </a:bodyPr>
          <a:lstStyle/>
          <a:p>
            <a:pPr algn="r"/>
            <a:r>
              <a:rPr sz="900" dirty="0">
                <a:solidFill>
                  <a:srgbClr val="4A4A4A"/>
                </a:solidFill>
                <a:latin typeface="Calibri"/>
              </a:rPr>
              <a:t>1</a:t>
            </a:r>
            <a:r>
              <a:rPr lang="en-US" sz="900" dirty="0">
                <a:solidFill>
                  <a:srgbClr val="4A4A4A"/>
                </a:solidFill>
                <a:latin typeface="Calibri"/>
              </a:rPr>
              <a:t>7</a:t>
            </a:r>
            <a:r>
              <a:rPr sz="900" dirty="0">
                <a:solidFill>
                  <a:srgbClr val="4A4A4A"/>
                </a:solidFill>
                <a:latin typeface="Calibri"/>
              </a:rPr>
              <a:t> / 1</a:t>
            </a:r>
            <a:r>
              <a:rPr lang="en-US" sz="900" dirty="0">
                <a:solidFill>
                  <a:srgbClr val="4A4A4A"/>
                </a:solidFill>
                <a:latin typeface="Calibri"/>
              </a:rPr>
              <a:t>7</a:t>
            </a:r>
          </a:p>
        </p:txBody>
      </p:sp>
    </p:spTree>
    <p:extLst>
      <p:ext uri="{BB962C8B-B14F-4D97-AF65-F5344CB8AC3E}">
        <p14:creationId xmlns:p14="http://schemas.microsoft.com/office/powerpoint/2010/main" val="49768466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981</TotalTime>
  <Words>4809</Words>
  <Application>Microsoft Macintosh PowerPoint</Application>
  <PresentationFormat>Widescreen</PresentationFormat>
  <Paragraphs>335</Paragraphs>
  <Slides>17</Slides>
  <Notes>17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Arial</vt:lpstr>
      <vt:lpstr>Calibri</vt:lpstr>
      <vt:lpstr>Consolas</vt:lpstr>
      <vt:lpstr>Garamond</vt:lpstr>
      <vt:lpstr>Times New Roman</vt:lpstr>
      <vt:lpstr>Office Theme</vt:lpstr>
      <vt:lpstr>Reducing Alert Fatigue  Final Project  Reducing Alert Fatigue LLM-Based False Positive Detection in Software
Supply Chain Security Vulnerability Alerts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Ankit Kumar Honey</cp:lastModifiedBy>
  <cp:revision>29</cp:revision>
  <dcterms:created xsi:type="dcterms:W3CDTF">2013-01-27T09:14:16Z</dcterms:created>
  <dcterms:modified xsi:type="dcterms:W3CDTF">2026-05-17T03:25:11Z</dcterms:modified>
  <cp:category/>
</cp:coreProperties>
</file>