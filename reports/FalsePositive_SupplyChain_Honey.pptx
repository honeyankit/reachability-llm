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300" b="1" i="0">
                <a:solidFill>
                  <a:srgbClr val="CADCFC"/>
                </a:solidFill>
                <a:latin typeface="Calibri"/>
              </a:rPr>
              <a:t>CSCI E-222  |  FINAL PROJECT  |  SPRING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18288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Reducing Alert Fatigue</a:t>
            </a:r>
          </a:p>
          <a:p>
            <a:r>
              <a:rPr sz="2000" i="1">
                <a:solidFill>
                  <a:srgbClr val="CADCFC"/>
                </a:solidFill>
                <a:latin typeface="Calibri"/>
              </a:rPr>
              <a:t>LLM-Based False Positive Detection in Software
Supply Chain Security Vulnerability Alerts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200" b="1">
                <a:solidFill>
                  <a:srgbClr val="1E2761"/>
                </a:solidFill>
                <a:latin typeface="Calibri"/>
              </a:rPr>
              <a:t>Ankit Kumar Honey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46120"/>
            <a:ext cx="1097280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400" i="1">
                <a:solidFill>
                  <a:srgbClr val="4A4A4A"/>
                </a:solidFill>
                <a:latin typeface="Calibri"/>
              </a:rPr>
              <a:t>Harvard Extension School · Foundations of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2743200" cy="13716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4800" b="1">
                <a:solidFill>
                  <a:srgbClr val="1E2761"/>
                </a:solidFill>
                <a:latin typeface="Calibri"/>
              </a:rPr>
              <a:t>10,000</a:t>
            </a:r>
          </a:p>
          <a:p>
            <a:pPr algn="ctr"/>
            <a:r>
              <a:rPr sz="1100">
                <a:solidFill>
                  <a:srgbClr val="4A4A4A"/>
                </a:solidFill>
                <a:latin typeface="Calibri"/>
              </a:rPr>
              <a:t>alerts evaluated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4206240"/>
            <a:ext cx="2743200" cy="13716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4800" b="1">
                <a:solidFill>
                  <a:srgbClr val="B85042"/>
                </a:solidFill>
                <a:latin typeface="Calibri"/>
              </a:rPr>
              <a:t>F1 = 0.995</a:t>
            </a:r>
          </a:p>
          <a:p>
            <a:pPr algn="ctr"/>
            <a:r>
              <a:rPr sz="1100">
                <a:solidFill>
                  <a:srgbClr val="4A4A4A"/>
                </a:solidFill>
                <a:latin typeface="Calibri"/>
              </a:rPr>
              <a:t>full pipeline (test)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4206240"/>
            <a:ext cx="2743200" cy="13716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4800" b="1">
                <a:solidFill>
                  <a:srgbClr val="1E2761"/>
                </a:solidFill>
                <a:latin typeface="Calibri"/>
              </a:rPr>
              <a:t>Recall = 0.99</a:t>
            </a:r>
          </a:p>
          <a:p>
            <a:pPr algn="ctr"/>
            <a:r>
              <a:rPr sz="1100">
                <a:solidFill>
                  <a:srgbClr val="4A4A4A"/>
                </a:solidFill>
                <a:latin typeface="Calibri"/>
              </a:rPr>
              <a:t>only 2 of 212 TPs missed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4206240"/>
            <a:ext cx="2743200" cy="13716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4800" b="1">
                <a:solidFill>
                  <a:srgbClr val="1E2761"/>
                </a:solidFill>
                <a:latin typeface="Calibri"/>
              </a:rPr>
              <a:t>0 FP</a:t>
            </a:r>
          </a:p>
          <a:p>
            <a:pPr algn="ctr"/>
            <a:r>
              <a:rPr sz="1100">
                <a:solidFill>
                  <a:srgbClr val="4A4A4A"/>
                </a:solidFill>
                <a:latin typeface="Calibri"/>
              </a:rPr>
              <a:t>false alarms raised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The problem — alert fatigue is the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400" i="1">
                <a:solidFill>
                  <a:srgbClr val="B85042"/>
                </a:solidFill>
                <a:latin typeface="Calibri"/>
              </a:rPr>
              <a:t>Same CVE. Same package. Same CVSS. Same EPSS. Different real-world risk.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852160" cy="32004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 Dependabot alone surfaces millions of CVE alerts per day across GitHub.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 A large fraction are technically valid but functionally irrelevant — the vulnerable function is never reached by the consuming application.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 Developers learn to ignore alerts. Real threats slip through.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 Pure severity (CVSS) and exploit probability (EPSS) cannot resolve this — they describe the CVE, not the application.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 Course parallel: identical structure to fake-news classification — true vs. misleading-in-context.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554480"/>
            <a:ext cx="5303520" cy="1828800"/>
          </a:xfrm>
          <a:prstGeom prst="roundRect">
            <a:avLst/>
          </a:prstGeom>
          <a:solidFill>
            <a:srgbClr val="ECF8EE"/>
          </a:solidFill>
          <a:ln w="9525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645920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Calibri"/>
              </a:rPr>
              <a:t>FALSE POSITIVE  —  unreachable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1965960"/>
            <a:ext cx="5029200" cy="132588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03720" y="2057400"/>
            <a:ext cx="4754880" cy="1143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const _ = require('lodash');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_.map(users, u =&gt;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    _.capitalize(u.name));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520440"/>
            <a:ext cx="5303520" cy="1828800"/>
          </a:xfrm>
          <a:prstGeom prst="roundRect">
            <a:avLst/>
          </a:prstGeom>
          <a:solidFill>
            <a:srgbClr val="FDE7E7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3611880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TRUE POSITIVE  —  reachable + tainted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3931920"/>
            <a:ext cx="5029200" cy="132588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4023359"/>
            <a:ext cx="4754880" cy="1143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_.template(tpl, {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    sourceURL: req.query.src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})(data);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0" i="1">
                <a:solidFill>
                  <a:srgbClr val="B85042"/>
                </a:solidFill>
                <a:latin typeface="Calibri"/>
              </a:rPr>
              <a:t>Both pin lodash@4.17.20.  CVSS = 7.2.  EPSS = 0.0023.  Only reachability separates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  <a:latin typeface="Calibri"/>
              </a:rPr>
              <a:t>Ankit Kumar Honey  |  CSCI E-222  |  Spring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Solution — a four-stage classifier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400" i="1">
                <a:solidFill>
                  <a:srgbClr val="B85042"/>
                </a:solidFill>
                <a:latin typeface="Calibri"/>
              </a:rPr>
              <a:t>Fuse rule baseline + RoBERTa + reachability into a single verdict</a:t>
            </a:r>
          </a:p>
        </p:txBody>
      </p:sp>
      <p:sp>
        <p:nvSpPr>
          <p:cNvPr id="5" name="Oval 4"/>
          <p:cNvSpPr/>
          <p:nvPr/>
        </p:nvSpPr>
        <p:spPr>
          <a:xfrm>
            <a:off x="1691640" y="1600200"/>
            <a:ext cx="594360" cy="59436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2743200" cy="3108960"/>
          </a:xfrm>
          <a:prstGeom prst="round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2743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500" b="1" i="0">
                <a:solidFill>
                  <a:srgbClr val="1E2761"/>
                </a:solidFill>
                <a:latin typeface="Calibri"/>
              </a:rPr>
              <a:t>Baselines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4A4A4A"/>
                </a:solidFill>
                <a:latin typeface="Calibri"/>
              </a:rPr>
              <a:t>EPSS-threshold rule
TF-IDF + Logistic Reg.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83480"/>
            <a:ext cx="2743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200" b="1" i="1">
                <a:solidFill>
                  <a:srgbClr val="B85042"/>
                </a:solidFill>
                <a:latin typeface="Calibri"/>
              </a:rPr>
              <a:t>0.58 – 0.61 F1</a:t>
            </a:r>
          </a:p>
        </p:txBody>
      </p:sp>
      <p:sp>
        <p:nvSpPr>
          <p:cNvPr id="10" name="Oval 9"/>
          <p:cNvSpPr/>
          <p:nvPr/>
        </p:nvSpPr>
        <p:spPr>
          <a:xfrm>
            <a:off x="4572000" y="1600200"/>
            <a:ext cx="594360" cy="59436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377440"/>
            <a:ext cx="2743200" cy="3108960"/>
          </a:xfrm>
          <a:prstGeom prst="round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514600"/>
            <a:ext cx="2743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500" b="1" i="0">
                <a:solidFill>
                  <a:srgbClr val="1E2761"/>
                </a:solidFill>
                <a:latin typeface="Calibri"/>
              </a:rPr>
              <a:t>RoBERTa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97180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4A4A4A"/>
                </a:solidFill>
                <a:latin typeface="Calibri"/>
              </a:rPr>
              <a:t>Fine-tune roberta-base
on CVE descriptions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4983480"/>
            <a:ext cx="2743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200" b="1" i="1">
                <a:solidFill>
                  <a:srgbClr val="B85042"/>
                </a:solidFill>
                <a:latin typeface="Calibri"/>
              </a:rPr>
              <a:t>AUC 0.83</a:t>
            </a:r>
          </a:p>
        </p:txBody>
      </p:sp>
      <p:sp>
        <p:nvSpPr>
          <p:cNvPr id="15" name="Oval 14"/>
          <p:cNvSpPr/>
          <p:nvPr/>
        </p:nvSpPr>
        <p:spPr>
          <a:xfrm>
            <a:off x="7452359" y="1600200"/>
            <a:ext cx="594360" cy="59436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2377440"/>
            <a:ext cx="2743200" cy="3108960"/>
          </a:xfrm>
          <a:prstGeom prst="round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59" y="2514600"/>
            <a:ext cx="2743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500" b="1" i="0">
                <a:solidFill>
                  <a:srgbClr val="1E2761"/>
                </a:solidFill>
                <a:latin typeface="Calibri"/>
              </a:rPr>
              <a:t>Reachability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7180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4A4A4A"/>
                </a:solidFill>
                <a:latin typeface="Calibri"/>
              </a:rPr>
              <a:t>Static call graph
+ Flan-T5 reasoner
+ CodeBERT+FAISS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4983480"/>
            <a:ext cx="2743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200" b="1" i="1">
                <a:solidFill>
                  <a:srgbClr val="B85042"/>
                </a:solidFill>
                <a:latin typeface="Calibri"/>
              </a:rPr>
              <a:t>the core innovation</a:t>
            </a:r>
          </a:p>
        </p:txBody>
      </p:sp>
      <p:sp>
        <p:nvSpPr>
          <p:cNvPr id="20" name="Oval 19"/>
          <p:cNvSpPr/>
          <p:nvPr/>
        </p:nvSpPr>
        <p:spPr>
          <a:xfrm>
            <a:off x="10332719" y="1600200"/>
            <a:ext cx="594360" cy="59436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2377440"/>
            <a:ext cx="2743200" cy="3108960"/>
          </a:xfrm>
          <a:prstGeom prst="round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19" y="2514600"/>
            <a:ext cx="2743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500" b="1" i="0">
                <a:solidFill>
                  <a:srgbClr val="1E2761"/>
                </a:solidFill>
                <a:latin typeface="Calibri"/>
              </a:rPr>
              <a:t>Combined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599" y="297180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4A4A4A"/>
                </a:solidFill>
                <a:latin typeface="Calibri"/>
              </a:rPr>
              <a:t>Logistic Regression
on 775-d fused vector
(768 + 5 + 2)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19" y="4983480"/>
            <a:ext cx="2743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200" b="1" i="1">
                <a:solidFill>
                  <a:srgbClr val="B85042"/>
                </a:solidFill>
                <a:latin typeface="Calibri"/>
              </a:rPr>
              <a:t>F1 = 0.995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Each stage's output is concatenated into the next stage's input.  Only Stage 4 produces the final TP/FP verdict.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  <a:latin typeface="Calibri"/>
              </a:rPr>
              <a:t>Ankit Kumar Honey  |  CSCI E-222  |  Spring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Data — 10,000 real advisories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400" i="1">
                <a:solidFill>
                  <a:srgbClr val="B85042"/>
                </a:solidFill>
                <a:latin typeface="Calibri"/>
              </a:rPr>
              <a:t>GitHub Advisory Database  ⨝  FIRST EPSS  ⨝  NVD CWE/CVSS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943600" cy="3657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 GitHub Advisory Database — OSV-Schema JSON, ~200K advisories, MIT-licensed.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 FIRST EPSS — daily CSV, exploitation probability per CVE.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 Joined on cve_id; merge is left-outer (missing EPSS → 0.001 tail).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 Class balancing: cap majority at 4× minority via uniform sampling.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 Stratified 80 / 10 / 10 train / val / test split, SEED = 42.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 Proxy label (EPSS + severity heuristic) — fully reproducible from src/reachability_llm/data/dataset.py.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554480"/>
            <a:ext cx="4937760" cy="3657600"/>
          </a:xfrm>
          <a:prstGeom prst="round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691640"/>
            <a:ext cx="45720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Final dataset composition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103120"/>
            <a:ext cx="4572000" cy="27432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4A4A4A"/>
                </a:solidFill>
                <a:latin typeface="Calibri"/>
              </a:rPr>
              <a:t>•  Advisories scanned:   15,000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A4A4A"/>
                </a:solidFill>
                <a:latin typeface="Calibri"/>
              </a:rPr>
              <a:t>•  After build_dataset:  10,000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A4A4A"/>
                </a:solidFill>
                <a:latin typeface="Calibri"/>
              </a:rPr>
              <a:t>•  TRUE_POSITIVE share:  21.14%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A4A4A"/>
                </a:solidFill>
                <a:latin typeface="Calibri"/>
              </a:rPr>
              <a:t>•  FALSE_POSITIVE share: 78.86%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A4A4A"/>
                </a:solidFill>
                <a:latin typeface="Calibri"/>
              </a:rPr>
              <a:t>•  Train / val / test:   7,999 / 999 / 1,002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100" b="0" i="1">
                <a:solidFill>
                  <a:srgbClr val="B85042"/>
                </a:solidFill>
                <a:latin typeface="Calibri"/>
              </a:rPr>
              <a:t>OSV-Schema 1.4: aliases is a list of strings, not a list of {"value":"CVE-…"} dicts. Four regression tests in tests/test_loaders.py.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  <a:latin typeface="Calibri"/>
              </a:rPr>
              <a:t>Ankit Kumar Honey  |  CSCI E-222  |  Spring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Stage 1 — baselines establish the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400" i="1">
                <a:solidFill>
                  <a:srgbClr val="B85042"/>
                </a:solidFill>
                <a:latin typeface="Calibri"/>
              </a:rPr>
              <a:t>What you get with no LLM at 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86400" cy="4114800"/>
          </a:xfrm>
          <a:prstGeom prst="round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EPSS rule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100" b="0" i="1">
                <a:solidFill>
                  <a:srgbClr val="B85042"/>
                </a:solidFill>
                <a:latin typeface="Calibri"/>
              </a:rPr>
              <a:t>≈ the heuristic Dependabot operates 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60320"/>
            <a:ext cx="5029200" cy="64008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4754880" cy="45719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return (df['epss'] &gt;= 0.01).astype(int)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400" b="0" i="0">
                <a:solidFill>
                  <a:srgbClr val="4A4A4A"/>
                </a:solidFill>
                <a:latin typeface="Calibri"/>
              </a:rPr>
              <a:t>F1     = 0.580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9476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400" b="0" i="0">
                <a:solidFill>
                  <a:srgbClr val="4A4A4A"/>
                </a:solidFill>
                <a:latin typeface="Calibri"/>
              </a:rPr>
              <a:t>Precision = 0.617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400" b="0" i="0">
                <a:solidFill>
                  <a:srgbClr val="4A4A4A"/>
                </a:solidFill>
                <a:latin typeface="Calibri"/>
              </a:rPr>
              <a:t>Recall    = 0.547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1772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ROC-AUC = 0.758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554480"/>
            <a:ext cx="5486400" cy="4114800"/>
          </a:xfrm>
          <a:prstGeom prst="round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73736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TF-IDF  +  Logistic Regression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194560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100" b="0" i="1">
                <a:solidFill>
                  <a:srgbClr val="B85042"/>
                </a:solidFill>
                <a:latin typeface="Calibri"/>
              </a:rPr>
              <a:t>bag-of-words over the CVE description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2560320"/>
            <a:ext cx="5029200" cy="64008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2651760"/>
            <a:ext cx="4754880" cy="45719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TfidfVectorizer(max_features=20000, ngram=(1,2))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38328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400" b="0" i="0">
                <a:solidFill>
                  <a:srgbClr val="4A4A4A"/>
                </a:solidFill>
                <a:latin typeface="Calibri"/>
              </a:rPr>
              <a:t>F1     = 0.607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79476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400" b="0" i="0">
                <a:solidFill>
                  <a:srgbClr val="4A4A4A"/>
                </a:solidFill>
                <a:latin typeface="Calibri"/>
              </a:rPr>
              <a:t>Precision = 0.555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16052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400" b="0" i="0">
                <a:solidFill>
                  <a:srgbClr val="4A4A4A"/>
                </a:solidFill>
                <a:latin typeface="Calibri"/>
              </a:rPr>
              <a:t>Recall    = 0.670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61772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ROC-AUC = 0.851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Both baselines hover around 0.6 F1 — they capture surface signal but cannot see the call graph.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  <a:latin typeface="Calibri"/>
              </a:rPr>
              <a:t>Ankit Kumar Honey  |  CSCI E-222  |  Spring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Stage 2 — fine-tune RoBERTa on CVE descriptions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400" i="1">
                <a:solidFill>
                  <a:srgbClr val="B85042"/>
                </a:solidFill>
                <a:latin typeface="Calibri"/>
              </a:rPr>
              <a:t>roberta-base · 3 epochs · 1,500 steps · ~95 s on A100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943600" cy="3657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 Architecture: roberta-base (110M params, 768-d hidden) + sequence-classification head, 2 labels.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 Hyperparameters: batch=16, lr=2e-5, weight-decay=0.01, warmup-ratio=0.1, fp16=True on CUDA.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 load_best_model_at_end=True, metric_for_best_model='f1'.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 Validation F1 climbs 0.497 → 0.515 → 0.583 across 3 epochs.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 Training loss 0.43 → 0.30; model still improving — would gain from longer training.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  <a:latin typeface="Calibri"/>
              </a:rPr>
              <a:t>•  Extract 768-d [CLS] embedding post-train for Stage-4 fusion.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0" y="1554480"/>
          <a:ext cx="5212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3020"/>
                <a:gridCol w="1303020"/>
                <a:gridCol w="1303020"/>
                <a:gridCol w="13030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Epoch</a:t>
                      </a:r>
                    </a:p>
                  </a:txBody>
                  <a:tcPr marL="101600" marR="101600" marT="50800" marB="508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Train loss</a:t>
                      </a:r>
                    </a:p>
                  </a:txBody>
                  <a:tcPr marL="101600" marR="101600" marT="50800" marB="508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 F1</a:t>
                      </a:r>
                    </a:p>
                  </a:txBody>
                  <a:tcPr marL="101600" marR="101600" marT="50800" marB="508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 AUC</a:t>
                      </a:r>
                    </a:p>
                  </a:txBody>
                  <a:tcPr marL="101600" marR="101600" marT="50800" marB="50800"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0.435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0.497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0.794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50800" marB="50800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0.331</a:t>
                      </a:r>
                    </a:p>
                  </a:txBody>
                  <a:tcPr marL="101600" marR="101600" marT="50800" marB="50800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0.515</a:t>
                      </a:r>
                    </a:p>
                  </a:txBody>
                  <a:tcPr marL="101600" marR="101600" marT="50800" marB="50800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0.830</a:t>
                      </a:r>
                    </a:p>
                  </a:txBody>
                  <a:tcPr marL="101600" marR="101600" marT="50800" marB="50800"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0.300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0.583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0.839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675120" y="3657600"/>
            <a:ext cx="5212080" cy="1828800"/>
          </a:xfrm>
          <a:prstGeom prst="round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3840480"/>
            <a:ext cx="48463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Test-set 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4206240"/>
            <a:ext cx="48463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0" i="0">
                <a:solidFill>
                  <a:srgbClr val="4A4A4A"/>
                </a:solidFill>
                <a:latin typeface="Calibri"/>
              </a:rPr>
              <a:t>F1 = 0.593  |  Precision = 0.578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4526280"/>
            <a:ext cx="48463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0" i="0">
                <a:solidFill>
                  <a:srgbClr val="4A4A4A"/>
                </a:solidFill>
                <a:latin typeface="Calibri"/>
              </a:rPr>
              <a:t>Recall = 0.608  |  AUC = 0.828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4937760"/>
            <a:ext cx="48463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100" b="0" i="1">
                <a:solidFill>
                  <a:srgbClr val="B85042"/>
                </a:solidFill>
                <a:latin typeface="Calibri"/>
              </a:rPr>
              <a:t>RoBERTa alone beats EPSS rule on AUC,
but F1 is stuck in the noisy middle band.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  <a:latin typeface="Calibri"/>
              </a:rPr>
              <a:t>Ankit Kumar Honey  |  CSCI E-222  |  Spring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Stage 3 — the core innovation: reachability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400" i="1">
                <a:solidFill>
                  <a:srgbClr val="B85042"/>
                </a:solidFill>
                <a:latin typeface="Calibri"/>
              </a:rPr>
              <a:t>Static call graph + Flan-T5 reasoner + CodeBERT/FAISS fallback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749039" cy="3931920"/>
          </a:xfrm>
          <a:prstGeom prst="round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34747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Static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34747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000" b="0" i="1">
                <a:solidFill>
                  <a:srgbClr val="B85042"/>
                </a:solidFill>
                <a:latin typeface="Consolas"/>
              </a:rPr>
              <a:t>NetworkX + 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23160"/>
            <a:ext cx="3474720" cy="2926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4A4A4A"/>
                </a:solidFill>
                <a:latin typeface="Calibri"/>
              </a:rPr>
              <a:t>•  Python: ast.NodeVisitor resolves import aliases.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4A4A4A"/>
                </a:solidFill>
                <a:latin typeface="Calibri"/>
              </a:rPr>
              <a:t>•  JavaScript: regex over require/import; strips comments.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4A4A4A"/>
                </a:solidFill>
                <a:latin typeface="Calibri"/>
              </a:rPr>
              <a:t>•  Forward search from entry-points to vulnerable symbol.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4A4A4A"/>
                </a:solidFill>
                <a:latin typeface="Calibri"/>
              </a:rPr>
              <a:t>•  Up to 5 paths, max length 12.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08760"/>
            <a:ext cx="3749039" cy="3931920"/>
          </a:xfrm>
          <a:prstGeom prst="round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645920"/>
            <a:ext cx="34747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Semantic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011680"/>
            <a:ext cx="34747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000" b="0" i="1">
                <a:solidFill>
                  <a:srgbClr val="B85042"/>
                </a:solidFill>
                <a:latin typeface="Consolas"/>
              </a:rPr>
              <a:t>google/flan-t5-large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423160"/>
            <a:ext cx="3474720" cy="2926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4A4A4A"/>
                </a:solidFill>
                <a:latin typeface="Calibri"/>
              </a:rPr>
              <a:t>•  Prompt: CVE + symbol + static verdict + path code.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4A4A4A"/>
                </a:solidFill>
                <a:latin typeface="Calibri"/>
              </a:rPr>
              <a:t>•  Outputs YES/NO + one-sentence rationale.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4A4A4A"/>
                </a:solidFill>
                <a:latin typeface="Calibri"/>
              </a:rPr>
              <a:t>•  Calibrates confidence by static / LLM agreement.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4A4A4A"/>
                </a:solidFill>
                <a:latin typeface="Calibri"/>
              </a:rPr>
              <a:t>•  Rule-based fallback if transformers unavailable.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508760"/>
            <a:ext cx="3749039" cy="3931920"/>
          </a:xfrm>
          <a:prstGeom prst="round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645920"/>
            <a:ext cx="34747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Scale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34747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000" b="0" i="1">
                <a:solidFill>
                  <a:srgbClr val="B85042"/>
                </a:solidFill>
                <a:latin typeface="Consolas"/>
              </a:rPr>
              <a:t>CodeBERT + FAISS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423160"/>
            <a:ext cx="3474720" cy="2926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4A4A4A"/>
                </a:solidFill>
                <a:latin typeface="Calibri"/>
              </a:rPr>
              <a:t>•  For 1M-LOC monorepos where static graph fails.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4A4A4A"/>
                </a:solidFill>
                <a:latin typeface="Calibri"/>
              </a:rPr>
              <a:t>•  Chunk to ~25-line windows; MiniLM-L6 embeddings.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4A4A4A"/>
                </a:solidFill>
                <a:latin typeface="Calibri"/>
              </a:rPr>
              <a:t>•  FAISS-IP index; top-k chunks fed to reasoner.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4A4A4A"/>
                </a:solidFill>
                <a:latin typeface="Calibri"/>
              </a:rPr>
              <a:t>•  Validated retrieval: VULN sim 0.46 vs SAFE sim 0.13.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The static layer is deterministic and reliable. The LLM is the contextualiser — and the weakest link (see §11).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  <a:latin typeface="Calibri"/>
              </a:rPr>
              <a:t>Ankit Kumar Honey  |  CSCI E-222  |  Spring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Worked example — CVE-2021-23337 (lodash)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400" i="1">
                <a:solidFill>
                  <a:srgbClr val="B85042"/>
                </a:solidFill>
                <a:latin typeface="Calibri"/>
              </a:rPr>
              <a:t>Two synthetic apps, both pin lodash@4.17.20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86400" cy="4114800"/>
          </a:xfrm>
          <a:prstGeom prst="roundRect">
            <a:avLst/>
          </a:prstGeom>
          <a:solidFill>
            <a:srgbClr val="ECF8EE"/>
          </a:solidFill>
          <a:ln w="9525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SAFE 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5029200" cy="9144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75488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users.map(u =&gt;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    _.capitalize(u.name));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_.groupBy(result, 'dept');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Static call graph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42900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0" i="0">
                <a:solidFill>
                  <a:srgbClr val="4A4A4A"/>
                </a:solidFill>
                <a:latin typeface="Calibri"/>
              </a:rPr>
              <a:t>17 nodes, 16 edges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49039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0" i="0">
                <a:solidFill>
                  <a:srgbClr val="4A4A4A"/>
                </a:solidFill>
                <a:latin typeface="Consolas"/>
              </a:rPr>
              <a:t>_.template NOT in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51960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Flan-T5 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2628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400" b="1" i="0">
                <a:solidFill>
                  <a:srgbClr val="2E7D32"/>
                </a:solidFill>
                <a:latin typeface="Calibri"/>
              </a:rPr>
              <a:t>✓ FALSE_POSITIVE  (conf 0.90)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2920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100" b="0" i="1">
                <a:solidFill>
                  <a:srgbClr val="4A4A4A"/>
                </a:solidFill>
                <a:latin typeface="Calibri"/>
              </a:rPr>
              <a:t>Correct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554480"/>
            <a:ext cx="5486400" cy="4114800"/>
          </a:xfrm>
          <a:prstGeom prst="roundRect">
            <a:avLst/>
          </a:prstGeom>
          <a:solidFill>
            <a:srgbClr val="FDE7E7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169164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VULN app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2103120"/>
            <a:ext cx="5029200" cy="9144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2194560"/>
            <a:ext cx="475488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_.template(tpl, {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  sourceURL: req.query.src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})(data);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54680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Static call graph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2900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0" i="0">
                <a:solidFill>
                  <a:srgbClr val="4A4A4A"/>
                </a:solidFill>
                <a:latin typeface="Calibri"/>
              </a:rPr>
              <a:t>9 nodes, 8 edges  →  reachable=True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749039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0" i="0">
                <a:solidFill>
                  <a:srgbClr val="4A4A4A"/>
                </a:solidFill>
                <a:latin typeface="Consolas"/>
              </a:rPr>
              <a:t>module → _.template 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251960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Flan-T5 verdict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52628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400" b="1" i="0">
                <a:solidFill>
                  <a:srgbClr val="C62828"/>
                </a:solidFill>
                <a:latin typeface="Calibri"/>
              </a:rPr>
              <a:t>✗ FALSE_POSITIVE  (conf 0.80)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02920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100" b="0" i="1">
                <a:solidFill>
                  <a:srgbClr val="4A4A4A"/>
                </a:solidFill>
                <a:latin typeface="Calibri"/>
              </a:rPr>
              <a:t>Wrong! Static layer correct, LLM fails.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0" i="1">
                <a:solidFill>
                  <a:srgbClr val="B85042"/>
                </a:solidFill>
                <a:latin typeface="Calibri"/>
              </a:rPr>
              <a:t>The static call graph nails both apps. Flan-T5-large is below the capability threshold for taint reasoning — honest finding.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  <a:latin typeface="Calibri"/>
              </a:rPr>
              <a:t>Ankit Kumar Honey  |  CSCI E-222  |  Spring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Stage 4 — fuse everything into 775-d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400" i="1">
                <a:solidFill>
                  <a:srgbClr val="B85042"/>
                </a:solidFill>
                <a:latin typeface="Calibri"/>
              </a:rPr>
              <a:t>768 RoBERTa [CLS]  +  5 structured  +  2 reachability  →  Logistic Regression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108960" cy="1828800"/>
          </a:xfrm>
          <a:prstGeom prst="round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28346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500" b="1" i="0">
                <a:solidFill>
                  <a:srgbClr val="1E2761"/>
                </a:solidFill>
                <a:latin typeface="Calibri"/>
              </a:rPr>
              <a:t>RoBERTa [CLS]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8346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3000" b="1" i="0">
                <a:solidFill>
                  <a:srgbClr val="1E2761"/>
                </a:solidFill>
                <a:latin typeface="Calibri"/>
              </a:rPr>
              <a:t>768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71800"/>
            <a:ext cx="28346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4A4A4A"/>
                </a:solidFill>
                <a:latin typeface="Calibri"/>
              </a:rPr>
              <a:t>Stage-2 embeddings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1828800"/>
            <a:ext cx="3108960" cy="1828800"/>
          </a:xfrm>
          <a:prstGeom prst="round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1965960"/>
            <a:ext cx="28346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500" b="1" i="0">
                <a:solidFill>
                  <a:srgbClr val="1E2761"/>
                </a:solidFill>
                <a:latin typeface="Calibri"/>
              </a:rPr>
              <a:t>Structured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331720"/>
            <a:ext cx="28346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3000" b="1" i="0">
                <a:solidFill>
                  <a:srgbClr val="1E2761"/>
                </a:solidFill>
                <a:latin typeface="Calibr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971800"/>
            <a:ext cx="28346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000" b="0" i="1">
                <a:solidFill>
                  <a:srgbClr val="4A4A4A"/>
                </a:solidFill>
                <a:latin typeface="Calibri"/>
              </a:rPr>
              <a:t>CVSS, EPSS, age, fix, ecosystem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1828800"/>
            <a:ext cx="3108960" cy="1828800"/>
          </a:xfrm>
          <a:prstGeom prst="roundRect">
            <a:avLst/>
          </a:prstGeom>
          <a:solidFill>
            <a:srgbClr val="FDE7E7"/>
          </a:solidFill>
          <a:ln w="9525">
            <a:solidFill>
              <a:srgbClr val="B850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65960"/>
            <a:ext cx="28346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500" b="1" i="0">
                <a:solidFill>
                  <a:srgbClr val="B85042"/>
                </a:solidFill>
                <a:latin typeface="Calibri"/>
              </a:rPr>
              <a:t>Reachability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28346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3000" b="1" i="0">
                <a:solidFill>
                  <a:srgbClr val="B85042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2971800"/>
            <a:ext cx="28346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100" b="0" i="1">
                <a:solidFill>
                  <a:srgbClr val="4A4A4A"/>
                </a:solidFill>
                <a:latin typeface="Calibri"/>
              </a:rPr>
              <a:t>static + LLM reachable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2057400" y="3749039"/>
            <a:ext cx="274320" cy="457200"/>
          </a:xfrm>
          <a:prstGeom prst="downArrow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5532120" y="3749039"/>
            <a:ext cx="274320" cy="457200"/>
          </a:xfrm>
          <a:prstGeom prst="downArrow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own Arrow 18"/>
          <p:cNvSpPr/>
          <p:nvPr/>
        </p:nvSpPr>
        <p:spPr>
          <a:xfrm>
            <a:off x="9006840" y="3749039"/>
            <a:ext cx="274320" cy="457200"/>
          </a:xfrm>
          <a:prstGeom prst="downArrow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86000" y="4343400"/>
            <a:ext cx="6766560" cy="1097280"/>
          </a:xfrm>
          <a:prstGeom prst="roundRect">
            <a:avLst/>
          </a:prstGeom>
          <a:solidFill>
            <a:srgbClr val="1E2761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86000" y="4480560"/>
            <a:ext cx="676656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Class-balanced Logistic Regression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937760"/>
            <a:ext cx="67665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200" b="0" i="1">
                <a:solidFill>
                  <a:srgbClr val="CADCFC"/>
                </a:solidFill>
                <a:latin typeface="Calibri"/>
              </a:rPr>
              <a:t>775 features → P(TRUE_POSITIVE)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0" i="1">
                <a:solidFill>
                  <a:srgbClr val="B85042"/>
                </a:solidFill>
                <a:latin typeface="Calibri"/>
              </a:rPr>
              <a:t>Note: reachability features for the 10K training set are synthesised from labels with 15% noise (cell 6) — see Limitations.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  <a:latin typeface="Calibri"/>
              </a:rPr>
              <a:t>Ankit Kumar Honey  |  CSCI E-222  |  Spring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Results — 1,002-alert held-out test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400" i="1">
                <a:solidFill>
                  <a:srgbClr val="B85042"/>
                </a:solidFill>
                <a:latin typeface="Calibri"/>
              </a:rPr>
              <a:t>Each stage's marginal contribution to F1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338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712"/>
                <a:gridCol w="2267712"/>
                <a:gridCol w="2267712"/>
                <a:gridCol w="2267712"/>
                <a:gridCol w="2267712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50800" marB="508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101600" marR="101600" marT="50800" marB="508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50800" marB="508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1600" marR="101600" marT="50800" marB="50800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101600" marR="101600" marT="50800" marB="50800"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EPSS-threshold rule (≥ 0.01)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0.580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0.617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0.547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0.758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TF-IDF + Logistic Regression</a:t>
                      </a:r>
                    </a:p>
                  </a:txBody>
                  <a:tcPr marL="101600" marR="101600" marT="50800" marB="50800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0.607</a:t>
                      </a:r>
                    </a:p>
                  </a:txBody>
                  <a:tcPr marL="101600" marR="101600" marT="50800" marB="50800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0.555</a:t>
                      </a:r>
                    </a:p>
                  </a:txBody>
                  <a:tcPr marL="101600" marR="101600" marT="50800" marB="50800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0.670</a:t>
                      </a:r>
                    </a:p>
                  </a:txBody>
                  <a:tcPr marL="101600" marR="101600" marT="50800" marB="50800"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0.851</a:t>
                      </a:r>
                    </a:p>
                  </a:txBody>
                  <a:tcPr marL="101600" marR="101600" marT="50800" marB="50800">
                    <a:solidFill>
                      <a:srgbClr val="EAEAE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RoBERTa fine-tune (3 epochs)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0.593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0.578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0.608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A4A4A"/>
                          </a:solidFill>
                          <a:latin typeface="Calibri"/>
                        </a:rPr>
                        <a:t>0.828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761"/>
                          </a:solidFill>
                          <a:latin typeface="Calibri"/>
                        </a:rPr>
                        <a:t>Full pipeline (775-d fusion)</a:t>
                      </a:r>
                    </a:p>
                  </a:txBody>
                  <a:tcPr marL="101600" marR="101600" marT="50800" marB="50800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2761"/>
                          </a:solidFill>
                          <a:latin typeface="Calibri"/>
                        </a:rPr>
                        <a:t>0.995</a:t>
                      </a:r>
                    </a:p>
                  </a:txBody>
                  <a:tcPr marL="101600" marR="101600" marT="50800" marB="50800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2761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101600" marR="101600" marT="50800" marB="50800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2761"/>
                          </a:solidFill>
                          <a:latin typeface="Calibri"/>
                        </a:rPr>
                        <a:t>0.991</a:t>
                      </a:r>
                    </a:p>
                  </a:txBody>
                  <a:tcPr marL="101600" marR="101600" marT="50800" marB="50800"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2761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101600" marR="101600" marT="50800" marB="50800">
                    <a:solidFill>
                      <a:srgbClr val="CADC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937760"/>
            <a:ext cx="5486400" cy="1371600"/>
          </a:xfrm>
          <a:prstGeom prst="round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400" b="1" i="0">
                <a:solidFill>
                  <a:srgbClr val="1E2761"/>
                </a:solidFill>
                <a:latin typeface="Calibri"/>
              </a:rPr>
              <a:t>F1 lift over RoBERTa alone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54864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3200" b="1" i="0">
                <a:solidFill>
                  <a:srgbClr val="B85042"/>
                </a:solidFill>
                <a:latin typeface="Calibri"/>
              </a:rPr>
              <a:t>+0.40 F1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937760"/>
            <a:ext cx="5486400" cy="1371600"/>
          </a:xfrm>
          <a:prstGeom prst="roundRect">
            <a:avLst/>
          </a:prstGeom>
          <a:solidFill>
            <a:srgbClr val="CADCFC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507492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1400" b="1" i="0">
                <a:solidFill>
                  <a:srgbClr val="1E2761"/>
                </a:solidFill>
                <a:latin typeface="Calibri"/>
              </a:rPr>
              <a:t>False alarms eliminated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440680"/>
            <a:ext cx="54864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/>
            <a:r>
              <a:rPr sz="3200" b="1" i="0">
                <a:solidFill>
                  <a:srgbClr val="B85042"/>
                </a:solidFill>
                <a:latin typeface="Calibri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  <a:latin typeface="Calibri"/>
              </a:rPr>
              <a:t>Ankit Kumar Honey  |  CSCI E-222  |  Spring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Confusion matrix — full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400" i="1">
                <a:solidFill>
                  <a:srgbClr val="B85042"/>
                </a:solidFill>
                <a:latin typeface="Calibri"/>
              </a:rPr>
              <a:t>2 misses on 212 true positives.  0 false alarms on 790 negatives.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1737360"/>
            <a:ext cx="237744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60720" y="1737360"/>
            <a:ext cx="2377440" cy="1280160"/>
          </a:xfrm>
          <a:prstGeom prst="rect">
            <a:avLst/>
          </a:prstGeom>
          <a:solidFill>
            <a:srgbClr val="EAEAEA"/>
          </a:solidFill>
          <a:ln w="635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59" y="1874519"/>
            <a:ext cx="219456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400" b="1">
                <a:solidFill>
                  <a:srgbClr val="1E2761"/>
                </a:solidFill>
                <a:latin typeface="Calibri"/>
              </a:rPr>
              <a:t>Predicted FP</a:t>
            </a:r>
          </a:p>
        </p:txBody>
      </p:sp>
      <p:sp>
        <p:nvSpPr>
          <p:cNvPr id="8" name="Rectangle 7"/>
          <p:cNvSpPr/>
          <p:nvPr/>
        </p:nvSpPr>
        <p:spPr>
          <a:xfrm>
            <a:off x="8321040" y="1737360"/>
            <a:ext cx="2377440" cy="1280160"/>
          </a:xfrm>
          <a:prstGeom prst="rect">
            <a:avLst/>
          </a:prstGeom>
          <a:solidFill>
            <a:srgbClr val="EAEAEA"/>
          </a:solidFill>
          <a:ln w="635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219456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400" b="1">
                <a:solidFill>
                  <a:srgbClr val="1E2761"/>
                </a:solidFill>
                <a:latin typeface="Calibri"/>
              </a:rPr>
              <a:t>Predicted TP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2743200"/>
            <a:ext cx="2377440" cy="1280160"/>
          </a:xfrm>
          <a:prstGeom prst="rect">
            <a:avLst/>
          </a:prstGeom>
          <a:solidFill>
            <a:srgbClr val="EAEAEA"/>
          </a:solidFill>
          <a:ln w="635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2880360"/>
            <a:ext cx="219456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400" b="1">
                <a:solidFill>
                  <a:srgbClr val="1E2761"/>
                </a:solidFill>
                <a:latin typeface="Calibri"/>
              </a:rPr>
              <a:t>Actual FP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611880"/>
            <a:ext cx="219456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100" i="1">
                <a:solidFill>
                  <a:srgbClr val="4A4A4A"/>
                </a:solidFill>
                <a:latin typeface="Calibri"/>
              </a:rPr>
              <a:t>n = 790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2743200"/>
            <a:ext cx="2377440" cy="1280160"/>
          </a:xfrm>
          <a:prstGeom prst="rect">
            <a:avLst/>
          </a:prstGeom>
          <a:solidFill>
            <a:srgbClr val="CADCFC"/>
          </a:solidFill>
          <a:ln w="635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59" y="2880360"/>
            <a:ext cx="219456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3400" b="1">
                <a:solidFill>
                  <a:srgbClr val="1E2761"/>
                </a:solidFill>
                <a:latin typeface="Calibri"/>
              </a:rPr>
              <a:t>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3611880"/>
            <a:ext cx="219456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100" i="1">
                <a:solidFill>
                  <a:srgbClr val="4A4A4A"/>
                </a:solidFill>
                <a:latin typeface="Calibri"/>
              </a:rPr>
              <a:t>true neg.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2743200"/>
            <a:ext cx="2377440" cy="1280160"/>
          </a:xfrm>
          <a:prstGeom prst="rect">
            <a:avLst/>
          </a:prstGeom>
          <a:solidFill>
            <a:srgbClr val="ECF8EE"/>
          </a:solidFill>
          <a:ln w="635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880360"/>
            <a:ext cx="219456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3400" b="1">
                <a:solidFill>
                  <a:srgbClr val="2E7D32"/>
                </a:solidFill>
                <a:latin typeface="Calibr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611880"/>
            <a:ext cx="219456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100" i="1">
                <a:solidFill>
                  <a:srgbClr val="4A4A4A"/>
                </a:solidFill>
                <a:latin typeface="Calibri"/>
              </a:rPr>
              <a:t>false pos.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4114800"/>
            <a:ext cx="2377440" cy="1280160"/>
          </a:xfrm>
          <a:prstGeom prst="rect">
            <a:avLst/>
          </a:prstGeom>
          <a:solidFill>
            <a:srgbClr val="EAEAEA"/>
          </a:solidFill>
          <a:ln w="635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0" y="4251960"/>
            <a:ext cx="219456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400" b="1">
                <a:solidFill>
                  <a:srgbClr val="1E2761"/>
                </a:solidFill>
                <a:latin typeface="Calibri"/>
              </a:rPr>
              <a:t>Actual TP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983480"/>
            <a:ext cx="219456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100" i="1">
                <a:solidFill>
                  <a:srgbClr val="4A4A4A"/>
                </a:solidFill>
                <a:latin typeface="Calibri"/>
              </a:rPr>
              <a:t>n = 212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4114800"/>
            <a:ext cx="2377440" cy="1280160"/>
          </a:xfrm>
          <a:prstGeom prst="rect">
            <a:avLst/>
          </a:prstGeom>
          <a:solidFill>
            <a:srgbClr val="FDE7E7"/>
          </a:solidFill>
          <a:ln w="635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59" y="4251960"/>
            <a:ext cx="219456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3400" b="1">
                <a:solidFill>
                  <a:srgbClr val="B71C1C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59" y="4983480"/>
            <a:ext cx="219456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100" i="1">
                <a:solidFill>
                  <a:srgbClr val="4A4A4A"/>
                </a:solidFill>
                <a:latin typeface="Calibri"/>
              </a:rPr>
              <a:t>false neg.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4114800"/>
            <a:ext cx="2377440" cy="1280160"/>
          </a:xfrm>
          <a:prstGeom prst="rect">
            <a:avLst/>
          </a:prstGeom>
          <a:solidFill>
            <a:srgbClr val="CADCFC"/>
          </a:solidFill>
          <a:ln w="6350">
            <a:solidFill>
              <a:srgbClr val="4A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4251960"/>
            <a:ext cx="219456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3400" b="1">
                <a:solidFill>
                  <a:srgbClr val="1E2761"/>
                </a:solidFill>
                <a:latin typeface="Calibri"/>
              </a:rPr>
              <a:t>210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983480"/>
            <a:ext cx="219456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100" i="1">
                <a:solidFill>
                  <a:srgbClr val="4A4A4A"/>
                </a:solidFill>
                <a:latin typeface="Calibri"/>
              </a:rPr>
              <a:t>true pos.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0" i="1">
                <a:solidFill>
                  <a:srgbClr val="B85042"/>
                </a:solidFill>
                <a:latin typeface="Calibri"/>
              </a:rPr>
              <a:t>Recall = 0.991 — only two TPs missed.  Precision = 1.000 — zero false alarms.  F1 = 0.995.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  <a:latin typeface="Calibri"/>
              </a:rPr>
              <a:t>Ankit Kumar Honey  |  CSCI E-222  | 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What worked — and what did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400" i="1">
                <a:solidFill>
                  <a:srgbClr val="B85042"/>
                </a:solidFill>
                <a:latin typeface="Calibri"/>
              </a:rPr>
              <a:t>Honest accounting before we promise this in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486400" cy="4114800"/>
          </a:xfrm>
          <a:prstGeom prst="roundRect">
            <a:avLst/>
          </a:prstGeom>
          <a:solidFill>
            <a:srgbClr val="ECF8EE"/>
          </a:solidFill>
          <a:ln w="9525">
            <a:solidFill>
              <a:srgbClr val="4CAF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✓ Worked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5029200" cy="347472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4A4A4A"/>
                </a:solidFill>
                <a:latin typeface="Calibri"/>
              </a:rPr>
              <a:t>•  End-to-end pipeline reproducible from fresh Colab in ~5 min.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A4A4A"/>
                </a:solidFill>
                <a:latin typeface="Calibri"/>
              </a:rPr>
              <a:t>•  Static call graph correctly distinguishes SAFE vs VULN lodash apps.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A4A4A"/>
                </a:solidFill>
                <a:latin typeface="Calibri"/>
              </a:rPr>
              <a:t>•  0.42-point F1 lift from RoBERTa alone to full pipeline confirms reachability is the dominant signal.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A4A4A"/>
                </a:solidFill>
                <a:latin typeface="Calibri"/>
              </a:rPr>
              <a:t>•  CodeBERT + FAISS scales: 3.5× sim gap between vulnerable and safe code.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A4A4A"/>
                </a:solidFill>
                <a:latin typeface="Calibri"/>
              </a:rPr>
              <a:t>•  15 unit tests; CI-friendly module layout; pip-installable.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54480"/>
            <a:ext cx="5486400" cy="4114800"/>
          </a:xfrm>
          <a:prstGeom prst="roundRect">
            <a:avLst/>
          </a:prstGeom>
          <a:solidFill>
            <a:srgbClr val="FDE7E7"/>
          </a:solidFill>
          <a:ln w="95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69164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✗ Did not work / 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5029200" cy="347472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4A4A4A"/>
                </a:solidFill>
                <a:latin typeface="Calibri"/>
              </a:rPr>
              <a:t>•  Flan-T5-large returned wrong verdict on VULN lodash — taint reasoning is beyond its capability.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A4A4A"/>
                </a:solidFill>
                <a:latin typeface="Calibri"/>
              </a:rPr>
              <a:t>•  0.995 F1 is an UPPER BOUND — reachability features for the 10K set are synthesised with 15% noise.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A4A4A"/>
                </a:solidFill>
                <a:latin typeface="Calibri"/>
              </a:rPr>
              <a:t>•  Regex JS parser misses dynamic dispatch and eval (≈85-90% coverage).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A4A4A"/>
                </a:solidFill>
                <a:latin typeface="Calibri"/>
              </a:rPr>
              <a:t>•  VULN_SYMBOL_MAP curated for 10 CVEs; production needs ~10K.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A4A4A"/>
                </a:solidFill>
                <a:latin typeface="Calibri"/>
              </a:rPr>
              <a:t>•  Proxy labels correlate with EPSS by construction — inflates the EPSS-rule baseline ceiling.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  <a:latin typeface="Calibri"/>
              </a:rPr>
              <a:t>Ankit Kumar Honey  |  CSCI E-222  |  Spring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Future work — concrete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400" i="1">
                <a:solidFill>
                  <a:srgbClr val="B85042"/>
                </a:solidFill>
                <a:latin typeface="Calibri"/>
              </a:rPr>
              <a:t>Each item below addresses a specific limitation from the previous slide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600200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5544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Replace regex JS parser with tree-sitter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874519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100" b="0" i="1">
                <a:solidFill>
                  <a:srgbClr val="4A4A4A"/>
                </a:solidFill>
                <a:latin typeface="Calibri"/>
              </a:rPr>
              <a:t>AST-level accuracy. Closes the dynamic-dispatch and TS-generics gaps.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2350008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04288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Swap Flan-T5-large for Qwen-2.5-Coder-7B or Llama-3-8B-Instruct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24328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100" b="0" i="1">
                <a:solidFill>
                  <a:srgbClr val="4A4A4A"/>
                </a:solidFill>
                <a:latin typeface="Calibri"/>
              </a:rPr>
              <a:t>Larger instruction-tuned models with few-shot taint examples. Direct fix for the VULN lodash miss.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3099815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54096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Add lightweight static taint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74136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100" b="0" i="1">
                <a:solidFill>
                  <a:srgbClr val="4A4A4A"/>
                </a:solidFill>
                <a:latin typeface="Calibri"/>
              </a:rPr>
              <a:t>Track sources (req.query, req.body, env) to sinks (exec, eval, template sourceURL). Removes the LLM dependency for the easy taint cases.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3849624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803904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Build a real reachability oracle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123944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100" b="0" i="1">
                <a:solidFill>
                  <a:srgbClr val="4A4A4A"/>
                </a:solidFill>
                <a:latin typeface="Calibri"/>
              </a:rPr>
              <a:t>Sample 200-500 advisories with public patch commits → mine the vulnerable symbol → label reachability against a real consumer-repo corpus. Converts the 0.995 upper bound into a defensible production number.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" y="4599431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53712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Calibrated confidence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873751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100" b="0" i="1">
                <a:solidFill>
                  <a:srgbClr val="4A4A4A"/>
                </a:solidFill>
                <a:latin typeface="Calibri"/>
              </a:rPr>
              <a:t>Return reachable / unreachable / unknown with thresholded probabilities, not a hard boolean. Surface only the uncertain band to human analysts.</a:t>
            </a:r>
          </a:p>
        </p:txBody>
      </p:sp>
      <p:sp>
        <p:nvSpPr>
          <p:cNvPr id="20" name="Oval 19"/>
          <p:cNvSpPr/>
          <p:nvPr/>
        </p:nvSpPr>
        <p:spPr>
          <a:xfrm>
            <a:off x="594360" y="5349240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30352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LLM-extracted symbol map for 10K+ CVEs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23559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100" b="0" i="1">
                <a:solidFill>
                  <a:srgbClr val="4A4A4A"/>
                </a:solidFill>
                <a:latin typeface="Calibri"/>
              </a:rPr>
              <a:t>Prompt for vulnerable symbol from patch diff; cache; manual review of low-confidence extractions.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  <a:latin typeface="Calibri"/>
              </a:rPr>
              <a:t>Ankit Kumar Honey  |  CSCI E-222  |  Spring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Reproducibility — clone, run, get the same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400" i="1">
                <a:solidFill>
                  <a:srgbClr val="B85042"/>
                </a:solidFill>
                <a:latin typeface="Calibri"/>
              </a:rPr>
              <a:t>All code public.  All datasets public.  All seeds fixed.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Option A — Google Colab (recommended)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338560" cy="86868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11064240" cy="685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1. Open notebooks/FalsePositive_SupplyChain_Honey.ipynb via the GitHub badge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2. Runtime → Change runtime type → A100 GPU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3. Runtime → Run all  (≈ 5 min in synthetic mode, ≈ 25 min in real mode on A100)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Option B — local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29000"/>
            <a:ext cx="11338560" cy="109728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520440"/>
            <a:ext cx="1106424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git clone https://github.com/honeyankit/reachability-llm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cd reachability-llm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python -m venv .venv &amp;&amp; source .venv/bin/activate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pip install -r requirements.txt</a:t>
            </a:r>
          </a:p>
          <a:p>
            <a:pPr algn="l"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Consolas"/>
              </a:rPr>
              <a:t>pytest -q                          # 15 tests, ~3 seconds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Datasets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74920"/>
            <a:ext cx="11430000" cy="9144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4A4A4A"/>
                </a:solidFill>
                <a:latin typeface="Calibri"/>
              </a:rPr>
              <a:t>•  github/advisory-database  —  shallow-clone (~400 MB), auto-downloaded on first run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4A4A4A"/>
                </a:solidFill>
                <a:latin typeface="Calibri"/>
              </a:rPr>
              <a:t>•  FIRST EPSS  —  daily CSV, auto-downloaded; cached to Drive in Colab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900">
                <a:solidFill>
                  <a:srgbClr val="4A4A4A"/>
                </a:solidFill>
                <a:latin typeface="Calibri"/>
              </a:rPr>
              <a:t>Ankit Kumar Honey  |  CSCI E-222  |  Spring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A4A4A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47120" cy="9144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Video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1247120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2000" i="1">
                <a:solidFill>
                  <a:srgbClr val="CADCFC"/>
                </a:solidFill>
                <a:latin typeface="Calibri"/>
              </a:rPr>
              <a:t>Watch the 10-minute walkthrough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3931920"/>
            <a:ext cx="758952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114800"/>
            <a:ext cx="758952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400">
                <a:solidFill>
                  <a:srgbClr val="4A4A4A"/>
                </a:solidFill>
                <a:latin typeface="Calibri"/>
              </a:rPr>
              <a:t>Video presentation: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434840"/>
            <a:ext cx="7589520" cy="5029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600" b="1">
                <a:solidFill>
                  <a:srgbClr val="1E2761"/>
                </a:solidFill>
                <a:latin typeface="Consolas"/>
              </a:rPr>
              <a:t>https://youtu.be/REPLACE-WITH-YOUR-VIDEO-URL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CADCFC"/>
                </a:solidFill>
                <a:latin typeface="Calibri"/>
              </a:rPr>
              <a:t>@AnkitKumarHoney  |  CSCI E-222  | 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